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안녕하십니까, 팀 육개장입니다. 저희 서비스를 한 줄로 소개하면 — '영웅 키움', 성장 발자취가 남는 가족 단위 모의투자 플랫폼입니다.
어린이 눈높이로 만들어지고, 새 앱이 아니라 키움 영웅문S# 안에 신규 메뉴로 들어갑니다.
오늘은 이 서비스의 목표, 문제의식, 솔루션, 그리고 핵심 기능 세 가지를 차례로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저희의 궁극적 목표입니다.
키움증권에 계좌를 가진 부모님들의 초·중등 자녀 — 저희는 이들을 키움의 잠재고객으로 봅니다.
이 아이들이 저희 플랫폼에서 안전하게 투자를 경험하며 계좌를 개설하고, 투자 습관을 기르고, 주식과 키움에 친숙해진 채로 자라서 — 성인이 됐을 때 자연스럽게 키움의 장기고객이 되게 하는 것.
즉 오늘의 서비스 하나로 '미성년 계좌 개설'이라는 단기 성과와 '세대 승계 고객'이라는 장기 성과를 동시에 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저희가 주목한 페인포인트입니다.
부모는 자녀가 비교적 안전한 환경에서 주식 투자를 경험해보고, 투자 습관을 기르게 해주고 싶습니다. 그런데 마땅한 플랫폼이 없습니다.
기존 MTS와 모의투자는 용어·화면·정보량 전부 성인 기준이고, 미수·신용 같은 위험 거래에도 노출돼 있습니다. 부모가 직접 가르치자니 본인도 전문가가 아닙니다. 그리고 기존 모의투자는 개인 수익률 경쟁 중심이라 가족이 함께할 맥락이 없습니다.
그 결과 — 계좌는 만들어줬는데, 그 다음이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그래서 저희의 솔루션은 — 부모와 자녀가 한 팀이 되어 함께 참가하는 가족 모의투자 플랫폼을 영웅문S# 안에 만드는 것입니다.
부모와 자녀가 각자 가상 시드 100만원을 받아 각자의 지갑으로 투자하고, 가족 성적은 구성원 수익률 평균으로 계산해 가족끼리 경쟁합니다. 시즌은 4주씩 연 4회, 분기마다 열립니다.
'안전한 환경'은 말이 아니라 구조로 만들었습니다. 국내 우량 기업 50개 화이트리스트만 매매할 수 있고, 미수·신용·레버리지·파생은 원천 배제된 제한 모드입니다.
그리고 참가 조건은 자녀 명의 실계좌 보유입니다 — 서비스의 흥행이 곧 계좌 개설로 이어지는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저희가 그리는 사용자입니다.
43세 부모님 — 키움증권 계좌가 있고 종종 매매를 합니다. 자녀에게 미리미리 안전한 플랫폼에서 투자를 경험시켜주고, 경제 관념과 투자 습관을 심어주고 싶습니다.
그리고 2014년생, 13살 초등학교 6학년 자녀 — 부모와 함께 체험하는 걸 좋아하지만, 아직 경제·투자·주식이 뭔지 잘 모르고 어려워합니다.
이 두 사람이 한 팀이 되는 순간부터 저희 서비스가 시작됩니다.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이 플랫폼의 핵심 기능은 세 가지입니다.
첫째, 질문식 매매가 내장된 어린이 눈높이 모의투자. 둘째, 투자 행동을 AI가 분석해 발자취처럼 쌓아주는 성장 아카이브. 셋째, 아이가 헤맬 때 먼저 말을 걸어주는 도우미 챗봇 키웅이.
하나씩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15초]
핵심 기능 첫 번째, 모의투자입니다.
먼저 무대 자체가 안전합니다. 비교적 안전한 우량주로 선별한 국내 기업 화이트리스트 50개 안에서만, 일반 현물 매매만 가능합니다. 미수·신용·레버리지·파생은 아예 존재하지 않는 제한 모드입니다. 화면도 일반 매매 창과 달리 호가창을 없애고 간결한 문구로 구성했습니다.
그리고 저희만의 차별점 — 질문식 매매입니다. 주문가와 수량만 입력하는 게 아니라, 주문 과정에 짧은 질문이 함께 나옵니다. 왜 사고 싶은지 버튼으로 고르고, 얼마나 자신 있는지 슬라이더로 표현하고, 언제까지 가질 건지 계획을 세웁니다.
팔 때가 더 중요합니다. 매도 전에 '사던 날의 나' 카드가 떠서 그때의 생각을 다시 만나게 하고, 계획과 다르게 팔 때만 "뭐가 달라졌어?"라고 한 번 더 묻습니다.
아이는 이 과정을 통해 주문마다 자기 생각을 되돌아보는 의사결정 습관을 만들게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15초]
핵심 기능 두 번째, 성장 아카이브입니다.
질문식 매매와 매매 로그로 쌓인 행동 데이터를 AI가 분석해서, 회차가 끝날 때마다 아이의 투자 성향을 기록으로 돌려줍니다. 아이에게는 다섯 가지 축의 '스타일'로 — 우열 없는 유형으로 보여주고요.
그리고 행동 데이터 기반의 투자 친화도 스코어를 산출합니다. 이 스코어가 보여주는 건 이런 변화입니다 — 처음엔 기업 이름이나 로고만 보고 투자하던 아이가, 회차를 거듭하면서 뉴스와 기업 설명을 보고 투자하게 되는 것. '그냥 느낌'의 비중이 줄고, 세운 계획을 지키는 비율이 올라가는 것. 이용 전후로 이 스코어가 상승하는 걸 보여주는 게 저희 목표입니다.
그리고 모의투자에 n회차 참여할수록 이 기록들이 발자취처럼 쌓입니다 — 1회차의 나, 3회차의 나, 1년 뒤의 나. 이게 다른 앱이 복사할 수 없는 우리 가족의 성장 스토리가 되고, 서비스 이름 '영웅 키움'의 정체성입니다.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핵심 기능 세 번째, 도우미 챗봇 키웅이입니다.
주식이 낯선 아이들은 뭘 모르는지도 모릅니다. 그래서 키웅이는 기다리지 않습니다 — 한 화면에서 5분 이상 그대로 머무는 등 저희가 정해둔 규칙이 감지되면, 먼저 말풍선을 띄우고 "고민이 있나요?"라고 말을 겁니다.
채팅에 들어오면 "금리 인상이 뭐야?", "삼성전자 관련 뉴스 있어?" 같은 질문에 어린이 눈높이로 답해줍니다.
단, 절대 금지가 있습니다. "삼성전자 오를까?", "하이닉스 팔까?" 같은 질문에 주가를 예측하거나 판단을 내려주는 답은 절대 하지 않습니다. "그 부분은 내가 대답할 수 없어. 다만 최근 소식을 알려줄게!"라고 우회합니다.
이 금지 규칙은 아이를 위한 교육 원칙이면서, 동시에 투자권유 규제에 대한 방어 장치입니다.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기대효과입니다.
사용자 측면 — 아이는 안전한 무대에서 직접 판단하는 경험과 근거를 붙여 결정하는 습관을 얻고, 주식과 투자에 친숙해집니다. 부모는 교육 부담을 덜고, 자녀와 돈 이야기를 시작할 계기를 얻습니다.
키움증권 측면 — 미성년 계좌의 신규 개설과 방치 계좌 활성화, 가족 단위의 서비스 접점, 그리고 자녀의 첫 투자 경험을 선점해 10년 뒤 장기고객으로 연결할 토대를 얻습니다.
한 가지 원칙 — 저희는 "투자 실력이 늘어난다"고 말하지 않습니다. 습관, 이해, 대화, 계좌 활성처럼 확인 가능한 효용만 약속합니다.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KPI입니다. 핵심 지표는 두 개로 나눴습니다.
첫째, 신규 미성년 계좌 개설 수 — 참가 조건이 자녀 실계좌라서, 서비스 흥행이 이 지표로 직결됩니다.
둘째, 기존 미성년 계좌 활성화율 — 이미 개설됐지만 방치된 계좌가 첫 서비스 참여로 깨어나는 비율입니다. 이미 계좌를 만들어둔 가족은 개설 수에 안 잡히지만, 방치 계좌를 깨우는 것도 키움에는 동등한 가치이기 때문입니다.
보조 지표로 시즌 재참여율, 질문식 매매 태깅률, 친화도 스코어 변화 등을 함께 관리하며, 추가 KPI는 계속 발전시켜 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정리하면 — 저희는 아이에게 안전한 첫 투자 무대를, 부모에게 교육 도구를, 키움에게 미래 고객을 만드는 가족 모의투자 플랫폼 '영웅 키움'을 제안합니다.
발표 후 두 가지 피드백을 특히 부탁드립니다. 자녀 실계좌 참가 조건의 현실성, 그리고 친화도 스코어 설계의 타당성입니다.
들어주셔서 감사합니다. 오늘 가족과 함께 키운 습관이, 10년 뒤 키움의 고객이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5A"/>
        </a:solidFill>
      </p:bgPr>
    </p:bg>
    <p:spTree>
      <p:nvGrpSpPr>
        <p:cNvPr id="1" name=""/>
        <p:cNvGrpSpPr/>
        <p:nvPr/>
      </p:nvGrpSpPr>
      <p:grpSpPr>
        <a:xfrm>
          <a:off x="0" y="0"/>
          <a:ext cx="0" cy="0"/>
          <a:chOff x="0" y="0"/>
          <a:chExt cx="0" cy="0"/>
        </a:xfrm>
      </p:grpSpPr>
      <p:sp>
        <p:nvSpPr>
          <p:cNvPr id="3" name="Shape 0"/>
          <p:cNvSpPr/>
          <p:nvPr/>
        </p:nvSpPr>
        <p:spPr>
          <a:xfrm>
            <a:off x="7223760" y="-1188720"/>
            <a:ext cx="3291840" cy="3291840"/>
          </a:xfrm>
          <a:prstGeom prst="ellipse">
            <a:avLst/>
          </a:prstGeom>
          <a:solidFill>
            <a:srgbClr val="D70082">
              <a:alpha val="18000"/>
            </a:srgbClr>
          </a:solidFill>
          <a:ln/>
        </p:spPr>
      </p:sp>
      <p:sp>
        <p:nvSpPr>
          <p:cNvPr id="4" name="Shape 1"/>
          <p:cNvSpPr/>
          <p:nvPr/>
        </p:nvSpPr>
        <p:spPr>
          <a:xfrm>
            <a:off x="-1097280" y="3566160"/>
            <a:ext cx="2926080" cy="2926080"/>
          </a:xfrm>
          <a:prstGeom prst="ellipse">
            <a:avLst/>
          </a:prstGeom>
          <a:solidFill>
            <a:srgbClr val="D70082">
              <a:alpha val="14000"/>
            </a:srgbClr>
          </a:solidFill>
          <a:ln/>
        </p:spPr>
      </p:sp>
      <p:sp>
        <p:nvSpPr>
          <p:cNvPr id="5" name="Shape 2"/>
          <p:cNvSpPr/>
          <p:nvPr/>
        </p:nvSpPr>
        <p:spPr>
          <a:xfrm>
            <a:off x="8138160" y="4023360"/>
            <a:ext cx="1371600" cy="1371600"/>
          </a:xfrm>
          <a:prstGeom prst="ellipse">
            <a:avLst/>
          </a:prstGeom>
          <a:solidFill>
            <a:srgbClr val="0A2E75">
              <a:alpha val="70000"/>
            </a:srgbClr>
          </a:solidFill>
          <a:ln/>
        </p:spPr>
      </p:sp>
      <p:sp>
        <p:nvSpPr>
          <p:cNvPr id="6" name="Text 3"/>
          <p:cNvSpPr/>
          <p:nvPr/>
        </p:nvSpPr>
        <p:spPr>
          <a:xfrm>
            <a:off x="731520" y="932688"/>
            <a:ext cx="7680960" cy="320040"/>
          </a:xfrm>
          <a:prstGeom prst="rect">
            <a:avLst/>
          </a:prstGeom>
          <a:noFill/>
          <a:ln/>
        </p:spPr>
        <p:txBody>
          <a:bodyPr wrap="square" lIns="0" tIns="0" rIns="0" bIns="0" rtlCol="0" anchor="ctr"/>
          <a:lstStyle/>
          <a:p>
            <a:pPr indent="0" marL="0">
              <a:buNone/>
            </a:pPr>
            <a:r>
              <a:rPr lang="en-US" sz="1300" b="1" spc="100" kern="0" dirty="0">
                <a:solidFill>
                  <a:srgbClr val="9DB4E8"/>
                </a:solidFill>
                <a:latin typeface="Malgun Gothic" pitchFamily="34" charset="0"/>
                <a:ea typeface="Malgun Gothic" pitchFamily="34" charset="-122"/>
                <a:cs typeface="Malgun Gothic" pitchFamily="34" charset="-120"/>
              </a:rPr>
              <a:t>2차 프로젝트 중간발표  ·  주제 : 증권  ·  팀 육개장</a:t>
            </a:r>
            <a:endParaRPr lang="en-US" sz="1300" dirty="0"/>
          </a:p>
        </p:txBody>
      </p:sp>
      <p:sp>
        <p:nvSpPr>
          <p:cNvPr id="7" name="Text 4"/>
          <p:cNvSpPr/>
          <p:nvPr/>
        </p:nvSpPr>
        <p:spPr>
          <a:xfrm>
            <a:off x="731520" y="1371600"/>
            <a:ext cx="7680960" cy="1051560"/>
          </a:xfrm>
          <a:prstGeom prst="rect">
            <a:avLst/>
          </a:prstGeom>
          <a:noFill/>
          <a:ln/>
        </p:spPr>
        <p:txBody>
          <a:bodyPr wrap="square" lIns="0" tIns="0" rIns="0" bIns="0" rtlCol="0" anchor="ctr"/>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영웅 </a:t>
            </a:r>
            <a:pPr indent="0" marL="0">
              <a:buNone/>
            </a:pPr>
            <a:r>
              <a:rPr lang="en-US" sz="6000" b="1" dirty="0">
                <a:solidFill>
                  <a:srgbClr val="D70082"/>
                </a:solidFill>
                <a:latin typeface="Malgun Gothic" pitchFamily="34" charset="0"/>
                <a:ea typeface="Malgun Gothic" pitchFamily="34" charset="-122"/>
                <a:cs typeface="Malgun Gothic" pitchFamily="34" charset="-120"/>
              </a:rPr>
              <a:t>키움</a:t>
            </a:r>
            <a:endParaRPr lang="en-US" sz="6000" dirty="0"/>
          </a:p>
        </p:txBody>
      </p:sp>
      <p:sp>
        <p:nvSpPr>
          <p:cNvPr id="8" name="Text 5"/>
          <p:cNvSpPr/>
          <p:nvPr/>
        </p:nvSpPr>
        <p:spPr>
          <a:xfrm>
            <a:off x="731520" y="2542032"/>
            <a:ext cx="7680960"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성장 발자취가 남는 가족 단위 모의투자 플랫폼</a:t>
            </a:r>
            <a:endParaRPr lang="en-US" sz="2000" dirty="0"/>
          </a:p>
        </p:txBody>
      </p:sp>
      <p:sp>
        <p:nvSpPr>
          <p:cNvPr id="9" name="Text 6"/>
          <p:cNvSpPr/>
          <p:nvPr/>
        </p:nvSpPr>
        <p:spPr>
          <a:xfrm>
            <a:off x="731520" y="2999232"/>
            <a:ext cx="7680960" cy="320040"/>
          </a:xfrm>
          <a:prstGeom prst="rect">
            <a:avLst/>
          </a:prstGeom>
          <a:noFill/>
          <a:ln/>
        </p:spPr>
        <p:txBody>
          <a:bodyPr wrap="square" lIns="0" tIns="0" rIns="0" bIns="0" rtlCol="0" anchor="ctr"/>
          <a:lstStyle/>
          <a:p>
            <a:pPr indent="0" marL="0">
              <a:buNone/>
            </a:pPr>
            <a:r>
              <a:rPr lang="en-US" sz="1300" dirty="0">
                <a:solidFill>
                  <a:srgbClr val="C9D6F2"/>
                </a:solidFill>
                <a:latin typeface="Malgun Gothic" pitchFamily="34" charset="0"/>
                <a:ea typeface="Malgun Gothic" pitchFamily="34" charset="-122"/>
                <a:cs typeface="Malgun Gothic" pitchFamily="34" charset="-120"/>
              </a:rPr>
              <a:t>어린이 눈높이  ·  영웅문S#(키움 MTS) 안의 신규 메뉴  ·  부모와 자녀가 한 팀</a:t>
            </a:r>
            <a:endParaRPr lang="en-US" sz="1300" dirty="0"/>
          </a:p>
        </p:txBody>
      </p:sp>
      <p:sp>
        <p:nvSpPr>
          <p:cNvPr id="10" name="Shape 7"/>
          <p:cNvSpPr/>
          <p:nvPr/>
        </p:nvSpPr>
        <p:spPr>
          <a:xfrm>
            <a:off x="731520" y="4160520"/>
            <a:ext cx="1449324" cy="384048"/>
          </a:xfrm>
          <a:prstGeom prst="roundRect">
            <a:avLst>
              <a:gd name="adj" fmla="val 50000"/>
            </a:avLst>
          </a:prstGeom>
          <a:solidFill>
            <a:srgbClr val="0A2E75"/>
          </a:solidFill>
          <a:ln w="12700">
            <a:solidFill>
              <a:srgbClr val="2A4A9C"/>
            </a:solidFill>
            <a:prstDash val="solid"/>
          </a:ln>
        </p:spPr>
      </p:sp>
      <p:sp>
        <p:nvSpPr>
          <p:cNvPr id="11" name="Text 8"/>
          <p:cNvSpPr/>
          <p:nvPr/>
        </p:nvSpPr>
        <p:spPr>
          <a:xfrm>
            <a:off x="731520" y="4160520"/>
            <a:ext cx="1449324" cy="384048"/>
          </a:xfrm>
          <a:prstGeom prst="rect">
            <a:avLst/>
          </a:prstGeom>
          <a:noFill/>
          <a:ln/>
        </p:spPr>
        <p:txBody>
          <a:bodyPr wrap="square" lIns="0" tIns="0" rIns="0" bIns="0" rtlCol="0" anchor="ctr"/>
          <a:lstStyle/>
          <a:p>
            <a:pPr algn="ctr" indent="0" marL="0">
              <a:buNone/>
            </a:pPr>
            <a:r>
              <a:rPr lang="en-US" sz="1050" dirty="0">
                <a:solidFill>
                  <a:srgbClr val="C9D6F2"/>
                </a:solidFill>
                <a:latin typeface="Malgun Gothic" pitchFamily="34" charset="0"/>
                <a:ea typeface="Malgun Gothic" pitchFamily="34" charset="-122"/>
                <a:cs typeface="Malgun Gothic" pitchFamily="34" charset="-120"/>
              </a:rPr>
              <a:t>키움증권 현직자 심사</a:t>
            </a:r>
            <a:endParaRPr lang="en-US" sz="1050" dirty="0"/>
          </a:p>
        </p:txBody>
      </p:sp>
      <p:sp>
        <p:nvSpPr>
          <p:cNvPr id="12" name="Shape 9"/>
          <p:cNvSpPr/>
          <p:nvPr/>
        </p:nvSpPr>
        <p:spPr>
          <a:xfrm>
            <a:off x="2345436" y="4160520"/>
            <a:ext cx="1975104" cy="384048"/>
          </a:xfrm>
          <a:prstGeom prst="roundRect">
            <a:avLst>
              <a:gd name="adj" fmla="val 50000"/>
            </a:avLst>
          </a:prstGeom>
          <a:solidFill>
            <a:srgbClr val="0A2E75"/>
          </a:solidFill>
          <a:ln w="12700">
            <a:solidFill>
              <a:srgbClr val="2A4A9C"/>
            </a:solidFill>
            <a:prstDash val="solid"/>
          </a:ln>
        </p:spPr>
      </p:sp>
      <p:sp>
        <p:nvSpPr>
          <p:cNvPr id="13" name="Text 10"/>
          <p:cNvSpPr/>
          <p:nvPr/>
        </p:nvSpPr>
        <p:spPr>
          <a:xfrm>
            <a:off x="2345436" y="4160520"/>
            <a:ext cx="1975104" cy="384048"/>
          </a:xfrm>
          <a:prstGeom prst="rect">
            <a:avLst/>
          </a:prstGeom>
          <a:noFill/>
          <a:ln/>
        </p:spPr>
        <p:txBody>
          <a:bodyPr wrap="square" lIns="0" tIns="0" rIns="0" bIns="0" rtlCol="0" anchor="ctr"/>
          <a:lstStyle/>
          <a:p>
            <a:pPr algn="ctr" indent="0" marL="0">
              <a:buNone/>
            </a:pPr>
            <a:r>
              <a:rPr lang="en-US" sz="1050" dirty="0">
                <a:solidFill>
                  <a:srgbClr val="C9D6F2"/>
                </a:solidFill>
                <a:latin typeface="Malgun Gothic" pitchFamily="34" charset="0"/>
                <a:ea typeface="Malgun Gothic" pitchFamily="34" charset="-122"/>
                <a:cs typeface="Malgun Gothic" pitchFamily="34" charset="-120"/>
              </a:rPr>
              <a:t>기준 문서 : 기획 통합 v2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02 — 서비스 궁극적 목표</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잠재고객을, 키움의 장기고객으로</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02</a:t>
            </a:r>
            <a:endParaRPr lang="en-US" sz="1000" dirty="0"/>
          </a:p>
        </p:txBody>
      </p:sp>
      <p:sp>
        <p:nvSpPr>
          <p:cNvPr id="6" name="Shape 3"/>
          <p:cNvSpPr/>
          <p:nvPr/>
        </p:nvSpPr>
        <p:spPr>
          <a:xfrm>
            <a:off x="502920" y="1371600"/>
            <a:ext cx="1883664" cy="1965960"/>
          </a:xfrm>
          <a:prstGeom prst="roundRect">
            <a:avLst>
              <a:gd name="adj" fmla="val 5825"/>
            </a:avLst>
          </a:prstGeom>
          <a:solidFill>
            <a:srgbClr val="F4F6FB"/>
          </a:solidFill>
          <a:ln/>
        </p:spPr>
      </p:sp>
      <p:sp>
        <p:nvSpPr>
          <p:cNvPr id="7" name="Shape 4"/>
          <p:cNvSpPr/>
          <p:nvPr/>
        </p:nvSpPr>
        <p:spPr>
          <a:xfrm>
            <a:off x="1197864" y="1600200"/>
            <a:ext cx="493776" cy="493776"/>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1331184" y="1733520"/>
            <a:ext cx="227137" cy="227137"/>
          </a:xfrm>
          <a:prstGeom prst="rect">
            <a:avLst/>
          </a:prstGeom>
        </p:spPr>
      </p:pic>
      <p:sp>
        <p:nvSpPr>
          <p:cNvPr id="9" name="Text 5"/>
          <p:cNvSpPr/>
          <p:nvPr/>
        </p:nvSpPr>
        <p:spPr>
          <a:xfrm>
            <a:off x="594360" y="2240280"/>
            <a:ext cx="1700784" cy="310896"/>
          </a:xfrm>
          <a:prstGeom prst="rect">
            <a:avLst/>
          </a:prstGeom>
          <a:noFill/>
          <a:ln/>
        </p:spPr>
        <p:txBody>
          <a:bodyPr wrap="square" lIns="0" tIns="0" rIns="0" bIns="0" rtlCol="0" anchor="ctr"/>
          <a:lstStyle/>
          <a:p>
            <a:pPr algn="ctr" indent="0" marL="0">
              <a:buNone/>
            </a:pPr>
            <a:r>
              <a:rPr lang="en-US" sz="1300" b="1" dirty="0">
                <a:solidFill>
                  <a:srgbClr val="001E5A"/>
                </a:solidFill>
                <a:latin typeface="Malgun Gothic" pitchFamily="34" charset="0"/>
                <a:ea typeface="Malgun Gothic" pitchFamily="34" charset="-122"/>
                <a:cs typeface="Malgun Gothic" pitchFamily="34" charset="-120"/>
              </a:rPr>
              <a:t>잠재고객</a:t>
            </a:r>
            <a:endParaRPr lang="en-US" sz="1300" dirty="0"/>
          </a:p>
        </p:txBody>
      </p:sp>
      <p:sp>
        <p:nvSpPr>
          <p:cNvPr id="10" name="Text 6"/>
          <p:cNvSpPr/>
          <p:nvPr/>
        </p:nvSpPr>
        <p:spPr>
          <a:xfrm>
            <a:off x="612648" y="2578608"/>
            <a:ext cx="1664208" cy="658368"/>
          </a:xfrm>
          <a:prstGeom prst="rect">
            <a:avLst/>
          </a:prstGeom>
          <a:noFill/>
          <a:ln/>
        </p:spPr>
        <p:txBody>
          <a:bodyPr wrap="square" lIns="0" tIns="0" rIns="0" bIns="0" rtlCol="0" anchor="ctr"/>
          <a:lstStyle/>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키움 계좌 보유 부모의</a:t>
            </a:r>
            <a:endParaRPr lang="en-US" sz="1000" dirty="0"/>
          </a:p>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초·중등 자녀</a:t>
            </a:r>
            <a:endParaRPr lang="en-US" sz="1000" dirty="0"/>
          </a:p>
        </p:txBody>
      </p:sp>
      <p:pic>
        <p:nvPicPr>
          <p:cNvPr id="11" name="Image 1" descr="preencoded.png">    </p:cNvPr>
          <p:cNvPicPr>
            <a:picLocks noChangeAspect="1"/>
          </p:cNvPicPr>
          <p:nvPr/>
        </p:nvPicPr>
        <p:blipFill>
          <a:blip r:embed="rId2"/>
          <a:stretch>
            <a:fillRect/>
          </a:stretch>
        </p:blipFill>
        <p:spPr>
          <a:xfrm>
            <a:off x="2414016" y="2272284"/>
            <a:ext cx="164592" cy="164592"/>
          </a:xfrm>
          <a:prstGeom prst="rect">
            <a:avLst/>
          </a:prstGeom>
        </p:spPr>
      </p:pic>
      <p:sp>
        <p:nvSpPr>
          <p:cNvPr id="12" name="Shape 7"/>
          <p:cNvSpPr/>
          <p:nvPr/>
        </p:nvSpPr>
        <p:spPr>
          <a:xfrm>
            <a:off x="2606040" y="1371600"/>
            <a:ext cx="1883664" cy="1965960"/>
          </a:xfrm>
          <a:prstGeom prst="roundRect">
            <a:avLst>
              <a:gd name="adj" fmla="val 5825"/>
            </a:avLst>
          </a:prstGeom>
          <a:solidFill>
            <a:srgbClr val="F4F6FB"/>
          </a:solidFill>
          <a:ln/>
        </p:spPr>
      </p:sp>
      <p:sp>
        <p:nvSpPr>
          <p:cNvPr id="13" name="Shape 8"/>
          <p:cNvSpPr/>
          <p:nvPr/>
        </p:nvSpPr>
        <p:spPr>
          <a:xfrm>
            <a:off x="3300984" y="1600200"/>
            <a:ext cx="493776" cy="493776"/>
          </a:xfrm>
          <a:prstGeom prst="ellipse">
            <a:avLst/>
          </a:prstGeom>
          <a:solidFill>
            <a:srgbClr val="001E5A"/>
          </a:solidFill>
          <a:ln/>
        </p:spPr>
      </p:sp>
      <p:pic>
        <p:nvPicPr>
          <p:cNvPr id="14" name="Image 2" descr="preencoded.png">    </p:cNvPr>
          <p:cNvPicPr>
            <a:picLocks noChangeAspect="1"/>
          </p:cNvPicPr>
          <p:nvPr/>
        </p:nvPicPr>
        <p:blipFill>
          <a:blip r:embed="rId3"/>
          <a:stretch>
            <a:fillRect/>
          </a:stretch>
        </p:blipFill>
        <p:spPr>
          <a:xfrm>
            <a:off x="3434304" y="1733520"/>
            <a:ext cx="227137" cy="227137"/>
          </a:xfrm>
          <a:prstGeom prst="rect">
            <a:avLst/>
          </a:prstGeom>
        </p:spPr>
      </p:pic>
      <p:sp>
        <p:nvSpPr>
          <p:cNvPr id="15" name="Text 9"/>
          <p:cNvSpPr/>
          <p:nvPr/>
        </p:nvSpPr>
        <p:spPr>
          <a:xfrm>
            <a:off x="2697480" y="2240280"/>
            <a:ext cx="1700784" cy="310896"/>
          </a:xfrm>
          <a:prstGeom prst="rect">
            <a:avLst/>
          </a:prstGeom>
          <a:noFill/>
          <a:ln/>
        </p:spPr>
        <p:txBody>
          <a:bodyPr wrap="square" lIns="0" tIns="0" rIns="0" bIns="0" rtlCol="0" anchor="ctr"/>
          <a:lstStyle/>
          <a:p>
            <a:pPr algn="ctr" indent="0" marL="0">
              <a:buNone/>
            </a:pPr>
            <a:r>
              <a:rPr lang="en-US" sz="1300" b="1" dirty="0">
                <a:solidFill>
                  <a:srgbClr val="001E5A"/>
                </a:solidFill>
                <a:latin typeface="Malgun Gothic" pitchFamily="34" charset="0"/>
                <a:ea typeface="Malgun Gothic" pitchFamily="34" charset="-122"/>
                <a:cs typeface="Malgun Gothic" pitchFamily="34" charset="-120"/>
              </a:rPr>
              <a:t>경험 · 계좌 개설</a:t>
            </a:r>
            <a:endParaRPr lang="en-US" sz="1300" dirty="0"/>
          </a:p>
        </p:txBody>
      </p:sp>
      <p:sp>
        <p:nvSpPr>
          <p:cNvPr id="16" name="Text 10"/>
          <p:cNvSpPr/>
          <p:nvPr/>
        </p:nvSpPr>
        <p:spPr>
          <a:xfrm>
            <a:off x="2715768" y="2578608"/>
            <a:ext cx="1664208" cy="658368"/>
          </a:xfrm>
          <a:prstGeom prst="rect">
            <a:avLst/>
          </a:prstGeom>
          <a:noFill/>
          <a:ln/>
        </p:spPr>
        <p:txBody>
          <a:bodyPr wrap="square" lIns="0" tIns="0" rIns="0" bIns="0" rtlCol="0" anchor="ctr"/>
          <a:lstStyle/>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안전한 모의투자 경험</a:t>
            </a:r>
            <a:endParaRPr lang="en-US" sz="1000" dirty="0"/>
          </a:p>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 미성년 계좌 개설</a:t>
            </a:r>
            <a:endParaRPr lang="en-US" sz="1000" dirty="0"/>
          </a:p>
        </p:txBody>
      </p:sp>
      <p:pic>
        <p:nvPicPr>
          <p:cNvPr id="17" name="Image 3" descr="preencoded.png">    </p:cNvPr>
          <p:cNvPicPr>
            <a:picLocks noChangeAspect="1"/>
          </p:cNvPicPr>
          <p:nvPr/>
        </p:nvPicPr>
        <p:blipFill>
          <a:blip r:embed="rId4"/>
          <a:stretch>
            <a:fillRect/>
          </a:stretch>
        </p:blipFill>
        <p:spPr>
          <a:xfrm>
            <a:off x="4517136" y="2272284"/>
            <a:ext cx="164592" cy="164592"/>
          </a:xfrm>
          <a:prstGeom prst="rect">
            <a:avLst/>
          </a:prstGeom>
        </p:spPr>
      </p:pic>
      <p:sp>
        <p:nvSpPr>
          <p:cNvPr id="18" name="Shape 11"/>
          <p:cNvSpPr/>
          <p:nvPr/>
        </p:nvSpPr>
        <p:spPr>
          <a:xfrm>
            <a:off x="4709160" y="1371600"/>
            <a:ext cx="1883664" cy="1965960"/>
          </a:xfrm>
          <a:prstGeom prst="roundRect">
            <a:avLst>
              <a:gd name="adj" fmla="val 5825"/>
            </a:avLst>
          </a:prstGeom>
          <a:solidFill>
            <a:srgbClr val="F4F6FB"/>
          </a:solidFill>
          <a:ln/>
        </p:spPr>
      </p:sp>
      <p:sp>
        <p:nvSpPr>
          <p:cNvPr id="19" name="Shape 12"/>
          <p:cNvSpPr/>
          <p:nvPr/>
        </p:nvSpPr>
        <p:spPr>
          <a:xfrm>
            <a:off x="5404104" y="1600200"/>
            <a:ext cx="493776" cy="493776"/>
          </a:xfrm>
          <a:prstGeom prst="ellipse">
            <a:avLst/>
          </a:prstGeom>
          <a:solidFill>
            <a:srgbClr val="001E5A"/>
          </a:solidFill>
          <a:ln/>
        </p:spPr>
      </p:sp>
      <p:pic>
        <p:nvPicPr>
          <p:cNvPr id="20" name="Image 4" descr="preencoded.png">    </p:cNvPr>
          <p:cNvPicPr>
            <a:picLocks noChangeAspect="1"/>
          </p:cNvPicPr>
          <p:nvPr/>
        </p:nvPicPr>
        <p:blipFill>
          <a:blip r:embed="rId5"/>
          <a:stretch>
            <a:fillRect/>
          </a:stretch>
        </p:blipFill>
        <p:spPr>
          <a:xfrm>
            <a:off x="5537424" y="1733520"/>
            <a:ext cx="227137" cy="227137"/>
          </a:xfrm>
          <a:prstGeom prst="rect">
            <a:avLst/>
          </a:prstGeom>
        </p:spPr>
      </p:pic>
      <p:sp>
        <p:nvSpPr>
          <p:cNvPr id="21" name="Text 13"/>
          <p:cNvSpPr/>
          <p:nvPr/>
        </p:nvSpPr>
        <p:spPr>
          <a:xfrm>
            <a:off x="4800600" y="2240280"/>
            <a:ext cx="1700784" cy="310896"/>
          </a:xfrm>
          <a:prstGeom prst="rect">
            <a:avLst/>
          </a:prstGeom>
          <a:noFill/>
          <a:ln/>
        </p:spPr>
        <p:txBody>
          <a:bodyPr wrap="square" lIns="0" tIns="0" rIns="0" bIns="0" rtlCol="0" anchor="ctr"/>
          <a:lstStyle/>
          <a:p>
            <a:pPr algn="ctr" indent="0" marL="0">
              <a:buNone/>
            </a:pPr>
            <a:r>
              <a:rPr lang="en-US" sz="1300" b="1" dirty="0">
                <a:solidFill>
                  <a:srgbClr val="001E5A"/>
                </a:solidFill>
                <a:latin typeface="Malgun Gothic" pitchFamily="34" charset="0"/>
                <a:ea typeface="Malgun Gothic" pitchFamily="34" charset="-122"/>
                <a:cs typeface="Malgun Gothic" pitchFamily="34" charset="-120"/>
              </a:rPr>
              <a:t>습관 · 친숙함</a:t>
            </a:r>
            <a:endParaRPr lang="en-US" sz="1300" dirty="0"/>
          </a:p>
        </p:txBody>
      </p:sp>
      <p:sp>
        <p:nvSpPr>
          <p:cNvPr id="22" name="Text 14"/>
          <p:cNvSpPr/>
          <p:nvPr/>
        </p:nvSpPr>
        <p:spPr>
          <a:xfrm>
            <a:off x="4818888" y="2578608"/>
            <a:ext cx="1664208" cy="658368"/>
          </a:xfrm>
          <a:prstGeom prst="rect">
            <a:avLst/>
          </a:prstGeom>
          <a:noFill/>
          <a:ln/>
        </p:spPr>
        <p:txBody>
          <a:bodyPr wrap="square" lIns="0" tIns="0" rIns="0" bIns="0" rtlCol="0" anchor="ctr"/>
          <a:lstStyle/>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투자 습관 형성,</a:t>
            </a:r>
            <a:endParaRPr lang="en-US" sz="1000" dirty="0"/>
          </a:p>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주식·키움과 친해지기</a:t>
            </a:r>
            <a:endParaRPr lang="en-US" sz="1000" dirty="0"/>
          </a:p>
        </p:txBody>
      </p:sp>
      <p:pic>
        <p:nvPicPr>
          <p:cNvPr id="23" name="Image 5" descr="preencoded.png">    </p:cNvPr>
          <p:cNvPicPr>
            <a:picLocks noChangeAspect="1"/>
          </p:cNvPicPr>
          <p:nvPr/>
        </p:nvPicPr>
        <p:blipFill>
          <a:blip r:embed="rId6"/>
          <a:stretch>
            <a:fillRect/>
          </a:stretch>
        </p:blipFill>
        <p:spPr>
          <a:xfrm>
            <a:off x="6620256" y="2272284"/>
            <a:ext cx="164592" cy="164592"/>
          </a:xfrm>
          <a:prstGeom prst="rect">
            <a:avLst/>
          </a:prstGeom>
        </p:spPr>
      </p:pic>
      <p:sp>
        <p:nvSpPr>
          <p:cNvPr id="24" name="Shape 15"/>
          <p:cNvSpPr/>
          <p:nvPr/>
        </p:nvSpPr>
        <p:spPr>
          <a:xfrm>
            <a:off x="6812280" y="1371600"/>
            <a:ext cx="1883664" cy="1965960"/>
          </a:xfrm>
          <a:prstGeom prst="roundRect">
            <a:avLst>
              <a:gd name="adj" fmla="val 5825"/>
            </a:avLst>
          </a:prstGeom>
          <a:solidFill>
            <a:srgbClr val="FBEAF4"/>
          </a:solidFill>
          <a:ln w="22225">
            <a:solidFill>
              <a:srgbClr val="D70082"/>
            </a:solidFill>
            <a:prstDash val="solid"/>
          </a:ln>
        </p:spPr>
      </p:sp>
      <p:sp>
        <p:nvSpPr>
          <p:cNvPr id="25" name="Shape 16"/>
          <p:cNvSpPr/>
          <p:nvPr/>
        </p:nvSpPr>
        <p:spPr>
          <a:xfrm>
            <a:off x="7507224" y="1600200"/>
            <a:ext cx="493776" cy="493776"/>
          </a:xfrm>
          <a:prstGeom prst="ellipse">
            <a:avLst/>
          </a:prstGeom>
          <a:solidFill>
            <a:srgbClr val="D70082"/>
          </a:solidFill>
          <a:ln/>
        </p:spPr>
      </p:sp>
      <p:pic>
        <p:nvPicPr>
          <p:cNvPr id="26" name="Image 6" descr="preencoded.png">    </p:cNvPr>
          <p:cNvPicPr>
            <a:picLocks noChangeAspect="1"/>
          </p:cNvPicPr>
          <p:nvPr/>
        </p:nvPicPr>
        <p:blipFill>
          <a:blip r:embed="rId7"/>
          <a:stretch>
            <a:fillRect/>
          </a:stretch>
        </p:blipFill>
        <p:spPr>
          <a:xfrm>
            <a:off x="7640544" y="1733520"/>
            <a:ext cx="227137" cy="227137"/>
          </a:xfrm>
          <a:prstGeom prst="rect">
            <a:avLst/>
          </a:prstGeom>
        </p:spPr>
      </p:pic>
      <p:sp>
        <p:nvSpPr>
          <p:cNvPr id="27" name="Text 17"/>
          <p:cNvSpPr/>
          <p:nvPr/>
        </p:nvSpPr>
        <p:spPr>
          <a:xfrm>
            <a:off x="6903720" y="2240280"/>
            <a:ext cx="1700784" cy="310896"/>
          </a:xfrm>
          <a:prstGeom prst="rect">
            <a:avLst/>
          </a:prstGeom>
          <a:noFill/>
          <a:ln/>
        </p:spPr>
        <p:txBody>
          <a:bodyPr wrap="square" lIns="0" tIns="0" rIns="0" bIns="0" rtlCol="0" anchor="ctr"/>
          <a:lstStyle/>
          <a:p>
            <a:pPr algn="ctr" indent="0" marL="0">
              <a:buNone/>
            </a:pPr>
            <a:r>
              <a:rPr lang="en-US" sz="1300" b="1" dirty="0">
                <a:solidFill>
                  <a:srgbClr val="D70082"/>
                </a:solidFill>
                <a:latin typeface="Malgun Gothic" pitchFamily="34" charset="0"/>
                <a:ea typeface="Malgun Gothic" pitchFamily="34" charset="-122"/>
                <a:cs typeface="Malgun Gothic" pitchFamily="34" charset="-120"/>
              </a:rPr>
              <a:t>장기고객 전환</a:t>
            </a:r>
            <a:endParaRPr lang="en-US" sz="1300" dirty="0"/>
          </a:p>
        </p:txBody>
      </p:sp>
      <p:sp>
        <p:nvSpPr>
          <p:cNvPr id="28" name="Text 18"/>
          <p:cNvSpPr/>
          <p:nvPr/>
        </p:nvSpPr>
        <p:spPr>
          <a:xfrm>
            <a:off x="6922008" y="2578608"/>
            <a:ext cx="1664208" cy="658368"/>
          </a:xfrm>
          <a:prstGeom prst="rect">
            <a:avLst/>
          </a:prstGeom>
          <a:noFill/>
          <a:ln/>
        </p:spPr>
        <p:txBody>
          <a:bodyPr wrap="square" lIns="0" tIns="0" rIns="0" bIns="0" rtlCol="0" anchor="ctr"/>
          <a:lstStyle/>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성인이 된 뒤에도</a:t>
            </a:r>
            <a:endParaRPr lang="en-US" sz="1000" dirty="0"/>
          </a:p>
          <a:p>
            <a:pPr algn="ct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키움에서 투자</a:t>
            </a:r>
            <a:endParaRPr lang="en-US" sz="1000" dirty="0"/>
          </a:p>
        </p:txBody>
      </p:sp>
      <p:sp>
        <p:nvSpPr>
          <p:cNvPr id="29" name="Text 19"/>
          <p:cNvSpPr/>
          <p:nvPr/>
        </p:nvSpPr>
        <p:spPr>
          <a:xfrm>
            <a:off x="502920" y="3611880"/>
            <a:ext cx="8138160" cy="292608"/>
          </a:xfrm>
          <a:prstGeom prst="rect">
            <a:avLst/>
          </a:prstGeom>
          <a:noFill/>
          <a:ln/>
        </p:spPr>
        <p:txBody>
          <a:bodyPr wrap="square" lIns="0" tIns="0" rIns="0" bIns="0" rtlCol="0" anchor="ctr"/>
          <a:lstStyle/>
          <a:p>
            <a:pPr algn="ctr" indent="0" marL="0">
              <a:buNone/>
            </a:pPr>
            <a:r>
              <a:rPr lang="en-US" sz="1200" b="1" dirty="0">
                <a:solidFill>
                  <a:srgbClr val="001E5A"/>
                </a:solidFill>
                <a:latin typeface="Malgun Gothic" pitchFamily="34" charset="0"/>
                <a:ea typeface="Malgun Gothic" pitchFamily="34" charset="-122"/>
                <a:cs typeface="Malgun Gothic" pitchFamily="34" charset="-120"/>
              </a:rPr>
              <a:t>단기 성과와 장기 성과를 한 구조로 — 오늘은 미성년 계좌 개설, 10년 뒤는 세대 승계 고객</a:t>
            </a:r>
            <a:endParaRPr lang="en-US" sz="1200" dirty="0"/>
          </a:p>
        </p:txBody>
      </p:sp>
      <p:sp>
        <p:nvSpPr>
          <p:cNvPr id="30" name="Shape 20"/>
          <p:cNvSpPr/>
          <p:nvPr/>
        </p:nvSpPr>
        <p:spPr>
          <a:xfrm>
            <a:off x="502920" y="4160520"/>
            <a:ext cx="8138160" cy="566928"/>
          </a:xfrm>
          <a:prstGeom prst="roundRect">
            <a:avLst>
              <a:gd name="adj" fmla="val 16129"/>
            </a:avLst>
          </a:prstGeom>
          <a:solidFill>
            <a:srgbClr val="001E5A"/>
          </a:solidFill>
          <a:ln/>
        </p:spPr>
      </p:sp>
      <p:sp>
        <p:nvSpPr>
          <p:cNvPr id="31" name="Text 21"/>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핵심  </a:t>
            </a:r>
            <a:pPr indent="0" marL="0">
              <a:buNone/>
            </a:pPr>
            <a:r>
              <a:rPr lang="en-US" sz="1100" dirty="0">
                <a:solidFill>
                  <a:srgbClr val="FFFFFF"/>
                </a:solidFill>
                <a:latin typeface="Malgun Gothic" pitchFamily="34" charset="0"/>
                <a:ea typeface="Malgun Gothic" pitchFamily="34" charset="-122"/>
                <a:cs typeface="Malgun Gothic" pitchFamily="34" charset="-120"/>
              </a:rPr>
              <a:t>사용자가 얻는 것 — 자녀의 투자 습관 · 주식 투자에 친숙해지고 익숙해지는 경험</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03 — 페인포인트</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“안전하게 경험해볼 곳이, 없다”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03</a:t>
            </a:r>
            <a:endParaRPr lang="en-US" sz="1000" dirty="0"/>
          </a:p>
        </p:txBody>
      </p:sp>
      <p:sp>
        <p:nvSpPr>
          <p:cNvPr id="6" name="Shape 3"/>
          <p:cNvSpPr/>
          <p:nvPr/>
        </p:nvSpPr>
        <p:spPr>
          <a:xfrm>
            <a:off x="502920" y="1207008"/>
            <a:ext cx="8138160" cy="804672"/>
          </a:xfrm>
          <a:prstGeom prst="roundRect">
            <a:avLst>
              <a:gd name="adj" fmla="val 13636"/>
            </a:avLst>
          </a:prstGeom>
          <a:solidFill>
            <a:srgbClr val="001E5A"/>
          </a:solidFill>
          <a:ln/>
        </p:spPr>
      </p:sp>
      <p:pic>
        <p:nvPicPr>
          <p:cNvPr id="7" name="Image 0" descr="preencoded.png">    </p:cNvPr>
          <p:cNvPicPr>
            <a:picLocks noChangeAspect="1"/>
          </p:cNvPicPr>
          <p:nvPr/>
        </p:nvPicPr>
        <p:blipFill>
          <a:blip r:embed="rId1"/>
          <a:stretch>
            <a:fillRect/>
          </a:stretch>
        </p:blipFill>
        <p:spPr>
          <a:xfrm>
            <a:off x="777240" y="1371600"/>
            <a:ext cx="237744" cy="237744"/>
          </a:xfrm>
          <a:prstGeom prst="rect">
            <a:avLst/>
          </a:prstGeom>
        </p:spPr>
      </p:pic>
      <p:sp>
        <p:nvSpPr>
          <p:cNvPr id="8" name="Text 4"/>
          <p:cNvSpPr/>
          <p:nvPr/>
        </p:nvSpPr>
        <p:spPr>
          <a:xfrm>
            <a:off x="1143000" y="1207008"/>
            <a:ext cx="7223760" cy="804672"/>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Malgun Gothic" pitchFamily="34" charset="0"/>
                <a:ea typeface="Malgun Gothic" pitchFamily="34" charset="-122"/>
                <a:cs typeface="Malgun Gothic" pitchFamily="34" charset="-120"/>
              </a:rPr>
              <a:t>부모는 자녀가 비교적 안전한 환경에서 주식 투자를 경험하고 투자 습관을 기르게 해주고 싶은데 — </a:t>
            </a:r>
            <a:pPr indent="0" marL="0">
              <a:lnSpc>
                <a:spcPct val="115000"/>
              </a:lnSpc>
              <a:buNone/>
            </a:pPr>
            <a:r>
              <a:rPr lang="en-US" sz="1350" b="1" dirty="0">
                <a:solidFill>
                  <a:srgbClr val="FF7ABF"/>
                </a:solidFill>
                <a:latin typeface="Malgun Gothic" pitchFamily="34" charset="0"/>
                <a:ea typeface="Malgun Gothic" pitchFamily="34" charset="-122"/>
                <a:cs typeface="Malgun Gothic" pitchFamily="34" charset="-120"/>
              </a:rPr>
              <a:t>마땅한 플랫폼이 없다.</a:t>
            </a:r>
            <a:endParaRPr lang="en-US" sz="1350" dirty="0"/>
          </a:p>
        </p:txBody>
      </p:sp>
      <p:sp>
        <p:nvSpPr>
          <p:cNvPr id="9" name="Shape 5"/>
          <p:cNvSpPr/>
          <p:nvPr/>
        </p:nvSpPr>
        <p:spPr>
          <a:xfrm>
            <a:off x="502920" y="2194560"/>
            <a:ext cx="2615184" cy="1783080"/>
          </a:xfrm>
          <a:prstGeom prst="roundRect">
            <a:avLst>
              <a:gd name="adj" fmla="val 6154"/>
            </a:avLst>
          </a:prstGeom>
          <a:solidFill>
            <a:srgbClr val="F4F6FB"/>
          </a:solidFill>
          <a:ln/>
        </p:spPr>
      </p:sp>
      <p:sp>
        <p:nvSpPr>
          <p:cNvPr id="10" name="Shape 6"/>
          <p:cNvSpPr/>
          <p:nvPr/>
        </p:nvSpPr>
        <p:spPr>
          <a:xfrm>
            <a:off x="740664" y="2414016"/>
            <a:ext cx="475488" cy="475488"/>
          </a:xfrm>
          <a:prstGeom prst="ellipse">
            <a:avLst/>
          </a:prstGeom>
          <a:solidFill>
            <a:srgbClr val="001E5A"/>
          </a:solidFill>
          <a:ln/>
        </p:spPr>
      </p:sp>
      <p:pic>
        <p:nvPicPr>
          <p:cNvPr id="11" name="Image 1" descr="preencoded.png">    </p:cNvPr>
          <p:cNvPicPr>
            <a:picLocks noChangeAspect="1"/>
          </p:cNvPicPr>
          <p:nvPr/>
        </p:nvPicPr>
        <p:blipFill>
          <a:blip r:embed="rId2"/>
          <a:stretch>
            <a:fillRect/>
          </a:stretch>
        </p:blipFill>
        <p:spPr>
          <a:xfrm>
            <a:off x="869046" y="2542398"/>
            <a:ext cx="218724" cy="218724"/>
          </a:xfrm>
          <a:prstGeom prst="rect">
            <a:avLst/>
          </a:prstGeom>
        </p:spPr>
      </p:pic>
      <p:sp>
        <p:nvSpPr>
          <p:cNvPr id="12" name="Text 7"/>
          <p:cNvSpPr/>
          <p:nvPr/>
        </p:nvSpPr>
        <p:spPr>
          <a:xfrm>
            <a:off x="740664" y="3017520"/>
            <a:ext cx="2139696" cy="310896"/>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성인 기준의 기존 서비스</a:t>
            </a:r>
            <a:endParaRPr lang="en-US" sz="1250" dirty="0"/>
          </a:p>
        </p:txBody>
      </p:sp>
      <p:sp>
        <p:nvSpPr>
          <p:cNvPr id="13" name="Text 8"/>
          <p:cNvSpPr/>
          <p:nvPr/>
        </p:nvSpPr>
        <p:spPr>
          <a:xfrm>
            <a:off x="740664" y="3346704"/>
            <a:ext cx="2157984" cy="566928"/>
          </a:xfrm>
          <a:prstGeom prst="rect">
            <a:avLst/>
          </a:prstGeom>
          <a:noFill/>
          <a:ln/>
        </p:spPr>
        <p:txBody>
          <a:bodyPr wrap="square" lIns="0" tIns="0" rIns="0" bIns="0" rtlCol="0" anchor="ctr"/>
          <a:lstStyle/>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MTS·모의투자 전부 성인 기준</a:t>
            </a:r>
            <a:endParaRPr lang="en-US" sz="1000" dirty="0"/>
          </a:p>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용어·화면·정보량 + 위험 거래 노출</a:t>
            </a:r>
            <a:endParaRPr lang="en-US" sz="1000" dirty="0"/>
          </a:p>
        </p:txBody>
      </p:sp>
      <p:sp>
        <p:nvSpPr>
          <p:cNvPr id="14" name="Shape 9"/>
          <p:cNvSpPr/>
          <p:nvPr/>
        </p:nvSpPr>
        <p:spPr>
          <a:xfrm>
            <a:off x="3264408" y="2194560"/>
            <a:ext cx="2615184" cy="1783080"/>
          </a:xfrm>
          <a:prstGeom prst="roundRect">
            <a:avLst>
              <a:gd name="adj" fmla="val 6154"/>
            </a:avLst>
          </a:prstGeom>
          <a:solidFill>
            <a:srgbClr val="F4F6FB"/>
          </a:solidFill>
          <a:ln/>
        </p:spPr>
      </p:sp>
      <p:sp>
        <p:nvSpPr>
          <p:cNvPr id="15" name="Shape 10"/>
          <p:cNvSpPr/>
          <p:nvPr/>
        </p:nvSpPr>
        <p:spPr>
          <a:xfrm>
            <a:off x="3502152" y="2414016"/>
            <a:ext cx="475488" cy="475488"/>
          </a:xfrm>
          <a:prstGeom prst="ellipse">
            <a:avLst/>
          </a:prstGeom>
          <a:solidFill>
            <a:srgbClr val="D70082"/>
          </a:solidFill>
          <a:ln/>
        </p:spPr>
      </p:sp>
      <p:pic>
        <p:nvPicPr>
          <p:cNvPr id="16" name="Image 2" descr="preencoded.png">    </p:cNvPr>
          <p:cNvPicPr>
            <a:picLocks noChangeAspect="1"/>
          </p:cNvPicPr>
          <p:nvPr/>
        </p:nvPicPr>
        <p:blipFill>
          <a:blip r:embed="rId3"/>
          <a:stretch>
            <a:fillRect/>
          </a:stretch>
        </p:blipFill>
        <p:spPr>
          <a:xfrm>
            <a:off x="3630534" y="2542398"/>
            <a:ext cx="218724" cy="218724"/>
          </a:xfrm>
          <a:prstGeom prst="rect">
            <a:avLst/>
          </a:prstGeom>
        </p:spPr>
      </p:pic>
      <p:sp>
        <p:nvSpPr>
          <p:cNvPr id="17" name="Text 11"/>
          <p:cNvSpPr/>
          <p:nvPr/>
        </p:nvSpPr>
        <p:spPr>
          <a:xfrm>
            <a:off x="3502152" y="3017520"/>
            <a:ext cx="2139696" cy="310896"/>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부모의 교육 부담</a:t>
            </a:r>
            <a:endParaRPr lang="en-US" sz="1250" dirty="0"/>
          </a:p>
        </p:txBody>
      </p:sp>
      <p:sp>
        <p:nvSpPr>
          <p:cNvPr id="18" name="Text 12"/>
          <p:cNvSpPr/>
          <p:nvPr/>
        </p:nvSpPr>
        <p:spPr>
          <a:xfrm>
            <a:off x="3502152" y="3346704"/>
            <a:ext cx="2157984" cy="566928"/>
          </a:xfrm>
          <a:prstGeom prst="rect">
            <a:avLst/>
          </a:prstGeom>
          <a:noFill/>
          <a:ln/>
        </p:spPr>
        <p:txBody>
          <a:bodyPr wrap="square" lIns="0" tIns="0" rIns="0" bIns="0" rtlCol="0" anchor="ctr"/>
          <a:lstStyle/>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부모도 전문가가 아님</a:t>
            </a:r>
            <a:endParaRPr lang="en-US" sz="1000" dirty="0"/>
          </a:p>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가르칠 방법론도 도구도 없음</a:t>
            </a:r>
            <a:endParaRPr lang="en-US" sz="1000" dirty="0"/>
          </a:p>
        </p:txBody>
      </p:sp>
      <p:sp>
        <p:nvSpPr>
          <p:cNvPr id="19" name="Shape 13"/>
          <p:cNvSpPr/>
          <p:nvPr/>
        </p:nvSpPr>
        <p:spPr>
          <a:xfrm>
            <a:off x="6025896" y="2194560"/>
            <a:ext cx="2615184" cy="1783080"/>
          </a:xfrm>
          <a:prstGeom prst="roundRect">
            <a:avLst>
              <a:gd name="adj" fmla="val 6154"/>
            </a:avLst>
          </a:prstGeom>
          <a:solidFill>
            <a:srgbClr val="F4F6FB"/>
          </a:solidFill>
          <a:ln/>
        </p:spPr>
      </p:sp>
      <p:sp>
        <p:nvSpPr>
          <p:cNvPr id="20" name="Shape 14"/>
          <p:cNvSpPr/>
          <p:nvPr/>
        </p:nvSpPr>
        <p:spPr>
          <a:xfrm>
            <a:off x="6263640" y="2414016"/>
            <a:ext cx="475488" cy="475488"/>
          </a:xfrm>
          <a:prstGeom prst="ellipse">
            <a:avLst/>
          </a:prstGeom>
          <a:solidFill>
            <a:srgbClr val="001E5A"/>
          </a:solidFill>
          <a:ln/>
        </p:spPr>
      </p:sp>
      <p:pic>
        <p:nvPicPr>
          <p:cNvPr id="21" name="Image 3" descr="preencoded.png">    </p:cNvPr>
          <p:cNvPicPr>
            <a:picLocks noChangeAspect="1"/>
          </p:cNvPicPr>
          <p:nvPr/>
        </p:nvPicPr>
        <p:blipFill>
          <a:blip r:embed="rId4"/>
          <a:stretch>
            <a:fillRect/>
          </a:stretch>
        </p:blipFill>
        <p:spPr>
          <a:xfrm>
            <a:off x="6392022" y="2542398"/>
            <a:ext cx="218724" cy="218724"/>
          </a:xfrm>
          <a:prstGeom prst="rect">
            <a:avLst/>
          </a:prstGeom>
        </p:spPr>
      </p:pic>
      <p:sp>
        <p:nvSpPr>
          <p:cNvPr id="22" name="Text 15"/>
          <p:cNvSpPr/>
          <p:nvPr/>
        </p:nvSpPr>
        <p:spPr>
          <a:xfrm>
            <a:off x="6263640" y="3017520"/>
            <a:ext cx="2139696" cy="310896"/>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가족의 자리가 없음</a:t>
            </a:r>
            <a:endParaRPr lang="en-US" sz="1250" dirty="0"/>
          </a:p>
        </p:txBody>
      </p:sp>
      <p:sp>
        <p:nvSpPr>
          <p:cNvPr id="23" name="Text 16"/>
          <p:cNvSpPr/>
          <p:nvPr/>
        </p:nvSpPr>
        <p:spPr>
          <a:xfrm>
            <a:off x="6263640" y="3346704"/>
            <a:ext cx="2157984" cy="566928"/>
          </a:xfrm>
          <a:prstGeom prst="rect">
            <a:avLst/>
          </a:prstGeom>
          <a:noFill/>
          <a:ln/>
        </p:spPr>
        <p:txBody>
          <a:bodyPr wrap="square" lIns="0" tIns="0" rIns="0" bIns="0" rtlCol="0" anchor="ctr"/>
          <a:lstStyle/>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기존 모의투자는 개인 수익률</a:t>
            </a:r>
            <a:endParaRPr lang="en-US" sz="1000" dirty="0"/>
          </a:p>
          <a:p>
            <a:pPr indent="0" marL="0">
              <a:lnSpc>
                <a:spcPct val="112000"/>
              </a:lnSpc>
              <a:buNone/>
            </a:pPr>
            <a:r>
              <a:rPr lang="en-US" sz="1000" dirty="0">
                <a:solidFill>
                  <a:srgbClr val="6B7280"/>
                </a:solidFill>
                <a:latin typeface="Malgun Gothic" pitchFamily="34" charset="0"/>
                <a:ea typeface="Malgun Gothic" pitchFamily="34" charset="-122"/>
                <a:cs typeface="Malgun Gothic" pitchFamily="34" charset="-120"/>
              </a:rPr>
              <a:t>경쟁 중심 — 함께할 맥락 부재</a:t>
            </a:r>
            <a:endParaRPr lang="en-US" sz="1000" dirty="0"/>
          </a:p>
        </p:txBody>
      </p:sp>
      <p:sp>
        <p:nvSpPr>
          <p:cNvPr id="24" name="Shape 17"/>
          <p:cNvSpPr/>
          <p:nvPr/>
        </p:nvSpPr>
        <p:spPr>
          <a:xfrm>
            <a:off x="502920" y="4160520"/>
            <a:ext cx="8138160" cy="566928"/>
          </a:xfrm>
          <a:prstGeom prst="roundRect">
            <a:avLst>
              <a:gd name="adj" fmla="val 16129"/>
            </a:avLst>
          </a:prstGeom>
          <a:solidFill>
            <a:srgbClr val="001E5A"/>
          </a:solidFill>
          <a:ln/>
        </p:spPr>
      </p:sp>
      <p:sp>
        <p:nvSpPr>
          <p:cNvPr id="25" name="Text 18"/>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결과  </a:t>
            </a:r>
            <a:pPr indent="0" marL="0">
              <a:buNone/>
            </a:pPr>
            <a:r>
              <a:rPr lang="en-US" sz="1100" dirty="0">
                <a:solidFill>
                  <a:srgbClr val="FFFFFF"/>
                </a:solidFill>
                <a:latin typeface="Malgun Gothic" pitchFamily="34" charset="0"/>
                <a:ea typeface="Malgun Gothic" pitchFamily="34" charset="-122"/>
                <a:cs typeface="Malgun Gothic" pitchFamily="34" charset="-120"/>
              </a:rPr>
              <a:t>계좌는 만들어줬는데 그 다음이 없다 — 아이는 기회를 잃고, 계좌는 방치된다</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04 — 그래서, 우리의 솔루션</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부모와 자녀가 한 팀 — 가족 모의투자 플랫폼</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04</a:t>
            </a:r>
            <a:endParaRPr lang="en-US" sz="1000" dirty="0"/>
          </a:p>
        </p:txBody>
      </p:sp>
      <p:sp>
        <p:nvSpPr>
          <p:cNvPr id="6" name="Shape 3"/>
          <p:cNvSpPr/>
          <p:nvPr/>
        </p:nvSpPr>
        <p:spPr>
          <a:xfrm>
            <a:off x="502920" y="1234440"/>
            <a:ext cx="3931920" cy="475488"/>
          </a:xfrm>
          <a:prstGeom prst="roundRect">
            <a:avLst>
              <a:gd name="adj" fmla="val 19231"/>
            </a:avLst>
          </a:prstGeom>
          <a:solidFill>
            <a:srgbClr val="001E5A"/>
          </a:solidFill>
          <a:ln/>
        </p:spPr>
      </p:sp>
      <p:sp>
        <p:nvSpPr>
          <p:cNvPr id="7" name="Text 4"/>
          <p:cNvSpPr/>
          <p:nvPr/>
        </p:nvSpPr>
        <p:spPr>
          <a:xfrm>
            <a:off x="502920" y="1234440"/>
            <a:ext cx="39319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영웅문S# (키움 MTS) — 신규 메뉴로 내장</a:t>
            </a:r>
            <a:endParaRPr lang="en-US" sz="1200" dirty="0"/>
          </a:p>
        </p:txBody>
      </p:sp>
      <p:sp>
        <p:nvSpPr>
          <p:cNvPr id="8" name="Text 5"/>
          <p:cNvSpPr/>
          <p:nvPr/>
        </p:nvSpPr>
        <p:spPr>
          <a:xfrm>
            <a:off x="566928" y="1920240"/>
            <a:ext cx="3931920" cy="1920240"/>
          </a:xfrm>
          <a:prstGeom prst="rect">
            <a:avLst/>
          </a:prstGeom>
          <a:noFill/>
          <a:ln/>
        </p:spPr>
        <p:txBody>
          <a:bodyPr wrap="square" lIns="0" tIns="0" rIns="0" bIns="0" rtlCol="0" anchor="ctr"/>
          <a:lstStyle/>
          <a:p>
            <a:pPr marL="177800" indent="-177800">
              <a:spcAft>
                <a:spcPts val="8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한 가족 = 한 팀 · 부모와 자녀가 각자의 가상 지갑으로 투자</a:t>
            </a:r>
            <a:endParaRPr lang="en-US" sz="1100" dirty="0"/>
          </a:p>
          <a:p>
            <a:pPr marL="177800" indent="-177800">
              <a:spcAft>
                <a:spcPts val="8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1인당 가상 시드 100만원 동일 지급</a:t>
            </a:r>
            <a:endParaRPr lang="en-US" sz="1100" dirty="0"/>
          </a:p>
          <a:p>
            <a:pPr marL="177800" indent="-177800">
              <a:spcAft>
                <a:spcPts val="8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가족 성적 = 구성원 수익률 평균 → 가족별 경쟁</a:t>
            </a:r>
            <a:endParaRPr lang="en-US" sz="1100" dirty="0"/>
          </a:p>
          <a:p>
            <a:pPr marL="177800" indent="-177800">
              <a:spcAft>
                <a:spcPts val="8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시즌제 : 4주 × 연 4회 (분기) — 매 시즌 어닝시즌 경험</a:t>
            </a:r>
            <a:endParaRPr lang="en-US" sz="1100" dirty="0"/>
          </a:p>
          <a:p>
            <a:pPr marL="177800" indent="-177800">
              <a:spcAft>
                <a:spcPts val="8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참가 조건 : 자녀 명의 실계좌 (개설 → KPI 직결)</a:t>
            </a:r>
            <a:endParaRPr lang="en-US" sz="1100" dirty="0"/>
          </a:p>
        </p:txBody>
      </p:sp>
      <p:sp>
        <p:nvSpPr>
          <p:cNvPr id="9" name="Shape 6"/>
          <p:cNvSpPr/>
          <p:nvPr/>
        </p:nvSpPr>
        <p:spPr>
          <a:xfrm>
            <a:off x="4663440" y="1234440"/>
            <a:ext cx="3977640" cy="2697480"/>
          </a:xfrm>
          <a:prstGeom prst="roundRect">
            <a:avLst>
              <a:gd name="adj" fmla="val 4068"/>
            </a:avLst>
          </a:prstGeom>
          <a:solidFill>
            <a:srgbClr val="F4F6FB"/>
          </a:solidFill>
          <a:ln/>
        </p:spPr>
      </p:sp>
      <p:sp>
        <p:nvSpPr>
          <p:cNvPr id="10" name="Shape 7"/>
          <p:cNvSpPr/>
          <p:nvPr/>
        </p:nvSpPr>
        <p:spPr>
          <a:xfrm>
            <a:off x="4873752" y="1444752"/>
            <a:ext cx="475488" cy="475488"/>
          </a:xfrm>
          <a:prstGeom prst="ellipse">
            <a:avLst/>
          </a:prstGeom>
          <a:solidFill>
            <a:srgbClr val="001E5A"/>
          </a:solidFill>
          <a:ln/>
        </p:spPr>
      </p:sp>
      <p:pic>
        <p:nvPicPr>
          <p:cNvPr id="11" name="Image 0" descr="preencoded.png">    </p:cNvPr>
          <p:cNvPicPr>
            <a:picLocks noChangeAspect="1"/>
          </p:cNvPicPr>
          <p:nvPr/>
        </p:nvPicPr>
        <p:blipFill>
          <a:blip r:embed="rId1"/>
          <a:stretch>
            <a:fillRect/>
          </a:stretch>
        </p:blipFill>
        <p:spPr>
          <a:xfrm>
            <a:off x="5002134" y="1573134"/>
            <a:ext cx="218724" cy="218724"/>
          </a:xfrm>
          <a:prstGeom prst="rect">
            <a:avLst/>
          </a:prstGeom>
        </p:spPr>
      </p:pic>
      <p:sp>
        <p:nvSpPr>
          <p:cNvPr id="12" name="Text 8"/>
          <p:cNvSpPr/>
          <p:nvPr/>
        </p:nvSpPr>
        <p:spPr>
          <a:xfrm>
            <a:off x="5468112" y="1517904"/>
            <a:ext cx="3108960" cy="329184"/>
          </a:xfrm>
          <a:prstGeom prst="rect">
            <a:avLst/>
          </a:prstGeom>
          <a:noFill/>
          <a:ln/>
        </p:spPr>
        <p:txBody>
          <a:bodyPr wrap="square" lIns="0" tIns="0" rIns="0" bIns="0" rtlCol="0" anchor="ctr"/>
          <a:lstStyle/>
          <a:p>
            <a:pPr indent="0" marL="0">
              <a:buNone/>
            </a:pPr>
            <a:r>
              <a:rPr lang="en-US" sz="1300" b="1" dirty="0">
                <a:solidFill>
                  <a:srgbClr val="001E5A"/>
                </a:solidFill>
                <a:latin typeface="Malgun Gothic" pitchFamily="34" charset="0"/>
                <a:ea typeface="Malgun Gothic" pitchFamily="34" charset="-122"/>
                <a:cs typeface="Malgun Gothic" pitchFamily="34" charset="-120"/>
              </a:rPr>
              <a:t>'안전한 환경'의 실체 — 제한 모드</a:t>
            </a:r>
            <a:endParaRPr lang="en-US" sz="1300" dirty="0"/>
          </a:p>
        </p:txBody>
      </p:sp>
      <p:sp>
        <p:nvSpPr>
          <p:cNvPr id="13" name="Text 9"/>
          <p:cNvSpPr/>
          <p:nvPr/>
        </p:nvSpPr>
        <p:spPr>
          <a:xfrm>
            <a:off x="4956048" y="1956816"/>
            <a:ext cx="3520440" cy="1828800"/>
          </a:xfrm>
          <a:prstGeom prst="rect">
            <a:avLst/>
          </a:prstGeom>
          <a:noFill/>
          <a:ln/>
        </p:spPr>
        <p:txBody>
          <a:bodyPr wrap="square" lIns="0" tIns="0" rIns="0" bIns="0" rtlCol="0" anchor="ctr"/>
          <a:lstStyle/>
          <a:p>
            <a:pPr marL="152400" indent="-152400">
              <a:spcAft>
                <a:spcPts val="7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비교적 안전한 우량주 — 국내 기업 화이트리스트 50개만</a:t>
            </a:r>
            <a:endParaRPr lang="en-US" sz="1050" dirty="0"/>
          </a:p>
          <a:p>
            <a:pPr marL="152400" indent="-152400">
              <a:spcAft>
                <a:spcPts val="7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일반 현물 매매만 가능</a:t>
            </a:r>
            <a:endParaRPr lang="en-US" sz="1050" dirty="0"/>
          </a:p>
          <a:p>
            <a:pPr marL="152400" indent="-152400">
              <a:spcAft>
                <a:spcPts val="7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미수·신용·레버리지·파생 원천 배제</a:t>
            </a:r>
            <a:endParaRPr lang="en-US" sz="1050" dirty="0"/>
          </a:p>
          <a:p>
            <a:pPr marL="152400" indent="-152400">
              <a:spcAft>
                <a:spcPts val="7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단일종목 한도 프리셋 (몰빵 방지)</a:t>
            </a:r>
            <a:endParaRPr lang="en-US" sz="1050" dirty="0"/>
          </a:p>
          <a:p>
            <a:pPr marL="152400" indent="-152400">
              <a:spcAft>
                <a:spcPts val="700"/>
              </a:spcAft>
              <a:buSzPct val="100000"/>
              <a:buChar char="▪"/>
            </a:pPr>
            <a:r>
              <a:rPr lang="en-US" sz="1050" dirty="0">
                <a:solidFill>
                  <a:srgbClr val="1A1A2E"/>
                </a:solidFill>
                <a:latin typeface="Malgun Gothic" pitchFamily="34" charset="0"/>
                <a:ea typeface="Malgun Gothic" pitchFamily="34" charset="-122"/>
                <a:cs typeface="Malgun Gothic" pitchFamily="34" charset="-120"/>
              </a:rPr>
              <a:t>간결한 문구·간단한 화면 (호가창 없음)</a:t>
            </a:r>
            <a:endParaRPr lang="en-US" sz="1050" dirty="0"/>
          </a:p>
        </p:txBody>
      </p:sp>
      <p:sp>
        <p:nvSpPr>
          <p:cNvPr id="14" name="Shape 10"/>
          <p:cNvSpPr/>
          <p:nvPr/>
        </p:nvSpPr>
        <p:spPr>
          <a:xfrm>
            <a:off x="502920" y="4160520"/>
            <a:ext cx="8138160" cy="566928"/>
          </a:xfrm>
          <a:prstGeom prst="roundRect">
            <a:avLst>
              <a:gd name="adj" fmla="val 16129"/>
            </a:avLst>
          </a:prstGeom>
          <a:solidFill>
            <a:srgbClr val="001E5A"/>
          </a:solidFill>
          <a:ln/>
        </p:spPr>
      </p:sp>
      <p:sp>
        <p:nvSpPr>
          <p:cNvPr id="15" name="Text 11"/>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한 문장  </a:t>
            </a:r>
            <a:pPr indent="0" marL="0">
              <a:buNone/>
            </a:pPr>
            <a:r>
              <a:rPr lang="en-US" sz="1100" dirty="0">
                <a:solidFill>
                  <a:srgbClr val="FFFFFF"/>
                </a:solidFill>
                <a:latin typeface="Malgun Gothic" pitchFamily="34" charset="0"/>
                <a:ea typeface="Malgun Gothic" pitchFamily="34" charset="-122"/>
                <a:cs typeface="Malgun Gothic" pitchFamily="34" charset="-120"/>
              </a:rPr>
              <a:t>아이의 첫 투자, 가족이라는 가장 안전한 무대에서</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05 — 페르소나</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이 두 사람이 한 팀이 되는 순간, 서비스가 시작된다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05</a:t>
            </a:r>
            <a:endParaRPr lang="en-US" sz="1000" dirty="0"/>
          </a:p>
        </p:txBody>
      </p:sp>
      <p:sp>
        <p:nvSpPr>
          <p:cNvPr id="6" name="Shape 3"/>
          <p:cNvSpPr/>
          <p:nvPr/>
        </p:nvSpPr>
        <p:spPr>
          <a:xfrm>
            <a:off x="502920" y="1280160"/>
            <a:ext cx="3977640" cy="2606040"/>
          </a:xfrm>
          <a:prstGeom prst="roundRect">
            <a:avLst>
              <a:gd name="adj" fmla="val 4211"/>
            </a:avLst>
          </a:prstGeom>
          <a:solidFill>
            <a:srgbClr val="F4F6FB"/>
          </a:solidFill>
          <a:ln/>
          <a:effectLst>
            <a:outerShdw sx="100000" sy="100000" kx="0" ky="0" algn="bl" rotWithShape="0" blurRad="101600" dist="25400" dir="5400000">
              <a:srgbClr val="9AA6C0">
                <a:alpha val="25000"/>
              </a:srgbClr>
            </a:outerShdw>
          </a:effectLst>
        </p:spPr>
      </p:sp>
      <p:sp>
        <p:nvSpPr>
          <p:cNvPr id="7" name="Shape 4"/>
          <p:cNvSpPr/>
          <p:nvPr/>
        </p:nvSpPr>
        <p:spPr>
          <a:xfrm>
            <a:off x="777240" y="1536192"/>
            <a:ext cx="548640" cy="548640"/>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925373" y="1684325"/>
            <a:ext cx="252374" cy="252374"/>
          </a:xfrm>
          <a:prstGeom prst="rect">
            <a:avLst/>
          </a:prstGeom>
        </p:spPr>
      </p:pic>
      <p:sp>
        <p:nvSpPr>
          <p:cNvPr id="9" name="Text 5"/>
          <p:cNvSpPr/>
          <p:nvPr/>
        </p:nvSpPr>
        <p:spPr>
          <a:xfrm>
            <a:off x="1453896" y="1536192"/>
            <a:ext cx="2788920" cy="310896"/>
          </a:xfrm>
          <a:prstGeom prst="rect">
            <a:avLst/>
          </a:prstGeom>
          <a:noFill/>
          <a:ln/>
        </p:spPr>
        <p:txBody>
          <a:bodyPr wrap="square" lIns="0" tIns="0" rIns="0" bIns="0" rtlCol="0" anchor="ctr"/>
          <a:lstStyle/>
          <a:p>
            <a:pPr indent="0" marL="0">
              <a:buNone/>
            </a:pPr>
            <a:r>
              <a:rPr lang="en-US" sz="1500" b="1" dirty="0">
                <a:solidFill>
                  <a:srgbClr val="001E5A"/>
                </a:solidFill>
                <a:latin typeface="Malgun Gothic" pitchFamily="34" charset="0"/>
                <a:ea typeface="Malgun Gothic" pitchFamily="34" charset="-122"/>
                <a:cs typeface="Malgun Gothic" pitchFamily="34" charset="-120"/>
              </a:rPr>
              <a:t>부모 · 43세</a:t>
            </a:r>
            <a:endParaRPr lang="en-US" sz="1500" dirty="0"/>
          </a:p>
        </p:txBody>
      </p:sp>
      <p:sp>
        <p:nvSpPr>
          <p:cNvPr id="10" name="Text 6"/>
          <p:cNvSpPr/>
          <p:nvPr/>
        </p:nvSpPr>
        <p:spPr>
          <a:xfrm>
            <a:off x="1453896" y="1847088"/>
            <a:ext cx="2788920" cy="256032"/>
          </a:xfrm>
          <a:prstGeom prst="rect">
            <a:avLst/>
          </a:prstGeom>
          <a:noFill/>
          <a:ln/>
        </p:spPr>
        <p:txBody>
          <a:bodyPr wrap="square" lIns="0" tIns="0" rIns="0" bIns="0" rtlCol="0" anchor="ctr"/>
          <a:lstStyle/>
          <a:p>
            <a:pPr indent="0" marL="0">
              <a:buNone/>
            </a:pPr>
            <a:r>
              <a:rPr lang="en-US" sz="1050" b="1" dirty="0">
                <a:solidFill>
                  <a:srgbClr val="D70082"/>
                </a:solidFill>
                <a:latin typeface="Malgun Gothic" pitchFamily="34" charset="0"/>
                <a:ea typeface="Malgun Gothic" pitchFamily="34" charset="-122"/>
                <a:cs typeface="Malgun Gothic" pitchFamily="34" charset="-120"/>
              </a:rPr>
              <a:t>키움 고객 · 결정하는 사람</a:t>
            </a:r>
            <a:endParaRPr lang="en-US" sz="1050" dirty="0"/>
          </a:p>
        </p:txBody>
      </p:sp>
      <p:sp>
        <p:nvSpPr>
          <p:cNvPr id="11" name="Text 7"/>
          <p:cNvSpPr/>
          <p:nvPr/>
        </p:nvSpPr>
        <p:spPr>
          <a:xfrm>
            <a:off x="795528" y="2304288"/>
            <a:ext cx="3410712" cy="146304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키움증권 계좌 보유, 종종 주식 매매</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자녀가 안전한 플랫폼에서 미리 투자를 경험하길 원함</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경제 관념·투자 습관을 심어주고 싶지만 방법이 없음</a:t>
            </a:r>
            <a:endParaRPr lang="en-US" sz="1150" dirty="0"/>
          </a:p>
        </p:txBody>
      </p:sp>
      <p:sp>
        <p:nvSpPr>
          <p:cNvPr id="12" name="Shape 8"/>
          <p:cNvSpPr/>
          <p:nvPr/>
        </p:nvSpPr>
        <p:spPr>
          <a:xfrm>
            <a:off x="4663440" y="1280160"/>
            <a:ext cx="3977640" cy="2606040"/>
          </a:xfrm>
          <a:prstGeom prst="roundRect">
            <a:avLst>
              <a:gd name="adj" fmla="val 4211"/>
            </a:avLst>
          </a:prstGeom>
          <a:solidFill>
            <a:srgbClr val="F4F6FB"/>
          </a:solidFill>
          <a:ln/>
          <a:effectLst>
            <a:outerShdw sx="100000" sy="100000" kx="0" ky="0" algn="bl" rotWithShape="0" blurRad="101600" dist="25400" dir="5400000">
              <a:srgbClr val="9AA6C0">
                <a:alpha val="25000"/>
              </a:srgbClr>
            </a:outerShdw>
          </a:effectLst>
        </p:spPr>
      </p:sp>
      <p:sp>
        <p:nvSpPr>
          <p:cNvPr id="13" name="Shape 9"/>
          <p:cNvSpPr/>
          <p:nvPr/>
        </p:nvSpPr>
        <p:spPr>
          <a:xfrm>
            <a:off x="4937760" y="1536192"/>
            <a:ext cx="548640" cy="548640"/>
          </a:xfrm>
          <a:prstGeom prst="ellipse">
            <a:avLst/>
          </a:prstGeom>
          <a:solidFill>
            <a:srgbClr val="001E5A"/>
          </a:solidFill>
          <a:ln/>
        </p:spPr>
      </p:sp>
      <p:pic>
        <p:nvPicPr>
          <p:cNvPr id="14" name="Image 1" descr="preencoded.png">    </p:cNvPr>
          <p:cNvPicPr>
            <a:picLocks noChangeAspect="1"/>
          </p:cNvPicPr>
          <p:nvPr/>
        </p:nvPicPr>
        <p:blipFill>
          <a:blip r:embed="rId2"/>
          <a:stretch>
            <a:fillRect/>
          </a:stretch>
        </p:blipFill>
        <p:spPr>
          <a:xfrm>
            <a:off x="5085893" y="1684325"/>
            <a:ext cx="252374" cy="252374"/>
          </a:xfrm>
          <a:prstGeom prst="rect">
            <a:avLst/>
          </a:prstGeom>
        </p:spPr>
      </p:pic>
      <p:sp>
        <p:nvSpPr>
          <p:cNvPr id="15" name="Text 10"/>
          <p:cNvSpPr/>
          <p:nvPr/>
        </p:nvSpPr>
        <p:spPr>
          <a:xfrm>
            <a:off x="5614416" y="1536192"/>
            <a:ext cx="2788920" cy="310896"/>
          </a:xfrm>
          <a:prstGeom prst="rect">
            <a:avLst/>
          </a:prstGeom>
          <a:noFill/>
          <a:ln/>
        </p:spPr>
        <p:txBody>
          <a:bodyPr wrap="square" lIns="0" tIns="0" rIns="0" bIns="0" rtlCol="0" anchor="ctr"/>
          <a:lstStyle/>
          <a:p>
            <a:pPr indent="0" marL="0">
              <a:buNone/>
            </a:pPr>
            <a:r>
              <a:rPr lang="en-US" sz="1500" b="1" dirty="0">
                <a:solidFill>
                  <a:srgbClr val="001E5A"/>
                </a:solidFill>
                <a:latin typeface="Malgun Gothic" pitchFamily="34" charset="0"/>
                <a:ea typeface="Malgun Gothic" pitchFamily="34" charset="-122"/>
                <a:cs typeface="Malgun Gothic" pitchFamily="34" charset="-120"/>
              </a:rPr>
              <a:t>자녀 · 13세 (2014년생, 초6)</a:t>
            </a:r>
            <a:endParaRPr lang="en-US" sz="1500" dirty="0"/>
          </a:p>
        </p:txBody>
      </p:sp>
      <p:sp>
        <p:nvSpPr>
          <p:cNvPr id="16" name="Text 11"/>
          <p:cNvSpPr/>
          <p:nvPr/>
        </p:nvSpPr>
        <p:spPr>
          <a:xfrm>
            <a:off x="5614416" y="1847088"/>
            <a:ext cx="2788920" cy="256032"/>
          </a:xfrm>
          <a:prstGeom prst="rect">
            <a:avLst/>
          </a:prstGeom>
          <a:noFill/>
          <a:ln/>
        </p:spPr>
        <p:txBody>
          <a:bodyPr wrap="square" lIns="0" tIns="0" rIns="0" bIns="0" rtlCol="0" anchor="ctr"/>
          <a:lstStyle/>
          <a:p>
            <a:pPr indent="0" marL="0">
              <a:buNone/>
            </a:pPr>
            <a:r>
              <a:rPr lang="en-US" sz="1050" b="1" dirty="0">
                <a:solidFill>
                  <a:srgbClr val="D70082"/>
                </a:solidFill>
                <a:latin typeface="Malgun Gothic" pitchFamily="34" charset="0"/>
                <a:ea typeface="Malgun Gothic" pitchFamily="34" charset="-122"/>
                <a:cs typeface="Malgun Gothic" pitchFamily="34" charset="-120"/>
              </a:rPr>
              <a:t>핵심 사용자</a:t>
            </a:r>
            <a:endParaRPr lang="en-US" sz="1050" dirty="0"/>
          </a:p>
        </p:txBody>
      </p:sp>
      <p:sp>
        <p:nvSpPr>
          <p:cNvPr id="17" name="Text 12"/>
          <p:cNvSpPr/>
          <p:nvPr/>
        </p:nvSpPr>
        <p:spPr>
          <a:xfrm>
            <a:off x="4956048" y="2304288"/>
            <a:ext cx="3410712" cy="1463040"/>
          </a:xfrm>
          <a:prstGeom prst="rect">
            <a:avLst/>
          </a:prstGeom>
          <a:noFill/>
          <a:ln/>
        </p:spPr>
        <p:txBody>
          <a:bodyPr wrap="square" lIns="0" tIns="0" rIns="0" bIns="0" rtlCol="0" anchor="t"/>
          <a:lstStyle/>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부모와 함께 체험해보는 것을 좋아함</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경제·투자·주식이 뭔지 아직 잘 모르고 어려워함</a:t>
            </a:r>
            <a:endParaRPr lang="en-US" sz="1150" dirty="0"/>
          </a:p>
          <a:p>
            <a:pPr marL="177800" indent="-177800">
              <a:spcAft>
                <a:spcPts val="900"/>
              </a:spcAft>
              <a:buSzPct val="100000"/>
              <a:buChar char="—"/>
            </a:pPr>
            <a:r>
              <a:rPr lang="en-US" sz="1150" dirty="0">
                <a:solidFill>
                  <a:srgbClr val="1A1A2E"/>
                </a:solidFill>
                <a:latin typeface="Malgun Gothic" pitchFamily="34" charset="0"/>
                <a:ea typeface="Malgun Gothic" pitchFamily="34" charset="-122"/>
                <a:cs typeface="Malgun Gothic" pitchFamily="34" charset="-120"/>
              </a:rPr>
              <a:t>안전하게 직접 판단해볼 기회가 없음</a:t>
            </a:r>
            <a:endParaRPr lang="en-US" sz="1150" dirty="0"/>
          </a:p>
        </p:txBody>
      </p:sp>
      <p:sp>
        <p:nvSpPr>
          <p:cNvPr id="18" name="Shape 13"/>
          <p:cNvSpPr/>
          <p:nvPr/>
        </p:nvSpPr>
        <p:spPr>
          <a:xfrm>
            <a:off x="502920" y="4160520"/>
            <a:ext cx="8138160" cy="566928"/>
          </a:xfrm>
          <a:prstGeom prst="roundRect">
            <a:avLst>
              <a:gd name="adj" fmla="val 16129"/>
            </a:avLst>
          </a:prstGeom>
          <a:solidFill>
            <a:srgbClr val="FBEAF4"/>
          </a:solidFill>
          <a:ln w="15875">
            <a:solidFill>
              <a:srgbClr val="D70082"/>
            </a:solidFill>
            <a:prstDash val="solid"/>
          </a:ln>
        </p:spPr>
      </p:sp>
      <p:sp>
        <p:nvSpPr>
          <p:cNvPr id="19" name="Text 14"/>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D70082"/>
                </a:solidFill>
                <a:latin typeface="Malgun Gothic" pitchFamily="34" charset="0"/>
                <a:ea typeface="Malgun Gothic" pitchFamily="34" charset="-122"/>
                <a:cs typeface="Malgun Gothic" pitchFamily="34" charset="-120"/>
              </a:rPr>
              <a:t>이용 장면  </a:t>
            </a:r>
            <a:pPr indent="0" marL="0">
              <a:buNone/>
            </a:pPr>
            <a:r>
              <a:rPr lang="en-US" sz="1100" dirty="0">
                <a:solidFill>
                  <a:srgbClr val="1A1A2E"/>
                </a:solidFill>
                <a:latin typeface="Malgun Gothic" pitchFamily="34" charset="0"/>
                <a:ea typeface="Malgun Gothic" pitchFamily="34" charset="-122"/>
                <a:cs typeface="Malgun Gothic" pitchFamily="34" charset="-120"/>
              </a:rPr>
              <a:t>부모가 팀을 만들고 자녀를 초대 → 방과후·저녁, 각자 투자하고 결과로 대화가 시작된다</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06 — 핵심 기능 3가지</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경험하고 · 기록되고 · 도움받는다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06</a:t>
            </a:r>
            <a:endParaRPr lang="en-US" sz="1000" dirty="0"/>
          </a:p>
        </p:txBody>
      </p:sp>
      <p:sp>
        <p:nvSpPr>
          <p:cNvPr id="6" name="Shape 3"/>
          <p:cNvSpPr/>
          <p:nvPr/>
        </p:nvSpPr>
        <p:spPr>
          <a:xfrm>
            <a:off x="502920" y="1325880"/>
            <a:ext cx="2615184" cy="2606040"/>
          </a:xfrm>
          <a:prstGeom prst="roundRect">
            <a:avLst>
              <a:gd name="adj" fmla="val 4211"/>
            </a:avLst>
          </a:prstGeom>
          <a:solidFill>
            <a:srgbClr val="F4F6FB"/>
          </a:solidFill>
          <a:ln/>
          <a:effectLst>
            <a:outerShdw sx="100000" sy="100000" kx="0" ky="0" algn="bl" rotWithShape="0" blurRad="101600" dist="25400" dir="5400000">
              <a:srgbClr val="9AA6C0">
                <a:alpha val="25000"/>
              </a:srgbClr>
            </a:outerShdw>
          </a:effectLst>
        </p:spPr>
      </p:sp>
      <p:sp>
        <p:nvSpPr>
          <p:cNvPr id="7" name="Shape 4"/>
          <p:cNvSpPr/>
          <p:nvPr/>
        </p:nvSpPr>
        <p:spPr>
          <a:xfrm>
            <a:off x="1481328" y="1600200"/>
            <a:ext cx="658368" cy="658368"/>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1659087" y="1777959"/>
            <a:ext cx="302849" cy="302849"/>
          </a:xfrm>
          <a:prstGeom prst="rect">
            <a:avLst/>
          </a:prstGeom>
        </p:spPr>
      </p:pic>
      <p:sp>
        <p:nvSpPr>
          <p:cNvPr id="9" name="Text 5"/>
          <p:cNvSpPr/>
          <p:nvPr/>
        </p:nvSpPr>
        <p:spPr>
          <a:xfrm>
            <a:off x="685800" y="2423160"/>
            <a:ext cx="2249424" cy="347472"/>
          </a:xfrm>
          <a:prstGeom prst="rect">
            <a:avLst/>
          </a:prstGeom>
          <a:noFill/>
          <a:ln/>
        </p:spPr>
        <p:txBody>
          <a:bodyPr wrap="square" lIns="0" tIns="0" rIns="0" bIns="0" rtlCol="0" anchor="ctr"/>
          <a:lstStyle/>
          <a:p>
            <a:pPr algn="ctr" indent="0" marL="0">
              <a:buNone/>
            </a:pPr>
            <a:r>
              <a:rPr lang="en-US" sz="1450" b="1" dirty="0">
                <a:solidFill>
                  <a:srgbClr val="001E5A"/>
                </a:solidFill>
                <a:latin typeface="Malgun Gothic" pitchFamily="34" charset="0"/>
                <a:ea typeface="Malgun Gothic" pitchFamily="34" charset="-122"/>
                <a:cs typeface="Malgun Gothic" pitchFamily="34" charset="-120"/>
              </a:rPr>
              <a:t>① 모의투자</a:t>
            </a:r>
            <a:endParaRPr lang="en-US" sz="1450" dirty="0"/>
          </a:p>
        </p:txBody>
      </p:sp>
      <p:sp>
        <p:nvSpPr>
          <p:cNvPr id="10" name="Text 6"/>
          <p:cNvSpPr/>
          <p:nvPr/>
        </p:nvSpPr>
        <p:spPr>
          <a:xfrm>
            <a:off x="704088" y="2843784"/>
            <a:ext cx="2212848" cy="96012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질문식 매매 내장,</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우량주 50종 제한 모드의</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어린이 눈높이 모의투자</a:t>
            </a:r>
            <a:endParaRPr lang="en-US" sz="1050" dirty="0"/>
          </a:p>
        </p:txBody>
      </p:sp>
      <p:sp>
        <p:nvSpPr>
          <p:cNvPr id="11" name="Shape 7"/>
          <p:cNvSpPr/>
          <p:nvPr/>
        </p:nvSpPr>
        <p:spPr>
          <a:xfrm>
            <a:off x="3264408" y="1325880"/>
            <a:ext cx="2615184" cy="2606040"/>
          </a:xfrm>
          <a:prstGeom prst="roundRect">
            <a:avLst>
              <a:gd name="adj" fmla="val 4211"/>
            </a:avLst>
          </a:prstGeom>
          <a:solidFill>
            <a:srgbClr val="F4F6FB"/>
          </a:solidFill>
          <a:ln/>
          <a:effectLst>
            <a:outerShdw sx="100000" sy="100000" kx="0" ky="0" algn="bl" rotWithShape="0" blurRad="101600" dist="25400" dir="5400000">
              <a:srgbClr val="9AA6C0">
                <a:alpha val="25000"/>
              </a:srgbClr>
            </a:outerShdw>
          </a:effectLst>
        </p:spPr>
      </p:sp>
      <p:sp>
        <p:nvSpPr>
          <p:cNvPr id="12" name="Shape 8"/>
          <p:cNvSpPr/>
          <p:nvPr/>
        </p:nvSpPr>
        <p:spPr>
          <a:xfrm>
            <a:off x="4242816" y="1600200"/>
            <a:ext cx="658368" cy="658368"/>
          </a:xfrm>
          <a:prstGeom prst="ellipse">
            <a:avLst/>
          </a:prstGeom>
          <a:solidFill>
            <a:srgbClr val="D70082"/>
          </a:solidFill>
          <a:ln/>
        </p:spPr>
      </p:sp>
      <p:pic>
        <p:nvPicPr>
          <p:cNvPr id="13" name="Image 1" descr="preencoded.png">    </p:cNvPr>
          <p:cNvPicPr>
            <a:picLocks noChangeAspect="1"/>
          </p:cNvPicPr>
          <p:nvPr/>
        </p:nvPicPr>
        <p:blipFill>
          <a:blip r:embed="rId2"/>
          <a:stretch>
            <a:fillRect/>
          </a:stretch>
        </p:blipFill>
        <p:spPr>
          <a:xfrm>
            <a:off x="4420575" y="1777959"/>
            <a:ext cx="302849" cy="302849"/>
          </a:xfrm>
          <a:prstGeom prst="rect">
            <a:avLst/>
          </a:prstGeom>
        </p:spPr>
      </p:pic>
      <p:sp>
        <p:nvSpPr>
          <p:cNvPr id="14" name="Text 9"/>
          <p:cNvSpPr/>
          <p:nvPr/>
        </p:nvSpPr>
        <p:spPr>
          <a:xfrm>
            <a:off x="3447288" y="2423160"/>
            <a:ext cx="2249424" cy="347472"/>
          </a:xfrm>
          <a:prstGeom prst="rect">
            <a:avLst/>
          </a:prstGeom>
          <a:noFill/>
          <a:ln/>
        </p:spPr>
        <p:txBody>
          <a:bodyPr wrap="square" lIns="0" tIns="0" rIns="0" bIns="0" rtlCol="0" anchor="ctr"/>
          <a:lstStyle/>
          <a:p>
            <a:pPr algn="ctr" indent="0" marL="0">
              <a:buNone/>
            </a:pPr>
            <a:r>
              <a:rPr lang="en-US" sz="1450" b="1" dirty="0">
                <a:solidFill>
                  <a:srgbClr val="D70082"/>
                </a:solidFill>
                <a:latin typeface="Malgun Gothic" pitchFamily="34" charset="0"/>
                <a:ea typeface="Malgun Gothic" pitchFamily="34" charset="-122"/>
                <a:cs typeface="Malgun Gothic" pitchFamily="34" charset="-120"/>
              </a:rPr>
              <a:t>② 성장 아카이브</a:t>
            </a:r>
            <a:endParaRPr lang="en-US" sz="1450" dirty="0"/>
          </a:p>
        </p:txBody>
      </p:sp>
      <p:sp>
        <p:nvSpPr>
          <p:cNvPr id="15" name="Text 10"/>
          <p:cNvSpPr/>
          <p:nvPr/>
        </p:nvSpPr>
        <p:spPr>
          <a:xfrm>
            <a:off x="3465576" y="2843784"/>
            <a:ext cx="2212848" cy="96012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투자 행동을 AI가 분석,</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성향 기록과 스코어가</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발자취처럼 쌓인다</a:t>
            </a:r>
            <a:endParaRPr lang="en-US" sz="1050" dirty="0"/>
          </a:p>
        </p:txBody>
      </p:sp>
      <p:sp>
        <p:nvSpPr>
          <p:cNvPr id="16" name="Shape 11"/>
          <p:cNvSpPr/>
          <p:nvPr/>
        </p:nvSpPr>
        <p:spPr>
          <a:xfrm>
            <a:off x="6025896" y="1325880"/>
            <a:ext cx="2615184" cy="2606040"/>
          </a:xfrm>
          <a:prstGeom prst="roundRect">
            <a:avLst>
              <a:gd name="adj" fmla="val 4211"/>
            </a:avLst>
          </a:prstGeom>
          <a:solidFill>
            <a:srgbClr val="F4F6FB"/>
          </a:solidFill>
          <a:ln/>
          <a:effectLst>
            <a:outerShdw sx="100000" sy="100000" kx="0" ky="0" algn="bl" rotWithShape="0" blurRad="101600" dist="25400" dir="5400000">
              <a:srgbClr val="9AA6C0">
                <a:alpha val="25000"/>
              </a:srgbClr>
            </a:outerShdw>
          </a:effectLst>
        </p:spPr>
      </p:sp>
      <p:sp>
        <p:nvSpPr>
          <p:cNvPr id="17" name="Shape 12"/>
          <p:cNvSpPr/>
          <p:nvPr/>
        </p:nvSpPr>
        <p:spPr>
          <a:xfrm>
            <a:off x="7004304" y="1600200"/>
            <a:ext cx="658368" cy="658368"/>
          </a:xfrm>
          <a:prstGeom prst="ellipse">
            <a:avLst/>
          </a:prstGeom>
          <a:solidFill>
            <a:srgbClr val="001E5A"/>
          </a:solidFill>
          <a:ln/>
        </p:spPr>
      </p:sp>
      <p:pic>
        <p:nvPicPr>
          <p:cNvPr id="18" name="Image 2" descr="preencoded.png">    </p:cNvPr>
          <p:cNvPicPr>
            <a:picLocks noChangeAspect="1"/>
          </p:cNvPicPr>
          <p:nvPr/>
        </p:nvPicPr>
        <p:blipFill>
          <a:blip r:embed="rId3"/>
          <a:stretch>
            <a:fillRect/>
          </a:stretch>
        </p:blipFill>
        <p:spPr>
          <a:xfrm>
            <a:off x="7182063" y="1777959"/>
            <a:ext cx="302849" cy="302849"/>
          </a:xfrm>
          <a:prstGeom prst="rect">
            <a:avLst/>
          </a:prstGeom>
        </p:spPr>
      </p:pic>
      <p:sp>
        <p:nvSpPr>
          <p:cNvPr id="19" name="Text 13"/>
          <p:cNvSpPr/>
          <p:nvPr/>
        </p:nvSpPr>
        <p:spPr>
          <a:xfrm>
            <a:off x="6208776" y="2423160"/>
            <a:ext cx="2249424" cy="347472"/>
          </a:xfrm>
          <a:prstGeom prst="rect">
            <a:avLst/>
          </a:prstGeom>
          <a:noFill/>
          <a:ln/>
        </p:spPr>
        <p:txBody>
          <a:bodyPr wrap="square" lIns="0" tIns="0" rIns="0" bIns="0" rtlCol="0" anchor="ctr"/>
          <a:lstStyle/>
          <a:p>
            <a:pPr algn="ctr" indent="0" marL="0">
              <a:buNone/>
            </a:pPr>
            <a:r>
              <a:rPr lang="en-US" sz="1450" b="1" dirty="0">
                <a:solidFill>
                  <a:srgbClr val="001E5A"/>
                </a:solidFill>
                <a:latin typeface="Malgun Gothic" pitchFamily="34" charset="0"/>
                <a:ea typeface="Malgun Gothic" pitchFamily="34" charset="-122"/>
                <a:cs typeface="Malgun Gothic" pitchFamily="34" charset="-120"/>
              </a:rPr>
              <a:t>③ 도우미 챗봇 키웅이</a:t>
            </a:r>
            <a:endParaRPr lang="en-US" sz="1450" dirty="0"/>
          </a:p>
        </p:txBody>
      </p:sp>
      <p:sp>
        <p:nvSpPr>
          <p:cNvPr id="20" name="Text 14"/>
          <p:cNvSpPr/>
          <p:nvPr/>
        </p:nvSpPr>
        <p:spPr>
          <a:xfrm>
            <a:off x="6227064" y="2843784"/>
            <a:ext cx="2212848" cy="960120"/>
          </a:xfrm>
          <a:prstGeom prst="rect">
            <a:avLst/>
          </a:prstGeom>
          <a:noFill/>
          <a:ln/>
        </p:spPr>
        <p:txBody>
          <a:bodyPr wrap="square" lIns="0" tIns="0" rIns="0" bIns="0" rtlCol="0" anchor="ctr"/>
          <a:lstStyle/>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헤매면 먼저 말을 걸고,</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모르는 것을 아이 눈높이로</a:t>
            </a:r>
            <a:endParaRPr lang="en-US" sz="1050" dirty="0"/>
          </a:p>
          <a:p>
            <a:pPr algn="ct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알려주는 투자 도우미</a:t>
            </a:r>
            <a:endParaRPr lang="en-US" sz="1050" dirty="0"/>
          </a:p>
        </p:txBody>
      </p:sp>
      <p:sp>
        <p:nvSpPr>
          <p:cNvPr id="21" name="Text 15"/>
          <p:cNvSpPr/>
          <p:nvPr/>
        </p:nvSpPr>
        <p:spPr>
          <a:xfrm>
            <a:off x="502920" y="4160520"/>
            <a:ext cx="813816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 튜토리얼 모드 : 매수·매도·시장가·현재가·차트 등 기본 용어를 화면 위에서 직접 설명 (계좌 없이 개방)</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07 — 핵심기능 ① 모의투자</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주문 안에 '왜'가 내장된다 — 질문식 매매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07</a:t>
            </a:r>
            <a:endParaRPr lang="en-US" sz="1000" dirty="0"/>
          </a:p>
        </p:txBody>
      </p:sp>
      <p:sp>
        <p:nvSpPr>
          <p:cNvPr id="6" name="Shape 3"/>
          <p:cNvSpPr/>
          <p:nvPr/>
        </p:nvSpPr>
        <p:spPr>
          <a:xfrm>
            <a:off x="502920" y="1207008"/>
            <a:ext cx="3246120" cy="2697480"/>
          </a:xfrm>
          <a:prstGeom prst="roundRect">
            <a:avLst>
              <a:gd name="adj" fmla="val 4068"/>
            </a:avLst>
          </a:prstGeom>
          <a:solidFill>
            <a:srgbClr val="F4F6FB"/>
          </a:solidFill>
          <a:ln/>
        </p:spPr>
      </p:sp>
      <p:sp>
        <p:nvSpPr>
          <p:cNvPr id="7" name="Shape 4"/>
          <p:cNvSpPr/>
          <p:nvPr/>
        </p:nvSpPr>
        <p:spPr>
          <a:xfrm>
            <a:off x="713232" y="1389888"/>
            <a:ext cx="420624" cy="420624"/>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826800" y="1503456"/>
            <a:ext cx="193487" cy="193487"/>
          </a:xfrm>
          <a:prstGeom prst="rect">
            <a:avLst/>
          </a:prstGeom>
        </p:spPr>
      </p:pic>
      <p:sp>
        <p:nvSpPr>
          <p:cNvPr id="9" name="Text 5"/>
          <p:cNvSpPr/>
          <p:nvPr/>
        </p:nvSpPr>
        <p:spPr>
          <a:xfrm>
            <a:off x="1243584" y="1444752"/>
            <a:ext cx="2377440" cy="310896"/>
          </a:xfrm>
          <a:prstGeom prst="rect">
            <a:avLst/>
          </a:prstGeom>
          <a:noFill/>
          <a:ln/>
        </p:spPr>
        <p:txBody>
          <a:bodyPr wrap="square" lIns="0" tIns="0" rIns="0" bIns="0" rtlCol="0" anchor="ctr"/>
          <a:lstStyle/>
          <a:p>
            <a:pPr indent="0" marL="0">
              <a:buNone/>
            </a:pPr>
            <a:r>
              <a:rPr lang="en-US" sz="1300" b="1" dirty="0">
                <a:solidFill>
                  <a:srgbClr val="001E5A"/>
                </a:solidFill>
                <a:latin typeface="Malgun Gothic" pitchFamily="34" charset="0"/>
                <a:ea typeface="Malgun Gothic" pitchFamily="34" charset="-122"/>
                <a:cs typeface="Malgun Gothic" pitchFamily="34" charset="-120"/>
              </a:rPr>
              <a:t>안전한 제한 모드</a:t>
            </a:r>
            <a:endParaRPr lang="en-US" sz="1300" dirty="0"/>
          </a:p>
        </p:txBody>
      </p:sp>
      <p:sp>
        <p:nvSpPr>
          <p:cNvPr id="10" name="Text 6"/>
          <p:cNvSpPr/>
          <p:nvPr/>
        </p:nvSpPr>
        <p:spPr>
          <a:xfrm>
            <a:off x="749808" y="1865376"/>
            <a:ext cx="2834640" cy="1920240"/>
          </a:xfrm>
          <a:prstGeom prst="rect">
            <a:avLst/>
          </a:prstGeom>
          <a:noFill/>
          <a:ln/>
        </p:spPr>
        <p:txBody>
          <a:bodyPr wrap="square" lIns="0" tIns="0" rIns="0" bIns="0" rtlCol="0" anchor="ctr"/>
          <a:lstStyle/>
          <a:p>
            <a:pPr marL="152400" indent="-152400">
              <a:spcAft>
                <a:spcPts val="7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국내 우량 기업 화이트리스트 50개만</a:t>
            </a:r>
            <a:endParaRPr lang="en-US" sz="1000" dirty="0"/>
          </a:p>
          <a:p>
            <a:pPr marL="152400" indent="-152400">
              <a:spcAft>
                <a:spcPts val="7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일반 현물 매매만 (미수·신용·파생 없음)</a:t>
            </a:r>
            <a:endParaRPr lang="en-US" sz="1000" dirty="0"/>
          </a:p>
          <a:p>
            <a:pPr marL="152400" indent="-152400">
              <a:spcAft>
                <a:spcPts val="7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호가창 없는 간결 화면 · 쉬운 문구</a:t>
            </a:r>
            <a:endParaRPr lang="en-US" sz="1000" dirty="0"/>
          </a:p>
          <a:p>
            <a:pPr marL="152400" indent="-152400">
              <a:spcAft>
                <a:spcPts val="7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금액 단위 주문 (수량 자동 계산)</a:t>
            </a:r>
            <a:endParaRPr lang="en-US" sz="1000" dirty="0"/>
          </a:p>
          <a:p>
            <a:pPr marL="152400" indent="-152400">
              <a:spcAft>
                <a:spcPts val="700"/>
              </a:spcAft>
              <a:buSzPct val="100000"/>
              <a:buChar char="▪"/>
            </a:pPr>
            <a:r>
              <a:rPr lang="en-US" sz="1000" dirty="0">
                <a:solidFill>
                  <a:srgbClr val="1A1A2E"/>
                </a:solidFill>
                <a:latin typeface="Malgun Gothic" pitchFamily="34" charset="0"/>
                <a:ea typeface="Malgun Gothic" pitchFamily="34" charset="-122"/>
                <a:cs typeface="Malgun Gothic" pitchFamily="34" charset="-120"/>
              </a:rPr>
              <a:t>키움 REST API 시세 [확인 중]</a:t>
            </a:r>
            <a:endParaRPr lang="en-US" sz="1000" dirty="0"/>
          </a:p>
        </p:txBody>
      </p:sp>
      <p:sp>
        <p:nvSpPr>
          <p:cNvPr id="11" name="Shape 7"/>
          <p:cNvSpPr/>
          <p:nvPr/>
        </p:nvSpPr>
        <p:spPr>
          <a:xfrm>
            <a:off x="3931920" y="1207008"/>
            <a:ext cx="4709160" cy="2697480"/>
          </a:xfrm>
          <a:prstGeom prst="roundRect">
            <a:avLst>
              <a:gd name="adj" fmla="val 4068"/>
            </a:avLst>
          </a:prstGeom>
          <a:solidFill>
            <a:srgbClr val="FBEAF4"/>
          </a:solidFill>
          <a:ln w="19050">
            <a:solidFill>
              <a:srgbClr val="D70082"/>
            </a:solidFill>
            <a:prstDash val="solid"/>
          </a:ln>
        </p:spPr>
      </p:sp>
      <p:sp>
        <p:nvSpPr>
          <p:cNvPr id="12" name="Shape 8"/>
          <p:cNvSpPr/>
          <p:nvPr/>
        </p:nvSpPr>
        <p:spPr>
          <a:xfrm>
            <a:off x="4142232" y="1389888"/>
            <a:ext cx="420624" cy="420624"/>
          </a:xfrm>
          <a:prstGeom prst="ellipse">
            <a:avLst/>
          </a:prstGeom>
          <a:solidFill>
            <a:srgbClr val="D70082"/>
          </a:solidFill>
          <a:ln/>
        </p:spPr>
      </p:sp>
      <p:pic>
        <p:nvPicPr>
          <p:cNvPr id="13" name="Image 1" descr="preencoded.png">    </p:cNvPr>
          <p:cNvPicPr>
            <a:picLocks noChangeAspect="1"/>
          </p:cNvPicPr>
          <p:nvPr/>
        </p:nvPicPr>
        <p:blipFill>
          <a:blip r:embed="rId2"/>
          <a:stretch>
            <a:fillRect/>
          </a:stretch>
        </p:blipFill>
        <p:spPr>
          <a:xfrm>
            <a:off x="4255800" y="1503456"/>
            <a:ext cx="193487" cy="193487"/>
          </a:xfrm>
          <a:prstGeom prst="rect">
            <a:avLst/>
          </a:prstGeom>
        </p:spPr>
      </p:pic>
      <p:sp>
        <p:nvSpPr>
          <p:cNvPr id="14" name="Text 9"/>
          <p:cNvSpPr/>
          <p:nvPr/>
        </p:nvSpPr>
        <p:spPr>
          <a:xfrm>
            <a:off x="4672584" y="1444752"/>
            <a:ext cx="3840480" cy="310896"/>
          </a:xfrm>
          <a:prstGeom prst="rect">
            <a:avLst/>
          </a:prstGeom>
          <a:noFill/>
          <a:ln/>
        </p:spPr>
        <p:txBody>
          <a:bodyPr wrap="square" lIns="0" tIns="0" rIns="0" bIns="0" rtlCol="0" anchor="ctr"/>
          <a:lstStyle/>
          <a:p>
            <a:pPr indent="0" marL="0">
              <a:buNone/>
            </a:pPr>
            <a:r>
              <a:rPr lang="en-US" sz="1300" b="1" dirty="0">
                <a:solidFill>
                  <a:srgbClr val="D70082"/>
                </a:solidFill>
                <a:latin typeface="Malgun Gothic" pitchFamily="34" charset="0"/>
                <a:ea typeface="Malgun Gothic" pitchFamily="34" charset="-122"/>
                <a:cs typeface="Malgun Gothic" pitchFamily="34" charset="-120"/>
              </a:rPr>
              <a:t>질문식 매매 — 주문마다 생각을 기록</a:t>
            </a:r>
            <a:endParaRPr lang="en-US" sz="1300" dirty="0"/>
          </a:p>
        </p:txBody>
      </p:sp>
      <p:sp>
        <p:nvSpPr>
          <p:cNvPr id="15" name="Text 10"/>
          <p:cNvSpPr/>
          <p:nvPr/>
        </p:nvSpPr>
        <p:spPr>
          <a:xfrm>
            <a:off x="4206240" y="1883664"/>
            <a:ext cx="4206240" cy="621792"/>
          </a:xfrm>
          <a:prstGeom prst="rect">
            <a:avLst/>
          </a:prstGeom>
          <a:noFill/>
          <a:ln/>
        </p:spPr>
        <p:txBody>
          <a:bodyPr wrap="square" lIns="0" tIns="0" rIns="0" bIns="0" rtlCol="0" anchor="t"/>
          <a:lstStyle/>
          <a:p>
            <a:pPr indent="0" marL="0">
              <a:lnSpc>
                <a:spcPct val="112000"/>
              </a:lnSpc>
              <a:buNone/>
            </a:pPr>
            <a:r>
              <a:rPr lang="en-US" sz="1100" b="1" dirty="0">
                <a:solidFill>
                  <a:srgbClr val="001E5A"/>
                </a:solidFill>
                <a:latin typeface="Malgun Gothic" pitchFamily="34" charset="0"/>
                <a:ea typeface="Malgun Gothic" pitchFamily="34" charset="-122"/>
                <a:cs typeface="Malgun Gothic" pitchFamily="34" charset="-120"/>
              </a:rPr>
              <a:t>🛒 살 때  </a:t>
            </a:r>
            <a:pPr indent="0" marL="0">
              <a:lnSpc>
                <a:spcPct val="112000"/>
              </a:lnSpc>
              <a:buNone/>
            </a:pPr>
            <a:r>
              <a:rPr lang="en-US" sz="1050" dirty="0">
                <a:solidFill>
                  <a:srgbClr val="1A1A2E"/>
                </a:solidFill>
                <a:latin typeface="Malgun Gothic" pitchFamily="34" charset="0"/>
                <a:ea typeface="Malgun Gothic" pitchFamily="34" charset="-122"/>
                <a:cs typeface="Malgun Gothic" pitchFamily="34" charset="-120"/>
              </a:rPr>
              <a:t>“왜 사고 싶어?” 버튼 선택 (뉴스·그래프·아는 회사·인기 순위·친구·그냥) → 확신도 슬라이더 → 보유 계획</a:t>
            </a:r>
            <a:endParaRPr lang="en-US" sz="1100" dirty="0"/>
          </a:p>
        </p:txBody>
      </p:sp>
      <p:sp>
        <p:nvSpPr>
          <p:cNvPr id="16" name="Text 11"/>
          <p:cNvSpPr/>
          <p:nvPr/>
        </p:nvSpPr>
        <p:spPr>
          <a:xfrm>
            <a:off x="4206240" y="2542032"/>
            <a:ext cx="4206240" cy="621792"/>
          </a:xfrm>
          <a:prstGeom prst="rect">
            <a:avLst/>
          </a:prstGeom>
          <a:noFill/>
          <a:ln/>
        </p:spPr>
        <p:txBody>
          <a:bodyPr wrap="square" lIns="0" tIns="0" rIns="0" bIns="0" rtlCol="0" anchor="t"/>
          <a:lstStyle/>
          <a:p>
            <a:pPr indent="0" marL="0">
              <a:lnSpc>
                <a:spcPct val="112000"/>
              </a:lnSpc>
              <a:buNone/>
            </a:pPr>
            <a:r>
              <a:rPr lang="en-US" sz="1100" b="1" dirty="0">
                <a:solidFill>
                  <a:srgbClr val="001E5A"/>
                </a:solidFill>
                <a:latin typeface="Malgun Gothic" pitchFamily="34" charset="0"/>
                <a:ea typeface="Malgun Gothic" pitchFamily="34" charset="-122"/>
                <a:cs typeface="Malgun Gothic" pitchFamily="34" charset="-120"/>
              </a:rPr>
              <a:t>💰 팔 때  </a:t>
            </a:r>
            <a:pPr indent="0" marL="0">
              <a:lnSpc>
                <a:spcPct val="112000"/>
              </a:lnSpc>
              <a:buNone/>
            </a:pPr>
            <a:r>
              <a:rPr lang="en-US" sz="1050" dirty="0">
                <a:solidFill>
                  <a:srgbClr val="1A1A2E"/>
                </a:solidFill>
                <a:latin typeface="Malgun Gothic" pitchFamily="34" charset="0"/>
                <a:ea typeface="Malgun Gothic" pitchFamily="34" charset="-122"/>
                <a:cs typeface="Malgun Gothic" pitchFamily="34" charset="-120"/>
              </a:rPr>
              <a:t>'사던 날의 나' 카드로 그때의 생각을 다시 만남 → 매도 이유 선택</a:t>
            </a:r>
            <a:endParaRPr lang="en-US" sz="1100" dirty="0"/>
          </a:p>
        </p:txBody>
      </p:sp>
      <p:sp>
        <p:nvSpPr>
          <p:cNvPr id="17" name="Text 12"/>
          <p:cNvSpPr/>
          <p:nvPr/>
        </p:nvSpPr>
        <p:spPr>
          <a:xfrm>
            <a:off x="4206240" y="3200400"/>
            <a:ext cx="4206240" cy="621792"/>
          </a:xfrm>
          <a:prstGeom prst="rect">
            <a:avLst/>
          </a:prstGeom>
          <a:noFill/>
          <a:ln/>
        </p:spPr>
        <p:txBody>
          <a:bodyPr wrap="square" lIns="0" tIns="0" rIns="0" bIns="0" rtlCol="0" anchor="t"/>
          <a:lstStyle/>
          <a:p>
            <a:pPr indent="0" marL="0">
              <a:lnSpc>
                <a:spcPct val="112000"/>
              </a:lnSpc>
              <a:buNone/>
            </a:pPr>
            <a:r>
              <a:rPr lang="en-US" sz="1100" b="1" dirty="0">
                <a:solidFill>
                  <a:srgbClr val="001E5A"/>
                </a:solidFill>
                <a:latin typeface="Malgun Gothic" pitchFamily="34" charset="0"/>
                <a:ea typeface="Malgun Gothic" pitchFamily="34" charset="-122"/>
                <a:cs typeface="Malgun Gothic" pitchFamily="34" charset="-120"/>
              </a:rPr>
              <a:t>🔀 계획과 다르면  </a:t>
            </a:r>
            <a:pPr indent="0" marL="0">
              <a:lnSpc>
                <a:spcPct val="112000"/>
              </a:lnSpc>
              <a:buNone/>
            </a:pPr>
            <a:r>
              <a:rPr lang="en-US" sz="1050" dirty="0">
                <a:solidFill>
                  <a:srgbClr val="1A1A2E"/>
                </a:solidFill>
                <a:latin typeface="Malgun Gothic" pitchFamily="34" charset="0"/>
                <a:ea typeface="Malgun Gothic" pitchFamily="34" charset="-122"/>
                <a:cs typeface="Malgun Gothic" pitchFamily="34" charset="-120"/>
              </a:rPr>
              <a:t>“뭐가 달라졌어?” 한 번 더 질문 · 계획대로면 🏅 실천 배지</a:t>
            </a:r>
            <a:endParaRPr lang="en-US" sz="1100" dirty="0"/>
          </a:p>
        </p:txBody>
      </p:sp>
      <p:sp>
        <p:nvSpPr>
          <p:cNvPr id="18" name="Shape 13"/>
          <p:cNvSpPr/>
          <p:nvPr/>
        </p:nvSpPr>
        <p:spPr>
          <a:xfrm>
            <a:off x="502920" y="4160520"/>
            <a:ext cx="8138160" cy="566928"/>
          </a:xfrm>
          <a:prstGeom prst="roundRect">
            <a:avLst>
              <a:gd name="adj" fmla="val 16129"/>
            </a:avLst>
          </a:prstGeom>
          <a:solidFill>
            <a:srgbClr val="001E5A"/>
          </a:solidFill>
          <a:ln/>
        </p:spPr>
      </p:sp>
      <p:sp>
        <p:nvSpPr>
          <p:cNvPr id="19" name="Text 14"/>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효과  </a:t>
            </a:r>
            <a:pPr indent="0" marL="0">
              <a:buNone/>
            </a:pPr>
            <a:r>
              <a:rPr lang="en-US" sz="1100" dirty="0">
                <a:solidFill>
                  <a:srgbClr val="FFFFFF"/>
                </a:solidFill>
                <a:latin typeface="Malgun Gothic" pitchFamily="34" charset="0"/>
                <a:ea typeface="Malgun Gothic" pitchFamily="34" charset="-122"/>
                <a:cs typeface="Malgun Gothic" pitchFamily="34" charset="-120"/>
              </a:rPr>
              <a:t>주식 주문에 의사결정 습관이 생기고, 아이가 자기 생각을 되돌아보며 학습한다</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08 — 핵심기능 ② 성장 아카이브</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기록이 발자취가 되고, 발자취가 성장 스토리가 된다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08</a:t>
            </a:r>
            <a:endParaRPr lang="en-US" sz="1000" dirty="0"/>
          </a:p>
        </p:txBody>
      </p:sp>
      <p:sp>
        <p:nvSpPr>
          <p:cNvPr id="6" name="Shape 3"/>
          <p:cNvSpPr/>
          <p:nvPr/>
        </p:nvSpPr>
        <p:spPr>
          <a:xfrm>
            <a:off x="502920" y="1207008"/>
            <a:ext cx="4023360" cy="1737360"/>
          </a:xfrm>
          <a:prstGeom prst="roundRect">
            <a:avLst>
              <a:gd name="adj" fmla="val 6316"/>
            </a:avLst>
          </a:prstGeom>
          <a:solidFill>
            <a:srgbClr val="F4F6FB"/>
          </a:solidFill>
          <a:ln/>
        </p:spPr>
      </p:sp>
      <p:sp>
        <p:nvSpPr>
          <p:cNvPr id="7" name="Shape 4"/>
          <p:cNvSpPr/>
          <p:nvPr/>
        </p:nvSpPr>
        <p:spPr>
          <a:xfrm>
            <a:off x="713232" y="1371600"/>
            <a:ext cx="402336" cy="402336"/>
          </a:xfrm>
          <a:prstGeom prst="ellipse">
            <a:avLst/>
          </a:prstGeom>
          <a:solidFill>
            <a:srgbClr val="001E5A"/>
          </a:solidFill>
          <a:ln/>
        </p:spPr>
      </p:sp>
      <p:pic>
        <p:nvPicPr>
          <p:cNvPr id="8" name="Image 0" descr="preencoded.png">    </p:cNvPr>
          <p:cNvPicPr>
            <a:picLocks noChangeAspect="1"/>
          </p:cNvPicPr>
          <p:nvPr/>
        </p:nvPicPr>
        <p:blipFill>
          <a:blip r:embed="rId1"/>
          <a:stretch>
            <a:fillRect/>
          </a:stretch>
        </p:blipFill>
        <p:spPr>
          <a:xfrm>
            <a:off x="821863" y="1480231"/>
            <a:ext cx="185075" cy="185075"/>
          </a:xfrm>
          <a:prstGeom prst="rect">
            <a:avLst/>
          </a:prstGeom>
        </p:spPr>
      </p:pic>
      <p:sp>
        <p:nvSpPr>
          <p:cNvPr id="9" name="Text 5"/>
          <p:cNvSpPr/>
          <p:nvPr/>
        </p:nvSpPr>
        <p:spPr>
          <a:xfrm>
            <a:off x="1225296" y="1417320"/>
            <a:ext cx="3108960" cy="292608"/>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투자 성향 AI 분석 기록</a:t>
            </a:r>
            <a:endParaRPr lang="en-US" sz="1250" dirty="0"/>
          </a:p>
        </p:txBody>
      </p:sp>
      <p:sp>
        <p:nvSpPr>
          <p:cNvPr id="10" name="Text 6"/>
          <p:cNvSpPr/>
          <p:nvPr/>
        </p:nvSpPr>
        <p:spPr>
          <a:xfrm>
            <a:off x="777240" y="1783080"/>
            <a:ext cx="3520440" cy="1051560"/>
          </a:xfrm>
          <a:prstGeom prst="rect">
            <a:avLst/>
          </a:prstGeom>
          <a:noFill/>
          <a:ln/>
        </p:spPr>
        <p:txBody>
          <a:bodyPr wrap="square" lIns="0" tIns="0" rIns="0" bIns="0" rtlCol="0" anchor="ctr"/>
          <a:lstStyle/>
          <a:p>
            <a:pPr indent="0" marL="0">
              <a:lnSpc>
                <a:spcPct val="118000"/>
              </a:lnSpc>
              <a:buNone/>
            </a:pPr>
            <a:r>
              <a:rPr lang="en-US" sz="1050" dirty="0">
                <a:solidFill>
                  <a:srgbClr val="1A1A2E"/>
                </a:solidFill>
                <a:latin typeface="Malgun Gothic" pitchFamily="34" charset="0"/>
                <a:ea typeface="Malgun Gothic" pitchFamily="34" charset="-122"/>
                <a:cs typeface="Malgun Gothic" pitchFamily="34" charset="-120"/>
              </a:rPr>
              <a:t>질문식 매매 응답 + 매매 로그를 회차 종료마다 AI가 분석.</a:t>
            </a:r>
            <a:endParaRPr lang="en-US" sz="1050" dirty="0"/>
          </a:p>
          <a:p>
            <a:pPr indent="0" marL="0">
              <a:lnSpc>
                <a:spcPct val="118000"/>
              </a:lnSpc>
              <a:buNone/>
            </a:pPr>
            <a:r>
              <a:rPr lang="en-US" sz="1050" dirty="0">
                <a:solidFill>
                  <a:srgbClr val="6B7280"/>
                </a:solidFill>
                <a:latin typeface="Malgun Gothic" pitchFamily="34" charset="0"/>
                <a:ea typeface="Malgun Gothic" pitchFamily="34" charset="-122"/>
                <a:cs typeface="Malgun Gothic" pitchFamily="34" charset="-120"/>
              </a:rPr>
              <a:t>아이에게는 우열 없는 성향 5축 '스타일'로 — “재빨리 개척자형” (채점·낙인 없음)</a:t>
            </a:r>
            <a:endParaRPr lang="en-US" sz="1050" dirty="0"/>
          </a:p>
        </p:txBody>
      </p:sp>
      <p:sp>
        <p:nvSpPr>
          <p:cNvPr id="11" name="Shape 7"/>
          <p:cNvSpPr/>
          <p:nvPr/>
        </p:nvSpPr>
        <p:spPr>
          <a:xfrm>
            <a:off x="4663440" y="1207008"/>
            <a:ext cx="3977640" cy="1737360"/>
          </a:xfrm>
          <a:prstGeom prst="roundRect">
            <a:avLst>
              <a:gd name="adj" fmla="val 6316"/>
            </a:avLst>
          </a:prstGeom>
          <a:solidFill>
            <a:srgbClr val="FBEAF4"/>
          </a:solidFill>
          <a:ln/>
        </p:spPr>
      </p:sp>
      <p:sp>
        <p:nvSpPr>
          <p:cNvPr id="12" name="Shape 8"/>
          <p:cNvSpPr/>
          <p:nvPr/>
        </p:nvSpPr>
        <p:spPr>
          <a:xfrm>
            <a:off x="4873752" y="1371600"/>
            <a:ext cx="402336" cy="402336"/>
          </a:xfrm>
          <a:prstGeom prst="ellipse">
            <a:avLst/>
          </a:prstGeom>
          <a:solidFill>
            <a:srgbClr val="D70082"/>
          </a:solidFill>
          <a:ln/>
        </p:spPr>
      </p:sp>
      <p:pic>
        <p:nvPicPr>
          <p:cNvPr id="13" name="Image 1" descr="preencoded.png">    </p:cNvPr>
          <p:cNvPicPr>
            <a:picLocks noChangeAspect="1"/>
          </p:cNvPicPr>
          <p:nvPr/>
        </p:nvPicPr>
        <p:blipFill>
          <a:blip r:embed="rId2"/>
          <a:stretch>
            <a:fillRect/>
          </a:stretch>
        </p:blipFill>
        <p:spPr>
          <a:xfrm>
            <a:off x="4982383" y="1480231"/>
            <a:ext cx="185075" cy="185075"/>
          </a:xfrm>
          <a:prstGeom prst="rect">
            <a:avLst/>
          </a:prstGeom>
        </p:spPr>
      </p:pic>
      <p:sp>
        <p:nvSpPr>
          <p:cNvPr id="14" name="Text 9"/>
          <p:cNvSpPr/>
          <p:nvPr/>
        </p:nvSpPr>
        <p:spPr>
          <a:xfrm>
            <a:off x="5385816" y="1417320"/>
            <a:ext cx="3200400" cy="292608"/>
          </a:xfrm>
          <a:prstGeom prst="rect">
            <a:avLst/>
          </a:prstGeom>
          <a:noFill/>
          <a:ln/>
        </p:spPr>
        <p:txBody>
          <a:bodyPr wrap="square" lIns="0" tIns="0" rIns="0" bIns="0" rtlCol="0" anchor="ctr"/>
          <a:lstStyle/>
          <a:p>
            <a:pPr indent="0" marL="0">
              <a:buNone/>
            </a:pPr>
            <a:r>
              <a:rPr lang="en-US" sz="1250" b="1" dirty="0">
                <a:solidFill>
                  <a:srgbClr val="D70082"/>
                </a:solidFill>
                <a:latin typeface="Malgun Gothic" pitchFamily="34" charset="0"/>
                <a:ea typeface="Malgun Gothic" pitchFamily="34" charset="-122"/>
                <a:cs typeface="Malgun Gothic" pitchFamily="34" charset="-120"/>
              </a:rPr>
              <a:t>투자 친화도 스코어 (행동 데이터 기반)</a:t>
            </a:r>
            <a:endParaRPr lang="en-US" sz="1250" dirty="0"/>
          </a:p>
        </p:txBody>
      </p:sp>
      <p:sp>
        <p:nvSpPr>
          <p:cNvPr id="15" name="Text 10"/>
          <p:cNvSpPr/>
          <p:nvPr/>
        </p:nvSpPr>
        <p:spPr>
          <a:xfrm>
            <a:off x="4937760" y="1783080"/>
            <a:ext cx="3474720" cy="1051560"/>
          </a:xfrm>
          <a:prstGeom prst="rect">
            <a:avLst/>
          </a:prstGeom>
          <a:noFill/>
          <a:ln/>
        </p:spPr>
        <p:txBody>
          <a:bodyPr wrap="square" lIns="0" tIns="0" rIns="0" bIns="0" rtlCol="0" anchor="ctr"/>
          <a:lstStyle/>
          <a:p>
            <a:pPr indent="0" marL="0">
              <a:lnSpc>
                <a:spcPct val="120000"/>
              </a:lnSpc>
              <a:buNone/>
            </a:pPr>
            <a:r>
              <a:rPr lang="en-US" sz="1050" b="1" dirty="0">
                <a:solidFill>
                  <a:srgbClr val="6B7280"/>
                </a:solidFill>
                <a:latin typeface="Malgun Gothic" pitchFamily="34" charset="0"/>
                <a:ea typeface="Malgun Gothic" pitchFamily="34" charset="-122"/>
                <a:cs typeface="Malgun Gothic" pitchFamily="34" charset="-120"/>
              </a:rPr>
              <a:t>1회차 : </a:t>
            </a:r>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“기업 이름·로고만 보고 골랐어요”</a:t>
            </a:r>
            <a:endParaRPr lang="en-US" sz="1050" dirty="0"/>
          </a:p>
          <a:p>
            <a:pPr indent="0" marL="0">
              <a:lnSpc>
                <a:spcPct val="120000"/>
              </a:lnSpc>
              <a:buNone/>
            </a:pPr>
            <a:r>
              <a:rPr lang="en-US" sz="1050" b="1" dirty="0">
                <a:solidFill>
                  <a:srgbClr val="D70082"/>
                </a:solidFill>
                <a:latin typeface="Malgun Gothic" pitchFamily="34" charset="0"/>
                <a:ea typeface="Malgun Gothic" pitchFamily="34" charset="-122"/>
                <a:cs typeface="Malgun Gothic" pitchFamily="34" charset="-120"/>
              </a:rPr>
              <a:t>4회차 : </a:t>
            </a:r>
            <a:pPr indent="0" marL="0">
              <a:lnSpc>
                <a:spcPct val="120000"/>
              </a:lnSpc>
              <a:buNone/>
            </a:pPr>
            <a:r>
              <a:rPr lang="en-US" sz="1050" b="1" dirty="0">
                <a:solidFill>
                  <a:srgbClr val="1A1A2E"/>
                </a:solidFill>
                <a:latin typeface="Malgun Gothic" pitchFamily="34" charset="0"/>
                <a:ea typeface="Malgun Gothic" pitchFamily="34" charset="-122"/>
                <a:cs typeface="Malgun Gothic" pitchFamily="34" charset="-120"/>
              </a:rPr>
              <a:t>“뉴스·기업 설명을 보고 골라요”</a:t>
            </a:r>
            <a:endParaRPr lang="en-US" sz="1050" dirty="0"/>
          </a:p>
          <a:p>
            <a:pPr indent="0" marL="0">
              <a:lnSpc>
                <a:spcPct val="120000"/>
              </a:lnSpc>
              <a:buNone/>
            </a:pPr>
            <a:r>
              <a:rPr lang="en-US" sz="1000" dirty="0">
                <a:solidFill>
                  <a:srgbClr val="6B7280"/>
                </a:solidFill>
                <a:latin typeface="Malgun Gothic" pitchFamily="34" charset="0"/>
                <a:ea typeface="Malgun Gothic" pitchFamily="34" charset="-122"/>
                <a:cs typeface="Malgun Gothic" pitchFamily="34" charset="-120"/>
              </a:rPr>
              <a:t>이런 변화를 스코어로 측정 — 이용 전후 상승을 보여주는 것이 목표</a:t>
            </a:r>
            <a:endParaRPr lang="en-US" sz="1050" dirty="0"/>
          </a:p>
        </p:txBody>
      </p:sp>
      <p:sp>
        <p:nvSpPr>
          <p:cNvPr id="16" name="Shape 11"/>
          <p:cNvSpPr/>
          <p:nvPr/>
        </p:nvSpPr>
        <p:spPr>
          <a:xfrm>
            <a:off x="502920" y="3108960"/>
            <a:ext cx="8138160" cy="868680"/>
          </a:xfrm>
          <a:prstGeom prst="roundRect">
            <a:avLst>
              <a:gd name="adj" fmla="val 12632"/>
            </a:avLst>
          </a:prstGeom>
          <a:solidFill>
            <a:srgbClr val="F4F6FB"/>
          </a:solidFill>
          <a:ln/>
        </p:spPr>
      </p:sp>
      <p:sp>
        <p:nvSpPr>
          <p:cNvPr id="17" name="Shape 12"/>
          <p:cNvSpPr/>
          <p:nvPr/>
        </p:nvSpPr>
        <p:spPr>
          <a:xfrm>
            <a:off x="713232" y="3273552"/>
            <a:ext cx="457200" cy="457200"/>
          </a:xfrm>
          <a:prstGeom prst="ellipse">
            <a:avLst/>
          </a:prstGeom>
          <a:solidFill>
            <a:srgbClr val="001E5A"/>
          </a:solidFill>
          <a:ln/>
        </p:spPr>
      </p:sp>
      <p:pic>
        <p:nvPicPr>
          <p:cNvPr id="18" name="Image 2" descr="preencoded.png">    </p:cNvPr>
          <p:cNvPicPr>
            <a:picLocks noChangeAspect="1"/>
          </p:cNvPicPr>
          <p:nvPr/>
        </p:nvPicPr>
        <p:blipFill>
          <a:blip r:embed="rId3"/>
          <a:stretch>
            <a:fillRect/>
          </a:stretch>
        </p:blipFill>
        <p:spPr>
          <a:xfrm>
            <a:off x="836676" y="3396996"/>
            <a:ext cx="210312" cy="210312"/>
          </a:xfrm>
          <a:prstGeom prst="rect">
            <a:avLst/>
          </a:prstGeom>
        </p:spPr>
      </p:pic>
      <p:sp>
        <p:nvSpPr>
          <p:cNvPr id="19" name="Text 13"/>
          <p:cNvSpPr/>
          <p:nvPr/>
        </p:nvSpPr>
        <p:spPr>
          <a:xfrm>
            <a:off x="1325880" y="3108960"/>
            <a:ext cx="7178040" cy="868680"/>
          </a:xfrm>
          <a:prstGeom prst="rect">
            <a:avLst/>
          </a:prstGeom>
          <a:noFill/>
          <a:ln/>
        </p:spPr>
        <p:txBody>
          <a:bodyPr wrap="square" lIns="0" tIns="0" rIns="0" bIns="0" rtlCol="0" anchor="ctr"/>
          <a:lstStyle/>
          <a:p>
            <a:pPr indent="0" marL="0">
              <a:lnSpc>
                <a:spcPct val="115000"/>
              </a:lnSpc>
              <a:buNone/>
            </a:pPr>
            <a:r>
              <a:rPr lang="en-US" sz="1200" b="1" dirty="0">
                <a:solidFill>
                  <a:srgbClr val="001E5A"/>
                </a:solidFill>
                <a:latin typeface="Malgun Gothic" pitchFamily="34" charset="0"/>
                <a:ea typeface="Malgun Gothic" pitchFamily="34" charset="-122"/>
                <a:cs typeface="Malgun Gothic" pitchFamily="34" charset="-120"/>
              </a:rPr>
              <a:t>n회차 참여할수록 기록이 발자취처럼 쌓인다  </a:t>
            </a:r>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 1회차의 나 → 3회차의 나 → 1년 뒤의 나. 다른 앱이 복사할 수 없는 우리 가족의 성장 스토리</a:t>
            </a:r>
            <a:endParaRPr lang="en-US" sz="1200" dirty="0"/>
          </a:p>
        </p:txBody>
      </p:sp>
      <p:sp>
        <p:nvSpPr>
          <p:cNvPr id="20" name="Shape 14"/>
          <p:cNvSpPr/>
          <p:nvPr/>
        </p:nvSpPr>
        <p:spPr>
          <a:xfrm>
            <a:off x="502920" y="4160520"/>
            <a:ext cx="8138160" cy="566928"/>
          </a:xfrm>
          <a:prstGeom prst="roundRect">
            <a:avLst>
              <a:gd name="adj" fmla="val 16129"/>
            </a:avLst>
          </a:prstGeom>
          <a:solidFill>
            <a:srgbClr val="001E5A"/>
          </a:solidFill>
          <a:ln/>
        </p:spPr>
      </p:sp>
      <p:sp>
        <p:nvSpPr>
          <p:cNvPr id="21" name="Text 15"/>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신뢰  </a:t>
            </a:r>
            <a:pPr indent="0" marL="0">
              <a:buNone/>
            </a:pPr>
            <a:r>
              <a:rPr lang="en-US" sz="1100" dirty="0">
                <a:solidFill>
                  <a:srgbClr val="FFFFFF"/>
                </a:solidFill>
                <a:latin typeface="Malgun Gothic" pitchFamily="34" charset="0"/>
                <a:ea typeface="Malgun Gothic" pitchFamily="34" charset="-122"/>
                <a:cs typeface="Malgun Gothic" pitchFamily="34" charset="-120"/>
              </a:rPr>
              <a:t>수치는 룰 기반 엔진이 계산, AI는 서술만 — 숫자를 지어낼 수 없는 구조 · 스코어 수치는 아이에게 비노출</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09 — 핵심기능 ③ 도우미 챗봇 '키웅이'</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묻기 전에 먼저 다가오는 투자 도우미</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09</a:t>
            </a:r>
            <a:endParaRPr lang="en-US" sz="1000" dirty="0"/>
          </a:p>
        </p:txBody>
      </p:sp>
      <p:sp>
        <p:nvSpPr>
          <p:cNvPr id="6" name="Shape 3"/>
          <p:cNvSpPr/>
          <p:nvPr/>
        </p:nvSpPr>
        <p:spPr>
          <a:xfrm>
            <a:off x="502920" y="1207008"/>
            <a:ext cx="4023360" cy="2697480"/>
          </a:xfrm>
          <a:prstGeom prst="roundRect">
            <a:avLst>
              <a:gd name="adj" fmla="val 4068"/>
            </a:avLst>
          </a:prstGeom>
          <a:solidFill>
            <a:srgbClr val="F4F6FB"/>
          </a:solidFill>
          <a:ln/>
        </p:spPr>
      </p:sp>
      <p:sp>
        <p:nvSpPr>
          <p:cNvPr id="7" name="Text 4"/>
          <p:cNvSpPr/>
          <p:nvPr/>
        </p:nvSpPr>
        <p:spPr>
          <a:xfrm>
            <a:off x="777240" y="1371600"/>
            <a:ext cx="3566160" cy="292608"/>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① 먼저 말을 건다</a:t>
            </a:r>
            <a:endParaRPr lang="en-US" sz="1250" dirty="0"/>
          </a:p>
        </p:txBody>
      </p:sp>
      <p:sp>
        <p:nvSpPr>
          <p:cNvPr id="8" name="Text 5"/>
          <p:cNvSpPr/>
          <p:nvPr/>
        </p:nvSpPr>
        <p:spPr>
          <a:xfrm>
            <a:off x="777240" y="1700784"/>
            <a:ext cx="3520440" cy="45720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한 화면에서 5분 이상 그대로 머무는 등, 정해둔 규칙 데이터가 감지되면 —</a:t>
            </a:r>
            <a:endParaRPr lang="en-US" sz="1050" dirty="0"/>
          </a:p>
        </p:txBody>
      </p:sp>
      <p:sp>
        <p:nvSpPr>
          <p:cNvPr id="9" name="Shape 6"/>
          <p:cNvSpPr/>
          <p:nvPr/>
        </p:nvSpPr>
        <p:spPr>
          <a:xfrm>
            <a:off x="868680" y="2286000"/>
            <a:ext cx="402336" cy="402336"/>
          </a:xfrm>
          <a:prstGeom prst="ellipse">
            <a:avLst/>
          </a:prstGeom>
          <a:solidFill>
            <a:srgbClr val="D70082"/>
          </a:solidFill>
          <a:ln/>
        </p:spPr>
      </p:sp>
      <p:pic>
        <p:nvPicPr>
          <p:cNvPr id="10" name="Image 0" descr="preencoded.png">    </p:cNvPr>
          <p:cNvPicPr>
            <a:picLocks noChangeAspect="1"/>
          </p:cNvPicPr>
          <p:nvPr/>
        </p:nvPicPr>
        <p:blipFill>
          <a:blip r:embed="rId1"/>
          <a:stretch>
            <a:fillRect/>
          </a:stretch>
        </p:blipFill>
        <p:spPr>
          <a:xfrm>
            <a:off x="977311" y="2394631"/>
            <a:ext cx="185075" cy="185075"/>
          </a:xfrm>
          <a:prstGeom prst="rect">
            <a:avLst/>
          </a:prstGeom>
        </p:spPr>
      </p:pic>
      <p:sp>
        <p:nvSpPr>
          <p:cNvPr id="11" name="Shape 7"/>
          <p:cNvSpPr/>
          <p:nvPr/>
        </p:nvSpPr>
        <p:spPr>
          <a:xfrm>
            <a:off x="1371600" y="2267712"/>
            <a:ext cx="2194560" cy="438912"/>
          </a:xfrm>
          <a:prstGeom prst="roundRect">
            <a:avLst>
              <a:gd name="adj" fmla="val 41667"/>
            </a:avLst>
          </a:prstGeom>
          <a:solidFill>
            <a:srgbClr val="FFFFFF"/>
          </a:solidFill>
          <a:ln w="15875">
            <a:solidFill>
              <a:srgbClr val="D70082"/>
            </a:solidFill>
            <a:prstDash val="solid"/>
          </a:ln>
        </p:spPr>
      </p:sp>
      <p:sp>
        <p:nvSpPr>
          <p:cNvPr id="12" name="Text 8"/>
          <p:cNvSpPr/>
          <p:nvPr/>
        </p:nvSpPr>
        <p:spPr>
          <a:xfrm>
            <a:off x="1371600" y="2267712"/>
            <a:ext cx="2194560" cy="438912"/>
          </a:xfrm>
          <a:prstGeom prst="rect">
            <a:avLst/>
          </a:prstGeom>
          <a:noFill/>
          <a:ln/>
        </p:spPr>
        <p:txBody>
          <a:bodyPr wrap="square" lIns="0" tIns="0" rIns="0" bIns="0" rtlCol="0" anchor="ctr"/>
          <a:lstStyle/>
          <a:p>
            <a:pPr algn="ctr" indent="0" marL="0">
              <a:buNone/>
            </a:pPr>
            <a:r>
              <a:rPr lang="en-US" sz="1100" b="1" dirty="0">
                <a:solidFill>
                  <a:srgbClr val="D70082"/>
                </a:solidFill>
                <a:latin typeface="Malgun Gothic" pitchFamily="34" charset="0"/>
                <a:ea typeface="Malgun Gothic" pitchFamily="34" charset="-122"/>
                <a:cs typeface="Malgun Gothic" pitchFamily="34" charset="-120"/>
              </a:rPr>
              <a:t>“고민이 있나요?” 🐻</a:t>
            </a:r>
            <a:endParaRPr lang="en-US" sz="1100" dirty="0"/>
          </a:p>
        </p:txBody>
      </p:sp>
      <p:sp>
        <p:nvSpPr>
          <p:cNvPr id="13" name="Text 9"/>
          <p:cNvSpPr/>
          <p:nvPr/>
        </p:nvSpPr>
        <p:spPr>
          <a:xfrm>
            <a:off x="777240" y="2880360"/>
            <a:ext cx="3520440" cy="868680"/>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플로팅 버튼이 말풍선을 띄우며 먼저 다가온다</a:t>
            </a:r>
            <a:endParaRPr lang="en-US" sz="1000" dirty="0"/>
          </a:p>
          <a:p>
            <a:pPr indent="0" marL="0">
              <a:lnSpc>
                <a:spcPct val="115000"/>
              </a:lnSpc>
              <a:buNone/>
            </a:pPr>
            <a:r>
              <a:rPr lang="en-US" sz="1000" dirty="0">
                <a:solidFill>
                  <a:srgbClr val="6B7280"/>
                </a:solidFill>
                <a:latin typeface="Malgun Gothic" pitchFamily="34" charset="0"/>
                <a:ea typeface="Malgun Gothic" pitchFamily="34" charset="-122"/>
                <a:cs typeface="Malgun Gothic" pitchFamily="34" charset="-120"/>
              </a:rPr>
              <a:t>(발화 제한 규칙으로 간섭 방지 — 3분 간격 · 세션 2회)</a:t>
            </a:r>
            <a:endParaRPr lang="en-US" sz="1000" dirty="0"/>
          </a:p>
        </p:txBody>
      </p:sp>
      <p:sp>
        <p:nvSpPr>
          <p:cNvPr id="14" name="Shape 10"/>
          <p:cNvSpPr/>
          <p:nvPr/>
        </p:nvSpPr>
        <p:spPr>
          <a:xfrm>
            <a:off x="4663440" y="1207008"/>
            <a:ext cx="3977640" cy="2697480"/>
          </a:xfrm>
          <a:prstGeom prst="roundRect">
            <a:avLst>
              <a:gd name="adj" fmla="val 4068"/>
            </a:avLst>
          </a:prstGeom>
          <a:solidFill>
            <a:srgbClr val="F4F6FB"/>
          </a:solidFill>
          <a:ln/>
        </p:spPr>
      </p:sp>
      <p:sp>
        <p:nvSpPr>
          <p:cNvPr id="15" name="Text 11"/>
          <p:cNvSpPr/>
          <p:nvPr/>
        </p:nvSpPr>
        <p:spPr>
          <a:xfrm>
            <a:off x="4937760" y="1371600"/>
            <a:ext cx="3520440" cy="292608"/>
          </a:xfrm>
          <a:prstGeom prst="rect">
            <a:avLst/>
          </a:prstGeom>
          <a:noFill/>
          <a:ln/>
        </p:spPr>
        <p:txBody>
          <a:bodyPr wrap="square" lIns="0" tIns="0" rIns="0" bIns="0" rtlCol="0" anchor="ctr"/>
          <a:lstStyle/>
          <a:p>
            <a:pPr indent="0" marL="0">
              <a:buNone/>
            </a:pPr>
            <a:r>
              <a:rPr lang="en-US" sz="1250" b="1" dirty="0">
                <a:solidFill>
                  <a:srgbClr val="001E5A"/>
                </a:solidFill>
                <a:latin typeface="Malgun Gothic" pitchFamily="34" charset="0"/>
                <a:ea typeface="Malgun Gothic" pitchFamily="34" charset="-122"/>
                <a:cs typeface="Malgun Gothic" pitchFamily="34" charset="-120"/>
              </a:rPr>
              <a:t>② 아이 눈높이로 알려준다</a:t>
            </a:r>
            <a:endParaRPr lang="en-US" sz="1250" dirty="0"/>
          </a:p>
        </p:txBody>
      </p:sp>
      <p:sp>
        <p:nvSpPr>
          <p:cNvPr id="16" name="Shape 12"/>
          <p:cNvSpPr/>
          <p:nvPr/>
        </p:nvSpPr>
        <p:spPr>
          <a:xfrm>
            <a:off x="6035040" y="1755648"/>
            <a:ext cx="2331720" cy="384048"/>
          </a:xfrm>
          <a:prstGeom prst="roundRect">
            <a:avLst>
              <a:gd name="adj" fmla="val 42857"/>
            </a:avLst>
          </a:prstGeom>
          <a:solidFill>
            <a:srgbClr val="001E5A"/>
          </a:solidFill>
          <a:ln/>
        </p:spPr>
      </p:sp>
      <p:sp>
        <p:nvSpPr>
          <p:cNvPr id="17" name="Text 13"/>
          <p:cNvSpPr/>
          <p:nvPr/>
        </p:nvSpPr>
        <p:spPr>
          <a:xfrm>
            <a:off x="6035040" y="1755648"/>
            <a:ext cx="233172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“금리 인상이 뭐야?”</a:t>
            </a:r>
            <a:endParaRPr lang="en-US" sz="1050" dirty="0"/>
          </a:p>
        </p:txBody>
      </p:sp>
      <p:sp>
        <p:nvSpPr>
          <p:cNvPr id="18" name="Shape 14"/>
          <p:cNvSpPr/>
          <p:nvPr/>
        </p:nvSpPr>
        <p:spPr>
          <a:xfrm>
            <a:off x="4937760" y="2249424"/>
            <a:ext cx="2651760" cy="384048"/>
          </a:xfrm>
          <a:prstGeom prst="roundRect">
            <a:avLst>
              <a:gd name="adj" fmla="val 42857"/>
            </a:avLst>
          </a:prstGeom>
          <a:solidFill>
            <a:srgbClr val="001E5A"/>
          </a:solidFill>
          <a:ln/>
        </p:spPr>
      </p:sp>
      <p:sp>
        <p:nvSpPr>
          <p:cNvPr id="19" name="Text 15"/>
          <p:cNvSpPr/>
          <p:nvPr/>
        </p:nvSpPr>
        <p:spPr>
          <a:xfrm>
            <a:off x="4937760" y="2249424"/>
            <a:ext cx="2651760" cy="384048"/>
          </a:xfrm>
          <a:prstGeom prst="rect">
            <a:avLst/>
          </a:prstGeom>
          <a:noFill/>
          <a:ln/>
        </p:spPr>
        <p:txBody>
          <a:bodyPr wrap="square" lIns="0" tIns="0" rIns="0" bIns="0" rtlCol="0" anchor="ctr"/>
          <a:lstStyle/>
          <a:p>
            <a:pPr algn="ctr" indent="0" marL="0">
              <a:buNone/>
            </a:pPr>
            <a:r>
              <a:rPr lang="en-US" sz="1050" dirty="0">
                <a:solidFill>
                  <a:srgbClr val="FFFFFF"/>
                </a:solidFill>
                <a:latin typeface="Malgun Gothic" pitchFamily="34" charset="0"/>
                <a:ea typeface="Malgun Gothic" pitchFamily="34" charset="-122"/>
                <a:cs typeface="Malgun Gothic" pitchFamily="34" charset="-120"/>
              </a:rPr>
              <a:t>“삼성전자 관련 뉴스 있어?”</a:t>
            </a:r>
            <a:endParaRPr lang="en-US" sz="1050" dirty="0"/>
          </a:p>
        </p:txBody>
      </p:sp>
      <p:sp>
        <p:nvSpPr>
          <p:cNvPr id="20" name="Text 16"/>
          <p:cNvSpPr/>
          <p:nvPr/>
        </p:nvSpPr>
        <p:spPr>
          <a:xfrm>
            <a:off x="4937760" y="2788920"/>
            <a:ext cx="3520440" cy="685800"/>
          </a:xfrm>
          <a:prstGeom prst="rect">
            <a:avLst/>
          </a:prstGeom>
          <a:noFill/>
          <a:ln/>
        </p:spPr>
        <p:txBody>
          <a:bodyPr wrap="square" lIns="0" tIns="0" rIns="0" bIns="0" rtlCol="0" anchor="ctr"/>
          <a:lstStyle/>
          <a:p>
            <a:pPr indent="0" marL="0">
              <a:lnSpc>
                <a:spcPct val="118000"/>
              </a:lnSpc>
              <a:buNone/>
            </a:pPr>
            <a:r>
              <a:rPr lang="en-US" sz="1050" dirty="0">
                <a:solidFill>
                  <a:srgbClr val="6B7280"/>
                </a:solidFill>
                <a:latin typeface="Malgun Gothic" pitchFamily="34" charset="0"/>
                <a:ea typeface="Malgun Gothic" pitchFamily="34" charset="-122"/>
                <a:cs typeface="Malgun Gothic" pitchFamily="34" charset="-120"/>
              </a:rPr>
              <a:t>“삼성전자 오를까?” → </a:t>
            </a:r>
            <a:pPr indent="0" marL="0">
              <a:lnSpc>
                <a:spcPct val="118000"/>
              </a:lnSpc>
              <a:buNone/>
            </a:pPr>
            <a:r>
              <a:rPr lang="en-US" sz="1050" b="1" dirty="0">
                <a:solidFill>
                  <a:srgbClr val="1A1A2E"/>
                </a:solidFill>
                <a:latin typeface="Malgun Gothic" pitchFamily="34" charset="0"/>
                <a:ea typeface="Malgun Gothic" pitchFamily="34" charset="-122"/>
                <a:cs typeface="Malgun Gothic" pitchFamily="34" charset="-120"/>
              </a:rPr>
              <a:t>“그 부분은 내가 대답할 수 없어. 다만 최근 소식을 알려줄게!”</a:t>
            </a:r>
            <a:endParaRPr lang="en-US" sz="1050" dirty="0"/>
          </a:p>
        </p:txBody>
      </p:sp>
      <p:sp>
        <p:nvSpPr>
          <p:cNvPr id="21" name="Text 17"/>
          <p:cNvSpPr/>
          <p:nvPr/>
        </p:nvSpPr>
        <p:spPr>
          <a:xfrm>
            <a:off x="4937760" y="3520440"/>
            <a:ext cx="3520440" cy="274320"/>
          </a:xfrm>
          <a:prstGeom prst="rect">
            <a:avLst/>
          </a:prstGeom>
          <a:noFill/>
          <a:ln/>
        </p:spPr>
        <p:txBody>
          <a:bodyPr wrap="square" lIns="0" tIns="0" rIns="0" bIns="0" rtlCol="0" anchor="ctr"/>
          <a:lstStyle/>
          <a:p>
            <a:pPr indent="0" marL="0">
              <a:buNone/>
            </a:pPr>
            <a:r>
              <a:rPr lang="en-US" sz="950" dirty="0">
                <a:solidFill>
                  <a:srgbClr val="6B7280"/>
                </a:solidFill>
                <a:latin typeface="Malgun Gothic" pitchFamily="34" charset="0"/>
                <a:ea typeface="Malgun Gothic" pitchFamily="34" charset="-122"/>
                <a:cs typeface="Malgun Gothic" pitchFamily="34" charset="-120"/>
              </a:rPr>
              <a:t>어린이 눈높이 설명 · 시황은 사실 정보만</a:t>
            </a:r>
            <a:endParaRPr lang="en-US" sz="950" dirty="0"/>
          </a:p>
        </p:txBody>
      </p:sp>
      <p:sp>
        <p:nvSpPr>
          <p:cNvPr id="22" name="Shape 18"/>
          <p:cNvSpPr/>
          <p:nvPr/>
        </p:nvSpPr>
        <p:spPr>
          <a:xfrm>
            <a:off x="502920" y="4160520"/>
            <a:ext cx="8138160" cy="566928"/>
          </a:xfrm>
          <a:prstGeom prst="roundRect">
            <a:avLst>
              <a:gd name="adj" fmla="val 16129"/>
            </a:avLst>
          </a:prstGeom>
          <a:solidFill>
            <a:srgbClr val="FBEAF4"/>
          </a:solidFill>
          <a:ln w="15875">
            <a:solidFill>
              <a:srgbClr val="D70082"/>
            </a:solidFill>
            <a:prstDash val="solid"/>
          </a:ln>
        </p:spPr>
      </p:sp>
      <p:sp>
        <p:nvSpPr>
          <p:cNvPr id="23" name="Text 19"/>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D70082"/>
                </a:solidFill>
                <a:latin typeface="Malgun Gothic" pitchFamily="34" charset="0"/>
                <a:ea typeface="Malgun Gothic" pitchFamily="34" charset="-122"/>
                <a:cs typeface="Malgun Gothic" pitchFamily="34" charset="-120"/>
              </a:rPr>
              <a:t>절대 금지  </a:t>
            </a:r>
            <a:pPr indent="0" marL="0">
              <a:buNone/>
            </a:pPr>
            <a:r>
              <a:rPr lang="en-US" sz="1100" dirty="0">
                <a:solidFill>
                  <a:srgbClr val="1A1A2E"/>
                </a:solidFill>
                <a:latin typeface="Malgun Gothic" pitchFamily="34" charset="0"/>
                <a:ea typeface="Malgun Gothic" pitchFamily="34" charset="-122"/>
                <a:cs typeface="Malgun Gothic" pitchFamily="34" charset="-120"/>
              </a:rPr>
              <a:t>주가 예측 · 매매 판단 답변 금지 — 교육 원칙이자 투자권유 규제의 방어 장치</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10 — 서비스 기대효과</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확인할 수 있는 효용만 약속한다</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10</a:t>
            </a:r>
            <a:endParaRPr lang="en-US" sz="1000" dirty="0"/>
          </a:p>
        </p:txBody>
      </p:sp>
      <p:sp>
        <p:nvSpPr>
          <p:cNvPr id="6" name="Shape 3"/>
          <p:cNvSpPr/>
          <p:nvPr/>
        </p:nvSpPr>
        <p:spPr>
          <a:xfrm>
            <a:off x="502920" y="1234440"/>
            <a:ext cx="3977640" cy="2606040"/>
          </a:xfrm>
          <a:prstGeom prst="roundRect">
            <a:avLst>
              <a:gd name="adj" fmla="val 4211"/>
            </a:avLst>
          </a:prstGeom>
          <a:solidFill>
            <a:srgbClr val="FBEAF4"/>
          </a:solidFill>
          <a:ln/>
        </p:spPr>
      </p:sp>
      <p:sp>
        <p:nvSpPr>
          <p:cNvPr id="7" name="Shape 4"/>
          <p:cNvSpPr/>
          <p:nvPr/>
        </p:nvSpPr>
        <p:spPr>
          <a:xfrm>
            <a:off x="758952" y="1444752"/>
            <a:ext cx="457200" cy="457200"/>
          </a:xfrm>
          <a:prstGeom prst="ellipse">
            <a:avLst/>
          </a:prstGeom>
          <a:solidFill>
            <a:srgbClr val="D70082"/>
          </a:solidFill>
          <a:ln/>
        </p:spPr>
      </p:sp>
      <p:pic>
        <p:nvPicPr>
          <p:cNvPr id="8" name="Image 0" descr="preencoded.png">    </p:cNvPr>
          <p:cNvPicPr>
            <a:picLocks noChangeAspect="1"/>
          </p:cNvPicPr>
          <p:nvPr/>
        </p:nvPicPr>
        <p:blipFill>
          <a:blip r:embed="rId1"/>
          <a:stretch>
            <a:fillRect/>
          </a:stretch>
        </p:blipFill>
        <p:spPr>
          <a:xfrm>
            <a:off x="882396" y="1568196"/>
            <a:ext cx="210312" cy="210312"/>
          </a:xfrm>
          <a:prstGeom prst="rect">
            <a:avLst/>
          </a:prstGeom>
        </p:spPr>
      </p:pic>
      <p:sp>
        <p:nvSpPr>
          <p:cNvPr id="9" name="Text 5"/>
          <p:cNvSpPr/>
          <p:nvPr/>
        </p:nvSpPr>
        <p:spPr>
          <a:xfrm>
            <a:off x="1344168" y="1517904"/>
            <a:ext cx="2926080" cy="329184"/>
          </a:xfrm>
          <a:prstGeom prst="rect">
            <a:avLst/>
          </a:prstGeom>
          <a:noFill/>
          <a:ln/>
        </p:spPr>
        <p:txBody>
          <a:bodyPr wrap="square" lIns="0" tIns="0" rIns="0" bIns="0" rtlCol="0" anchor="ctr"/>
          <a:lstStyle/>
          <a:p>
            <a:pPr indent="0" marL="0">
              <a:buNone/>
            </a:pPr>
            <a:r>
              <a:rPr lang="en-US" sz="1400" b="1" dirty="0">
                <a:solidFill>
                  <a:srgbClr val="D70082"/>
                </a:solidFill>
                <a:latin typeface="Malgun Gothic" pitchFamily="34" charset="0"/>
                <a:ea typeface="Malgun Gothic" pitchFamily="34" charset="-122"/>
                <a:cs typeface="Malgun Gothic" pitchFamily="34" charset="-120"/>
              </a:rPr>
              <a:t>사용자 측면</a:t>
            </a:r>
            <a:endParaRPr lang="en-US" sz="1400" dirty="0"/>
          </a:p>
        </p:txBody>
      </p:sp>
      <p:sp>
        <p:nvSpPr>
          <p:cNvPr id="10" name="Text 6"/>
          <p:cNvSpPr/>
          <p:nvPr/>
        </p:nvSpPr>
        <p:spPr>
          <a:xfrm>
            <a:off x="777240" y="2048256"/>
            <a:ext cx="3429000" cy="1691640"/>
          </a:xfrm>
          <a:prstGeom prst="rect">
            <a:avLst/>
          </a:prstGeom>
          <a:noFill/>
          <a:ln/>
        </p:spPr>
        <p:txBody>
          <a:bodyPr wrap="square" lIns="0" tIns="0" rIns="0" bIns="0" rtlCol="0" anchor="ctr"/>
          <a:lstStyle/>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아이 — 안전한 무대에서의 직접 판단 경험, 근거를 붙여 결정하는 습관, 주식·투자와 친숙해짐</a:t>
            </a:r>
            <a:endParaRPr lang="en-US" sz="1100" dirty="0"/>
          </a:p>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부모 — 교육 부담 해소 (가르치는 건 키웅이, 읽어주는 건 아카이브)</a:t>
            </a:r>
            <a:endParaRPr lang="en-US" sz="1100" dirty="0"/>
          </a:p>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가족 — 돈 이야기를 시작할 자연스러운 계기와 공동 경험</a:t>
            </a:r>
            <a:endParaRPr lang="en-US" sz="1100" dirty="0"/>
          </a:p>
        </p:txBody>
      </p:sp>
      <p:sp>
        <p:nvSpPr>
          <p:cNvPr id="11" name="Shape 7"/>
          <p:cNvSpPr/>
          <p:nvPr/>
        </p:nvSpPr>
        <p:spPr>
          <a:xfrm>
            <a:off x="4663440" y="1234440"/>
            <a:ext cx="3977640" cy="2606040"/>
          </a:xfrm>
          <a:prstGeom prst="roundRect">
            <a:avLst>
              <a:gd name="adj" fmla="val 4211"/>
            </a:avLst>
          </a:prstGeom>
          <a:solidFill>
            <a:srgbClr val="F4F6FB"/>
          </a:solidFill>
          <a:ln/>
        </p:spPr>
      </p:sp>
      <p:sp>
        <p:nvSpPr>
          <p:cNvPr id="12" name="Shape 8"/>
          <p:cNvSpPr/>
          <p:nvPr/>
        </p:nvSpPr>
        <p:spPr>
          <a:xfrm>
            <a:off x="4919472" y="1444752"/>
            <a:ext cx="457200" cy="457200"/>
          </a:xfrm>
          <a:prstGeom prst="ellipse">
            <a:avLst/>
          </a:prstGeom>
          <a:solidFill>
            <a:srgbClr val="001E5A"/>
          </a:solidFill>
          <a:ln/>
        </p:spPr>
      </p:sp>
      <p:pic>
        <p:nvPicPr>
          <p:cNvPr id="13" name="Image 1" descr="preencoded.png">    </p:cNvPr>
          <p:cNvPicPr>
            <a:picLocks noChangeAspect="1"/>
          </p:cNvPicPr>
          <p:nvPr/>
        </p:nvPicPr>
        <p:blipFill>
          <a:blip r:embed="rId2"/>
          <a:stretch>
            <a:fillRect/>
          </a:stretch>
        </p:blipFill>
        <p:spPr>
          <a:xfrm>
            <a:off x="5042916" y="1568196"/>
            <a:ext cx="210312" cy="210312"/>
          </a:xfrm>
          <a:prstGeom prst="rect">
            <a:avLst/>
          </a:prstGeom>
        </p:spPr>
      </p:pic>
      <p:sp>
        <p:nvSpPr>
          <p:cNvPr id="14" name="Text 9"/>
          <p:cNvSpPr/>
          <p:nvPr/>
        </p:nvSpPr>
        <p:spPr>
          <a:xfrm>
            <a:off x="5504688" y="1517904"/>
            <a:ext cx="2926080" cy="329184"/>
          </a:xfrm>
          <a:prstGeom prst="rect">
            <a:avLst/>
          </a:prstGeom>
          <a:noFill/>
          <a:ln/>
        </p:spPr>
        <p:txBody>
          <a:bodyPr wrap="square" lIns="0" tIns="0" rIns="0" bIns="0" rtlCol="0" anchor="ctr"/>
          <a:lstStyle/>
          <a:p>
            <a:pPr indent="0" marL="0">
              <a:buNone/>
            </a:pPr>
            <a:r>
              <a:rPr lang="en-US" sz="1400" b="1" dirty="0">
                <a:solidFill>
                  <a:srgbClr val="001E5A"/>
                </a:solidFill>
                <a:latin typeface="Malgun Gothic" pitchFamily="34" charset="0"/>
                <a:ea typeface="Malgun Gothic" pitchFamily="34" charset="-122"/>
                <a:cs typeface="Malgun Gothic" pitchFamily="34" charset="-120"/>
              </a:rPr>
              <a:t>키움증권 측면</a:t>
            </a:r>
            <a:endParaRPr lang="en-US" sz="1400" dirty="0"/>
          </a:p>
        </p:txBody>
      </p:sp>
      <p:sp>
        <p:nvSpPr>
          <p:cNvPr id="15" name="Text 10"/>
          <p:cNvSpPr/>
          <p:nvPr/>
        </p:nvSpPr>
        <p:spPr>
          <a:xfrm>
            <a:off x="4937760" y="2048256"/>
            <a:ext cx="3429000" cy="1691640"/>
          </a:xfrm>
          <a:prstGeom prst="rect">
            <a:avLst/>
          </a:prstGeom>
          <a:noFill/>
          <a:ln/>
        </p:spPr>
        <p:txBody>
          <a:bodyPr wrap="square" lIns="0" tIns="0" rIns="0" bIns="0" rtlCol="0" anchor="ctr"/>
          <a:lstStyle/>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미성년 계좌 신규 개설 + 방치 계좌 활성화</a:t>
            </a:r>
            <a:endParaRPr lang="en-US" sz="1100" dirty="0"/>
          </a:p>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가족 단위 서비스 접점 — 부모 고객 활성화 포함</a:t>
            </a:r>
            <a:endParaRPr lang="en-US" sz="1100" dirty="0"/>
          </a:p>
          <a:p>
            <a:pPr marL="177800" indent="-177800">
              <a:spcAft>
                <a:spcPts val="900"/>
              </a:spcAft>
              <a:buSzPct val="100000"/>
              <a:buChar char="▪"/>
            </a:pPr>
            <a:r>
              <a:rPr lang="en-US" sz="1100" dirty="0">
                <a:solidFill>
                  <a:srgbClr val="1A1A2E"/>
                </a:solidFill>
                <a:latin typeface="Malgun Gothic" pitchFamily="34" charset="0"/>
                <a:ea typeface="Malgun Gothic" pitchFamily="34" charset="-122"/>
                <a:cs typeface="Malgun Gothic" pitchFamily="34" charset="-120"/>
              </a:rPr>
              <a:t>자녀의 첫 투자 경험 선점 → 10년 뒤 장기고객 연결 토대</a:t>
            </a:r>
            <a:endParaRPr lang="en-US" sz="1100" dirty="0"/>
          </a:p>
        </p:txBody>
      </p:sp>
      <p:sp>
        <p:nvSpPr>
          <p:cNvPr id="16" name="Shape 11"/>
          <p:cNvSpPr/>
          <p:nvPr/>
        </p:nvSpPr>
        <p:spPr>
          <a:xfrm>
            <a:off x="502920" y="4160520"/>
            <a:ext cx="8138160" cy="566928"/>
          </a:xfrm>
          <a:prstGeom prst="roundRect">
            <a:avLst>
              <a:gd name="adj" fmla="val 16129"/>
            </a:avLst>
          </a:prstGeom>
          <a:solidFill>
            <a:srgbClr val="001E5A"/>
          </a:solidFill>
          <a:ln/>
        </p:spPr>
      </p:sp>
      <p:sp>
        <p:nvSpPr>
          <p:cNvPr id="17" name="Text 12"/>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원칙  </a:t>
            </a:r>
            <a:pPr indent="0" marL="0">
              <a:buNone/>
            </a:pPr>
            <a:r>
              <a:rPr lang="en-US" sz="1100" dirty="0">
                <a:solidFill>
                  <a:srgbClr val="FFFFFF"/>
                </a:solidFill>
                <a:latin typeface="Malgun Gothic" pitchFamily="34" charset="0"/>
                <a:ea typeface="Malgun Gothic" pitchFamily="34" charset="-122"/>
                <a:cs typeface="Malgun Gothic" pitchFamily="34" charset="-120"/>
              </a:rPr>
              <a:t>“투자 실력·수익률 향상”은 말하지 않는다 — 습관·이해·대화·계좌 활성처럼 확인 가능한 효용만</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92608"/>
            <a:ext cx="8138160" cy="256032"/>
          </a:xfrm>
          <a:prstGeom prst="rect">
            <a:avLst/>
          </a:prstGeom>
          <a:noFill/>
          <a:ln/>
        </p:spPr>
        <p:txBody>
          <a:bodyPr wrap="square" lIns="0" tIns="0" rIns="0" bIns="0" rtlCol="0" anchor="ctr"/>
          <a:lstStyle/>
          <a:p>
            <a:pPr indent="0" marL="0">
              <a:buNone/>
            </a:pPr>
            <a:r>
              <a:rPr lang="en-US" sz="1100" b="1" spc="200" kern="0" dirty="0">
                <a:solidFill>
                  <a:srgbClr val="D70082"/>
                </a:solidFill>
                <a:latin typeface="Malgun Gothic" pitchFamily="34" charset="0"/>
                <a:ea typeface="Malgun Gothic" pitchFamily="34" charset="-122"/>
                <a:cs typeface="Malgun Gothic" pitchFamily="34" charset="-120"/>
              </a:rPr>
              <a:t>SLIDE 11 — KPI</a:t>
            </a:r>
            <a:endParaRPr lang="en-US" sz="1100" dirty="0"/>
          </a:p>
        </p:txBody>
      </p:sp>
      <p:sp>
        <p:nvSpPr>
          <p:cNvPr id="4" name="Text 1"/>
          <p:cNvSpPr/>
          <p:nvPr/>
        </p:nvSpPr>
        <p:spPr>
          <a:xfrm>
            <a:off x="502920" y="530352"/>
            <a:ext cx="8138160" cy="502920"/>
          </a:xfrm>
          <a:prstGeom prst="rect">
            <a:avLst/>
          </a:prstGeom>
          <a:noFill/>
          <a:ln/>
        </p:spPr>
        <p:txBody>
          <a:bodyPr wrap="square" lIns="0" tIns="0" rIns="0" bIns="0" rtlCol="0" anchor="ctr"/>
          <a:lstStyle/>
          <a:p>
            <a:pPr indent="0" marL="0">
              <a:buNone/>
            </a:pPr>
            <a:r>
              <a:rPr lang="en-US" sz="2500" b="1" dirty="0">
                <a:solidFill>
                  <a:srgbClr val="001E5A"/>
                </a:solidFill>
                <a:latin typeface="Malgun Gothic" pitchFamily="34" charset="0"/>
                <a:ea typeface="Malgun Gothic" pitchFamily="34" charset="-122"/>
                <a:cs typeface="Malgun Gothic" pitchFamily="34" charset="-120"/>
              </a:rPr>
              <a:t>서비스 흥행이 곧 계좌 지표로 이어지는 구조</a:t>
            </a:r>
            <a:endParaRPr lang="en-US" sz="2500" dirty="0"/>
          </a:p>
        </p:txBody>
      </p:sp>
      <p:sp>
        <p:nvSpPr>
          <p:cNvPr id="5" name="Text 2"/>
          <p:cNvSpPr/>
          <p:nvPr/>
        </p:nvSpPr>
        <p:spPr>
          <a:xfrm>
            <a:off x="8458200" y="4759452"/>
            <a:ext cx="411480" cy="274320"/>
          </a:xfrm>
          <a:prstGeom prst="rect">
            <a:avLst/>
          </a:prstGeom>
          <a:noFill/>
          <a:ln/>
        </p:spPr>
        <p:txBody>
          <a:bodyPr wrap="square" lIns="0" tIns="0" rIns="0" bIns="0" rtlCol="0" anchor="ctr"/>
          <a:lstStyle/>
          <a:p>
            <a:pPr algn="r" indent="0" marL="0">
              <a:buNone/>
            </a:pPr>
            <a:r>
              <a:rPr lang="en-US" sz="1000" dirty="0">
                <a:solidFill>
                  <a:srgbClr val="BEBEBE"/>
                </a:solidFill>
                <a:latin typeface="Malgun Gothic" pitchFamily="34" charset="0"/>
                <a:ea typeface="Malgun Gothic" pitchFamily="34" charset="-122"/>
                <a:cs typeface="Malgun Gothic" pitchFamily="34" charset="-120"/>
              </a:rPr>
              <a:t>11</a:t>
            </a:r>
            <a:endParaRPr lang="en-US" sz="1000" dirty="0"/>
          </a:p>
        </p:txBody>
      </p:sp>
      <p:sp>
        <p:nvSpPr>
          <p:cNvPr id="6" name="Shape 3"/>
          <p:cNvSpPr/>
          <p:nvPr/>
        </p:nvSpPr>
        <p:spPr>
          <a:xfrm>
            <a:off x="502920" y="1280160"/>
            <a:ext cx="3977640" cy="1600200"/>
          </a:xfrm>
          <a:prstGeom prst="roundRect">
            <a:avLst>
              <a:gd name="adj" fmla="val 6857"/>
            </a:avLst>
          </a:prstGeom>
          <a:solidFill>
            <a:srgbClr val="001E5A"/>
          </a:solidFill>
          <a:ln/>
        </p:spPr>
      </p:sp>
      <p:sp>
        <p:nvSpPr>
          <p:cNvPr id="7" name="Text 4"/>
          <p:cNvSpPr/>
          <p:nvPr/>
        </p:nvSpPr>
        <p:spPr>
          <a:xfrm>
            <a:off x="758952" y="1426464"/>
            <a:ext cx="3474720" cy="274320"/>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핵심 KPI ①</a:t>
            </a:r>
            <a:endParaRPr lang="en-US" sz="1050" dirty="0"/>
          </a:p>
        </p:txBody>
      </p:sp>
      <p:sp>
        <p:nvSpPr>
          <p:cNvPr id="8" name="Text 5"/>
          <p:cNvSpPr/>
          <p:nvPr/>
        </p:nvSpPr>
        <p:spPr>
          <a:xfrm>
            <a:off x="758952" y="1700784"/>
            <a:ext cx="3474720" cy="402336"/>
          </a:xfrm>
          <a:prstGeom prst="rect">
            <a:avLst/>
          </a:prstGeom>
          <a:noFill/>
          <a:ln/>
        </p:spPr>
        <p:txBody>
          <a:bodyPr wrap="square" lIns="0" tIns="0" rIns="0" bIns="0" rtlCol="0" anchor="ctr"/>
          <a:lstStyle/>
          <a:p>
            <a:pPr indent="0" marL="0">
              <a:buNone/>
            </a:pPr>
            <a:r>
              <a:rPr lang="en-US" sz="1650" b="1" dirty="0">
                <a:solidFill>
                  <a:srgbClr val="FFFFFF"/>
                </a:solidFill>
                <a:latin typeface="Malgun Gothic" pitchFamily="34" charset="0"/>
                <a:ea typeface="Malgun Gothic" pitchFamily="34" charset="-122"/>
                <a:cs typeface="Malgun Gothic" pitchFamily="34" charset="-120"/>
              </a:rPr>
              <a:t>신규 미성년 계좌 개설 수</a:t>
            </a:r>
            <a:endParaRPr lang="en-US" sz="1650" dirty="0"/>
          </a:p>
        </p:txBody>
      </p:sp>
      <p:sp>
        <p:nvSpPr>
          <p:cNvPr id="9" name="Text 6"/>
          <p:cNvSpPr/>
          <p:nvPr/>
        </p:nvSpPr>
        <p:spPr>
          <a:xfrm>
            <a:off x="758952" y="2139696"/>
            <a:ext cx="3474720" cy="658368"/>
          </a:xfrm>
          <a:prstGeom prst="rect">
            <a:avLst/>
          </a:prstGeom>
          <a:noFill/>
          <a:ln/>
        </p:spPr>
        <p:txBody>
          <a:bodyPr wrap="square" lIns="0" tIns="0" rIns="0" bIns="0" rtlCol="0" anchor="ctr"/>
          <a:lstStyle/>
          <a:p>
            <a:pPr indent="0" marL="0">
              <a:lnSpc>
                <a:spcPct val="115000"/>
              </a:lnSpc>
              <a:buNone/>
            </a:pPr>
            <a:r>
              <a:rPr lang="en-US" sz="1050" dirty="0">
                <a:solidFill>
                  <a:srgbClr val="C9D6F2"/>
                </a:solidFill>
                <a:latin typeface="Malgun Gothic" pitchFamily="34" charset="0"/>
                <a:ea typeface="Malgun Gothic" pitchFamily="34" charset="-122"/>
                <a:cs typeface="Malgun Gothic" pitchFamily="34" charset="-120"/>
              </a:rPr>
              <a:t>참가 조건 = 자녀 실계좌 →</a:t>
            </a:r>
            <a:endParaRPr lang="en-US" sz="1050" dirty="0"/>
          </a:p>
          <a:p>
            <a:pPr indent="0" marL="0">
              <a:lnSpc>
                <a:spcPct val="115000"/>
              </a:lnSpc>
              <a:buNone/>
            </a:pPr>
            <a:r>
              <a:rPr lang="en-US" sz="1050" dirty="0">
                <a:solidFill>
                  <a:srgbClr val="C9D6F2"/>
                </a:solidFill>
                <a:latin typeface="Malgun Gothic" pitchFamily="34" charset="0"/>
                <a:ea typeface="Malgun Gothic" pitchFamily="34" charset="-122"/>
                <a:cs typeface="Malgun Gothic" pitchFamily="34" charset="-120"/>
              </a:rPr>
              <a:t>참가하려면 계좌를 만든다 (퍼널 직결)</a:t>
            </a:r>
            <a:endParaRPr lang="en-US" sz="1050" dirty="0"/>
          </a:p>
        </p:txBody>
      </p:sp>
      <p:sp>
        <p:nvSpPr>
          <p:cNvPr id="10" name="Shape 7"/>
          <p:cNvSpPr/>
          <p:nvPr/>
        </p:nvSpPr>
        <p:spPr>
          <a:xfrm>
            <a:off x="4663440" y="1280160"/>
            <a:ext cx="3977640" cy="1600200"/>
          </a:xfrm>
          <a:prstGeom prst="roundRect">
            <a:avLst>
              <a:gd name="adj" fmla="val 6857"/>
            </a:avLst>
          </a:prstGeom>
          <a:solidFill>
            <a:srgbClr val="001E5A"/>
          </a:solidFill>
          <a:ln/>
        </p:spPr>
      </p:sp>
      <p:sp>
        <p:nvSpPr>
          <p:cNvPr id="11" name="Text 8"/>
          <p:cNvSpPr/>
          <p:nvPr/>
        </p:nvSpPr>
        <p:spPr>
          <a:xfrm>
            <a:off x="4919472" y="1426464"/>
            <a:ext cx="3474720" cy="274320"/>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핵심 KPI ②</a:t>
            </a:r>
            <a:endParaRPr lang="en-US" sz="1050" dirty="0"/>
          </a:p>
        </p:txBody>
      </p:sp>
      <p:sp>
        <p:nvSpPr>
          <p:cNvPr id="12" name="Text 9"/>
          <p:cNvSpPr/>
          <p:nvPr/>
        </p:nvSpPr>
        <p:spPr>
          <a:xfrm>
            <a:off x="4919472" y="1700784"/>
            <a:ext cx="3474720" cy="402336"/>
          </a:xfrm>
          <a:prstGeom prst="rect">
            <a:avLst/>
          </a:prstGeom>
          <a:noFill/>
          <a:ln/>
        </p:spPr>
        <p:txBody>
          <a:bodyPr wrap="square" lIns="0" tIns="0" rIns="0" bIns="0" rtlCol="0" anchor="ctr"/>
          <a:lstStyle/>
          <a:p>
            <a:pPr indent="0" marL="0">
              <a:buNone/>
            </a:pPr>
            <a:r>
              <a:rPr lang="en-US" sz="1650" b="1" dirty="0">
                <a:solidFill>
                  <a:srgbClr val="FFFFFF"/>
                </a:solidFill>
                <a:latin typeface="Malgun Gothic" pitchFamily="34" charset="0"/>
                <a:ea typeface="Malgun Gothic" pitchFamily="34" charset="-122"/>
                <a:cs typeface="Malgun Gothic" pitchFamily="34" charset="-120"/>
              </a:rPr>
              <a:t>기존 미성년 계좌 활성화율</a:t>
            </a:r>
            <a:endParaRPr lang="en-US" sz="1650" dirty="0"/>
          </a:p>
        </p:txBody>
      </p:sp>
      <p:sp>
        <p:nvSpPr>
          <p:cNvPr id="13" name="Text 10"/>
          <p:cNvSpPr/>
          <p:nvPr/>
        </p:nvSpPr>
        <p:spPr>
          <a:xfrm>
            <a:off x="4919472" y="2139696"/>
            <a:ext cx="3474720" cy="658368"/>
          </a:xfrm>
          <a:prstGeom prst="rect">
            <a:avLst/>
          </a:prstGeom>
          <a:noFill/>
          <a:ln/>
        </p:spPr>
        <p:txBody>
          <a:bodyPr wrap="square" lIns="0" tIns="0" rIns="0" bIns="0" rtlCol="0" anchor="ctr"/>
          <a:lstStyle/>
          <a:p>
            <a:pPr indent="0" marL="0">
              <a:lnSpc>
                <a:spcPct val="115000"/>
              </a:lnSpc>
              <a:buNone/>
            </a:pPr>
            <a:r>
              <a:rPr lang="en-US" sz="1050" dirty="0">
                <a:solidFill>
                  <a:srgbClr val="C9D6F2"/>
                </a:solidFill>
                <a:latin typeface="Malgun Gothic" pitchFamily="34" charset="0"/>
                <a:ea typeface="Malgun Gothic" pitchFamily="34" charset="-122"/>
                <a:cs typeface="Malgun Gothic" pitchFamily="34" charset="-120"/>
              </a:rPr>
              <a:t>이미 개설됐지만 방치된 계좌가</a:t>
            </a:r>
            <a:endParaRPr lang="en-US" sz="1050" dirty="0"/>
          </a:p>
          <a:p>
            <a:pPr indent="0" marL="0">
              <a:lnSpc>
                <a:spcPct val="115000"/>
              </a:lnSpc>
              <a:buNone/>
            </a:pPr>
            <a:r>
              <a:rPr lang="en-US" sz="1050" dirty="0">
                <a:solidFill>
                  <a:srgbClr val="C9D6F2"/>
                </a:solidFill>
                <a:latin typeface="Malgun Gothic" pitchFamily="34" charset="0"/>
                <a:ea typeface="Malgun Gothic" pitchFamily="34" charset="-122"/>
                <a:cs typeface="Malgun Gothic" pitchFamily="34" charset="-120"/>
              </a:rPr>
              <a:t>첫 서비스 참여로 깨어나는 비율</a:t>
            </a:r>
            <a:endParaRPr lang="en-US" sz="1050" dirty="0"/>
          </a:p>
        </p:txBody>
      </p:sp>
      <p:sp>
        <p:nvSpPr>
          <p:cNvPr id="14" name="Text 11"/>
          <p:cNvSpPr/>
          <p:nvPr/>
        </p:nvSpPr>
        <p:spPr>
          <a:xfrm>
            <a:off x="502920" y="3035808"/>
            <a:ext cx="8138160" cy="292608"/>
          </a:xfrm>
          <a:prstGeom prst="rect">
            <a:avLst/>
          </a:prstGeom>
          <a:noFill/>
          <a:ln/>
        </p:spPr>
        <p:txBody>
          <a:bodyPr wrap="square" lIns="0" tIns="0" rIns="0" bIns="0" rtlCol="0" anchor="ctr"/>
          <a:lstStyle/>
          <a:p>
            <a:pPr indent="0" marL="0">
              <a:buNone/>
            </a:pPr>
            <a:r>
              <a:rPr lang="en-US" sz="1100" b="1" dirty="0">
                <a:solidFill>
                  <a:srgbClr val="001E5A"/>
                </a:solidFill>
                <a:latin typeface="Malgun Gothic" pitchFamily="34" charset="0"/>
                <a:ea typeface="Malgun Gothic" pitchFamily="34" charset="-122"/>
                <a:cs typeface="Malgun Gothic" pitchFamily="34" charset="-120"/>
              </a:rPr>
              <a:t>이원화 이유 — 계좌를 이미 만들어둔 가족은 '개설 수'에 안 잡히지만, 방치 계좌를 깨우는 것도 키움에는 동등한 가치</a:t>
            </a:r>
            <a:endParaRPr lang="en-US" sz="1100" dirty="0"/>
          </a:p>
        </p:txBody>
      </p:sp>
      <p:sp>
        <p:nvSpPr>
          <p:cNvPr id="15" name="Text 12"/>
          <p:cNvSpPr/>
          <p:nvPr/>
        </p:nvSpPr>
        <p:spPr>
          <a:xfrm>
            <a:off x="502920" y="3401568"/>
            <a:ext cx="8138160" cy="320040"/>
          </a:xfrm>
          <a:prstGeom prst="rect">
            <a:avLst/>
          </a:prstGeom>
          <a:noFill/>
          <a:ln/>
        </p:spPr>
        <p:txBody>
          <a:bodyPr wrap="square" lIns="0" tIns="0" rIns="0" bIns="0" rtlCol="0" anchor="ctr"/>
          <a:lstStyle/>
          <a:p>
            <a:pPr indent="0" marL="0">
              <a:buNone/>
            </a:pPr>
            <a:r>
              <a:rPr lang="en-US" sz="1100" b="1" dirty="0">
                <a:solidFill>
                  <a:srgbClr val="D70082"/>
                </a:solidFill>
                <a:latin typeface="Malgun Gothic" pitchFamily="34" charset="0"/>
                <a:ea typeface="Malgun Gothic" pitchFamily="34" charset="-122"/>
                <a:cs typeface="Malgun Gothic" pitchFamily="34" charset="-120"/>
              </a:rPr>
              <a:t>보조 지표  </a:t>
            </a:r>
            <a:pPr indent="0" marL="0">
              <a:buNone/>
            </a:pPr>
            <a:r>
              <a:rPr lang="en-US" sz="1100" dirty="0">
                <a:solidFill>
                  <a:srgbClr val="6B7280"/>
                </a:solidFill>
                <a:latin typeface="Malgun Gothic" pitchFamily="34" charset="0"/>
                <a:ea typeface="Malgun Gothic" pitchFamily="34" charset="-122"/>
                <a:cs typeface="Malgun Gothic" pitchFamily="34" charset="-120"/>
              </a:rPr>
              <a:t>튜토리얼→정식 참가 전환율 · 시즌 재참여율 · 질문식 매매 태깅률 · 친화도 스코어 변화 · 부모·자녀 동반 활성 가족 수</a:t>
            </a:r>
            <a:endParaRPr lang="en-US" sz="1100" dirty="0"/>
          </a:p>
        </p:txBody>
      </p:sp>
      <p:sp>
        <p:nvSpPr>
          <p:cNvPr id="16" name="Text 13"/>
          <p:cNvSpPr/>
          <p:nvPr/>
        </p:nvSpPr>
        <p:spPr>
          <a:xfrm>
            <a:off x="502920" y="3749040"/>
            <a:ext cx="8138160" cy="274320"/>
          </a:xfrm>
          <a:prstGeom prst="rect">
            <a:avLst/>
          </a:prstGeom>
          <a:noFill/>
          <a:ln/>
        </p:spPr>
        <p:txBody>
          <a:bodyPr wrap="square" lIns="0" tIns="0" rIns="0" bIns="0" rtlCol="0" anchor="ctr"/>
          <a:lstStyle/>
          <a:p>
            <a:pPr indent="0" marL="0">
              <a:buNone/>
            </a:pPr>
            <a:r>
              <a:rPr lang="en-US" sz="1000" dirty="0">
                <a:solidFill>
                  <a:srgbClr val="BEBEBE"/>
                </a:solidFill>
                <a:latin typeface="Malgun Gothic" pitchFamily="34" charset="0"/>
                <a:ea typeface="Malgun Gothic" pitchFamily="34" charset="-122"/>
                <a:cs typeface="Malgun Gothic" pitchFamily="34" charset="-120"/>
              </a:rPr>
              <a:t>※ 추가 KPI는 팀 논의를 거쳐 계속 발전시킬 예정</a:t>
            </a:r>
            <a:endParaRPr lang="en-US" sz="1000" dirty="0"/>
          </a:p>
        </p:txBody>
      </p:sp>
      <p:sp>
        <p:nvSpPr>
          <p:cNvPr id="17" name="Shape 14"/>
          <p:cNvSpPr/>
          <p:nvPr/>
        </p:nvSpPr>
        <p:spPr>
          <a:xfrm>
            <a:off x="502920" y="4160520"/>
            <a:ext cx="8138160" cy="566928"/>
          </a:xfrm>
          <a:prstGeom prst="roundRect">
            <a:avLst>
              <a:gd name="adj" fmla="val 16129"/>
            </a:avLst>
          </a:prstGeom>
          <a:solidFill>
            <a:srgbClr val="001E5A"/>
          </a:solidFill>
          <a:ln/>
        </p:spPr>
      </p:sp>
      <p:sp>
        <p:nvSpPr>
          <p:cNvPr id="18" name="Text 15"/>
          <p:cNvSpPr/>
          <p:nvPr/>
        </p:nvSpPr>
        <p:spPr>
          <a:xfrm>
            <a:off x="777240" y="4160520"/>
            <a:ext cx="7680960" cy="566928"/>
          </a:xfrm>
          <a:prstGeom prst="rect">
            <a:avLst/>
          </a:prstGeom>
          <a:noFill/>
          <a:ln/>
        </p:spPr>
        <p:txBody>
          <a:bodyPr wrap="square" lIns="0" tIns="0" rIns="0" bIns="0" rtlCol="0" anchor="ctr"/>
          <a:lstStyle/>
          <a:p>
            <a:pPr indent="0" marL="0">
              <a:buNone/>
            </a:pPr>
            <a:r>
              <a:rPr lang="en-US" sz="1100" b="1" dirty="0">
                <a:solidFill>
                  <a:srgbClr val="FF7ABF"/>
                </a:solidFill>
                <a:latin typeface="Malgun Gothic" pitchFamily="34" charset="0"/>
                <a:ea typeface="Malgun Gothic" pitchFamily="34" charset="-122"/>
                <a:cs typeface="Malgun Gothic" pitchFamily="34" charset="-120"/>
              </a:rPr>
              <a:t>정직  </a:t>
            </a:r>
            <a:pPr indent="0" marL="0">
              <a:buNone/>
            </a:pPr>
            <a:r>
              <a:rPr lang="en-US" sz="1100" dirty="0">
                <a:solidFill>
                  <a:srgbClr val="FFFFFF"/>
                </a:solidFill>
                <a:latin typeface="Malgun Gothic" pitchFamily="34" charset="0"/>
                <a:ea typeface="Malgun Gothic" pitchFamily="34" charset="-122"/>
                <a:cs typeface="Malgun Gothic" pitchFamily="34" charset="-120"/>
              </a:rPr>
              <a:t>목표 수치는 근거 없이 제시하지 않는다 — 시즌1 베이스라인 수집 후 설정</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E5A"/>
        </a:solidFill>
      </p:bgPr>
    </p:bg>
    <p:spTree>
      <p:nvGrpSpPr>
        <p:cNvPr id="1" name=""/>
        <p:cNvGrpSpPr/>
        <p:nvPr/>
      </p:nvGrpSpPr>
      <p:grpSpPr>
        <a:xfrm>
          <a:off x="0" y="0"/>
          <a:ext cx="0" cy="0"/>
          <a:chOff x="0" y="0"/>
          <a:chExt cx="0" cy="0"/>
        </a:xfrm>
      </p:grpSpPr>
      <p:sp>
        <p:nvSpPr>
          <p:cNvPr id="3" name="Shape 0"/>
          <p:cNvSpPr/>
          <p:nvPr/>
        </p:nvSpPr>
        <p:spPr>
          <a:xfrm>
            <a:off x="7498080" y="-1005840"/>
            <a:ext cx="2743200" cy="2743200"/>
          </a:xfrm>
          <a:prstGeom prst="ellipse">
            <a:avLst/>
          </a:prstGeom>
          <a:solidFill>
            <a:srgbClr val="D70082">
              <a:alpha val="16000"/>
            </a:srgbClr>
          </a:solidFill>
          <a:ln/>
        </p:spPr>
      </p:sp>
      <p:sp>
        <p:nvSpPr>
          <p:cNvPr id="4" name="Shape 1"/>
          <p:cNvSpPr/>
          <p:nvPr/>
        </p:nvSpPr>
        <p:spPr>
          <a:xfrm>
            <a:off x="-914400" y="3840480"/>
            <a:ext cx="2377440" cy="2377440"/>
          </a:xfrm>
          <a:prstGeom prst="ellipse">
            <a:avLst/>
          </a:prstGeom>
          <a:solidFill>
            <a:srgbClr val="D70082">
              <a:alpha val="12000"/>
            </a:srgbClr>
          </a:solidFill>
          <a:ln/>
        </p:spPr>
      </p:sp>
      <p:sp>
        <p:nvSpPr>
          <p:cNvPr id="5" name="Text 2"/>
          <p:cNvSpPr/>
          <p:nvPr/>
        </p:nvSpPr>
        <p:spPr>
          <a:xfrm>
            <a:off x="502920" y="502920"/>
            <a:ext cx="8138160" cy="274320"/>
          </a:xfrm>
          <a:prstGeom prst="rect">
            <a:avLst/>
          </a:prstGeom>
          <a:noFill/>
          <a:ln/>
        </p:spPr>
        <p:txBody>
          <a:bodyPr wrap="square" lIns="0" tIns="0" rIns="0" bIns="0" rtlCol="0" anchor="ctr"/>
          <a:lstStyle/>
          <a:p>
            <a:pPr indent="0" marL="0">
              <a:buNone/>
            </a:pPr>
            <a:r>
              <a:rPr lang="en-US" sz="1100" b="1" spc="200" kern="0" dirty="0">
                <a:solidFill>
                  <a:srgbClr val="FF7ABF"/>
                </a:solidFill>
                <a:latin typeface="Malgun Gothic" pitchFamily="34" charset="0"/>
                <a:ea typeface="Malgun Gothic" pitchFamily="34" charset="-122"/>
                <a:cs typeface="Malgun Gothic" pitchFamily="34" charset="-120"/>
              </a:rPr>
              <a:t>영웅 키움 — 정리</a:t>
            </a:r>
            <a:endParaRPr lang="en-US" sz="1100" dirty="0"/>
          </a:p>
        </p:txBody>
      </p:sp>
      <p:sp>
        <p:nvSpPr>
          <p:cNvPr id="6" name="Text 3"/>
          <p:cNvSpPr/>
          <p:nvPr/>
        </p:nvSpPr>
        <p:spPr>
          <a:xfrm>
            <a:off x="502920" y="822960"/>
            <a:ext cx="8138160" cy="1005840"/>
          </a:xfrm>
          <a:prstGeom prst="rect">
            <a:avLst/>
          </a:prstGeom>
          <a:noFill/>
          <a:ln/>
        </p:spPr>
        <p:txBody>
          <a:bodyPr wrap="square" lIns="0" tIns="0" rIns="0" bIns="0" rtlCol="0" anchor="ctr"/>
          <a:lstStyle/>
          <a:p>
            <a:pPr indent="0" marL="0">
              <a:lnSpc>
                <a:spcPct val="115000"/>
              </a:lnSpc>
              <a:buNone/>
            </a:pPr>
            <a:r>
              <a:rPr lang="en-US" sz="2300" b="1" dirty="0">
                <a:solidFill>
                  <a:srgbClr val="FFFFFF"/>
                </a:solidFill>
                <a:latin typeface="Malgun Gothic" pitchFamily="34" charset="0"/>
                <a:ea typeface="Malgun Gothic" pitchFamily="34" charset="-122"/>
                <a:cs typeface="Malgun Gothic" pitchFamily="34" charset="-120"/>
              </a:rPr>
              <a:t>아이에게는 안전한 첫 투자 무대를,</a:t>
            </a:r>
            <a:endParaRPr lang="en-US" sz="2300" dirty="0"/>
          </a:p>
          <a:p>
            <a:pPr indent="0" marL="0">
              <a:lnSpc>
                <a:spcPct val="115000"/>
              </a:lnSpc>
              <a:buNone/>
            </a:pPr>
            <a:r>
              <a:rPr lang="en-US" sz="2300" b="1" dirty="0">
                <a:solidFill>
                  <a:srgbClr val="FFFFFF"/>
                </a:solidFill>
                <a:latin typeface="Malgun Gothic" pitchFamily="34" charset="0"/>
                <a:ea typeface="Malgun Gothic" pitchFamily="34" charset="-122"/>
                <a:cs typeface="Malgun Gothic" pitchFamily="34" charset="-120"/>
              </a:rPr>
              <a:t>부모에게는 교육 도구를, 키움에게는 미래 고객을.</a:t>
            </a:r>
            <a:endParaRPr lang="en-US" sz="2300" dirty="0"/>
          </a:p>
        </p:txBody>
      </p:sp>
      <p:sp>
        <p:nvSpPr>
          <p:cNvPr id="7" name="Shape 4"/>
          <p:cNvSpPr/>
          <p:nvPr/>
        </p:nvSpPr>
        <p:spPr>
          <a:xfrm>
            <a:off x="502920" y="2103120"/>
            <a:ext cx="8138160" cy="896112"/>
          </a:xfrm>
          <a:prstGeom prst="roundRect">
            <a:avLst>
              <a:gd name="adj" fmla="val 12245"/>
            </a:avLst>
          </a:prstGeom>
          <a:solidFill>
            <a:srgbClr val="0A2E75"/>
          </a:solidFill>
          <a:ln w="12700">
            <a:solidFill>
              <a:srgbClr val="2A4A9C"/>
            </a:solidFill>
            <a:prstDash val="solid"/>
          </a:ln>
        </p:spPr>
      </p:sp>
      <p:sp>
        <p:nvSpPr>
          <p:cNvPr id="8" name="Text 5"/>
          <p:cNvSpPr/>
          <p:nvPr/>
        </p:nvSpPr>
        <p:spPr>
          <a:xfrm>
            <a:off x="822960" y="2212848"/>
            <a:ext cx="7498080" cy="256032"/>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피드백 요청 ① · 플랫폼전략팀께</a:t>
            </a:r>
            <a:endParaRPr lang="en-US" sz="1050" dirty="0"/>
          </a:p>
        </p:txBody>
      </p:sp>
      <p:sp>
        <p:nvSpPr>
          <p:cNvPr id="9" name="Text 6"/>
          <p:cNvSpPr/>
          <p:nvPr/>
        </p:nvSpPr>
        <p:spPr>
          <a:xfrm>
            <a:off x="822960" y="2487168"/>
            <a:ext cx="7498080" cy="457200"/>
          </a:xfrm>
          <a:prstGeom prst="rect">
            <a:avLst/>
          </a:prstGeom>
          <a:noFill/>
          <a:ln/>
        </p:spPr>
        <p:txBody>
          <a:bodyPr wrap="square" lIns="0" tIns="0" rIns="0" bIns="0" rtlCol="0" anchor="ctr"/>
          <a:lstStyle/>
          <a:p>
            <a:pPr indent="0" marL="0">
              <a:lnSpc>
                <a:spcPct val="112000"/>
              </a:lnSpc>
              <a:buNone/>
            </a:pPr>
            <a:r>
              <a:rPr lang="en-US" sz="1150" dirty="0">
                <a:solidFill>
                  <a:srgbClr val="C9D6F2"/>
                </a:solidFill>
                <a:latin typeface="Malgun Gothic" pitchFamily="34" charset="0"/>
                <a:ea typeface="Malgun Gothic" pitchFamily="34" charset="-122"/>
                <a:cs typeface="Malgun Gothic" pitchFamily="34" charset="-120"/>
              </a:rPr>
              <a:t>'자녀 실계좌 보유' 참가 조건 — 계좌 KPI 직결 vs 진입장벽. 현업 관점의 트레이드오프 판단을 듣고 싶습니다.</a:t>
            </a:r>
            <a:endParaRPr lang="en-US" sz="1150" dirty="0"/>
          </a:p>
        </p:txBody>
      </p:sp>
      <p:sp>
        <p:nvSpPr>
          <p:cNvPr id="10" name="Shape 7"/>
          <p:cNvSpPr/>
          <p:nvPr/>
        </p:nvSpPr>
        <p:spPr>
          <a:xfrm>
            <a:off x="502920" y="3127248"/>
            <a:ext cx="8138160" cy="896112"/>
          </a:xfrm>
          <a:prstGeom prst="roundRect">
            <a:avLst>
              <a:gd name="adj" fmla="val 12245"/>
            </a:avLst>
          </a:prstGeom>
          <a:solidFill>
            <a:srgbClr val="0A2E75"/>
          </a:solidFill>
          <a:ln w="12700">
            <a:solidFill>
              <a:srgbClr val="2A4A9C"/>
            </a:solidFill>
            <a:prstDash val="solid"/>
          </a:ln>
        </p:spPr>
      </p:sp>
      <p:sp>
        <p:nvSpPr>
          <p:cNvPr id="11" name="Text 8"/>
          <p:cNvSpPr/>
          <p:nvPr/>
        </p:nvSpPr>
        <p:spPr>
          <a:xfrm>
            <a:off x="822960" y="3236976"/>
            <a:ext cx="7498080" cy="256032"/>
          </a:xfrm>
          <a:prstGeom prst="rect">
            <a:avLst/>
          </a:prstGeom>
          <a:noFill/>
          <a:ln/>
        </p:spPr>
        <p:txBody>
          <a:bodyPr wrap="square" lIns="0" tIns="0" rIns="0" bIns="0" rtlCol="0" anchor="ctr"/>
          <a:lstStyle/>
          <a:p>
            <a:pPr indent="0" marL="0">
              <a:buNone/>
            </a:pPr>
            <a:r>
              <a:rPr lang="en-US" sz="1050" b="1" dirty="0">
                <a:solidFill>
                  <a:srgbClr val="FF7ABF"/>
                </a:solidFill>
                <a:latin typeface="Malgun Gothic" pitchFamily="34" charset="0"/>
                <a:ea typeface="Malgun Gothic" pitchFamily="34" charset="-122"/>
                <a:cs typeface="Malgun Gothic" pitchFamily="34" charset="-120"/>
              </a:rPr>
              <a:t>피드백 요청 ② · AIX팀께</a:t>
            </a:r>
            <a:endParaRPr lang="en-US" sz="1050" dirty="0"/>
          </a:p>
        </p:txBody>
      </p:sp>
      <p:sp>
        <p:nvSpPr>
          <p:cNvPr id="12" name="Text 9"/>
          <p:cNvSpPr/>
          <p:nvPr/>
        </p:nvSpPr>
        <p:spPr>
          <a:xfrm>
            <a:off x="822960" y="3511296"/>
            <a:ext cx="7498080" cy="457200"/>
          </a:xfrm>
          <a:prstGeom prst="rect">
            <a:avLst/>
          </a:prstGeom>
          <a:noFill/>
          <a:ln/>
        </p:spPr>
        <p:txBody>
          <a:bodyPr wrap="square" lIns="0" tIns="0" rIns="0" bIns="0" rtlCol="0" anchor="ctr"/>
          <a:lstStyle/>
          <a:p>
            <a:pPr indent="0" marL="0">
              <a:lnSpc>
                <a:spcPct val="112000"/>
              </a:lnSpc>
              <a:buNone/>
            </a:pPr>
            <a:r>
              <a:rPr lang="en-US" sz="1150" dirty="0">
                <a:solidFill>
                  <a:srgbClr val="C9D6F2"/>
                </a:solidFill>
                <a:latin typeface="Malgun Gothic" pitchFamily="34" charset="0"/>
                <a:ea typeface="Malgun Gothic" pitchFamily="34" charset="-122"/>
                <a:cs typeface="Malgun Gothic" pitchFamily="34" charset="-120"/>
              </a:rPr>
              <a:t>친화도 스코어 라벨을 '다음 시즌 재참여 여부'로 두는 설계가 타당한지, 더 나은 프록시가 있는지 조언 부탁드립니다.</a:t>
            </a:r>
            <a:endParaRPr lang="en-US" sz="1150" dirty="0"/>
          </a:p>
        </p:txBody>
      </p:sp>
      <p:sp>
        <p:nvSpPr>
          <p:cNvPr id="13" name="Text 10"/>
          <p:cNvSpPr/>
          <p:nvPr/>
        </p:nvSpPr>
        <p:spPr>
          <a:xfrm>
            <a:off x="502920" y="4434840"/>
            <a:ext cx="8138160" cy="411480"/>
          </a:xfrm>
          <a:prstGeom prst="rect">
            <a:avLst/>
          </a:prstGeom>
          <a:noFill/>
          <a:ln/>
        </p:spPr>
        <p:txBody>
          <a:bodyPr wrap="square" lIns="0" tIns="0" rIns="0" bIns="0" rtlCol="0" anchor="ctr"/>
          <a:lstStyle/>
          <a:p>
            <a:pPr indent="0" marL="0">
              <a:buNone/>
            </a:pPr>
            <a:r>
              <a:rPr lang="en-US" sz="1450" b="1" dirty="0">
                <a:solidFill>
                  <a:srgbClr val="FFFFFF"/>
                </a:solidFill>
                <a:latin typeface="Malgun Gothic" pitchFamily="34" charset="0"/>
                <a:ea typeface="Malgun Gothic" pitchFamily="34" charset="-122"/>
                <a:cs typeface="Malgun Gothic" pitchFamily="34" charset="-120"/>
              </a:rPr>
              <a:t>감사합니다  —  </a:t>
            </a:r>
            <a:pPr indent="0" marL="0">
              <a:buNone/>
            </a:pPr>
            <a:r>
              <a:rPr lang="en-US" sz="1450" b="1" dirty="0">
                <a:solidFill>
                  <a:srgbClr val="FF7ABF"/>
                </a:solidFill>
                <a:latin typeface="Malgun Gothic" pitchFamily="34" charset="0"/>
                <a:ea typeface="Malgun Gothic" pitchFamily="34" charset="-122"/>
                <a:cs typeface="Malgun Gothic" pitchFamily="34" charset="-120"/>
              </a:rPr>
              <a:t>오늘 가족과 함께 키운 습관이, 10년 뒤 키움의 고객이 됩니다.</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2026-08-11T02:42:08Z</dcterms:created>
  <dcterms:modified xsi:type="dcterms:W3CDTF">2026-08-11T02:42:08Z</dcterms:modified>
</cp:coreProperties>
</file>