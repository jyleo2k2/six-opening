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30초]
안녕하십니까, 팀 육개장입니다. 저희가 준비한 서비스는 '영웅 키움' — 성장 발자취가 남는 가족 단위 모의투자 플랫폼입니다.
새로운 앱을 만드는 것이 아니라, 키움의 영웅문S# 안에 신규 메뉴로 들어가는 서비스입니다.
오늘 발표는 저희가 어떤 문제를 발견했고, 어떤 근거로 그 문제를 정의했으며, 어떤 기능으로 해결하려는지 — 이 순서로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저희가 주목한 사용자는 두 사람입니다.
먼저 43세 부모입니다. 키움 계좌를 갖고 종종 매매하는 평범한 투자자이고, 자녀에게 투자를 경험시켜주고 싶은 마음이 있습니다. 하지만 본인도 전문가는 아니라서 뭘 어떻게 가르쳐야 할지 모릅니다.
그리고 13살, 초등학교 6학년 자녀입니다. 경제나 주식은 아직 어렵지만, 부모와 함께 해보는 건 좋아합니다.
그래서 지금 무슨 일이 벌어지고 있냐면 — 부모가 자녀 계좌를 만들어주고는, 대신 운용하거나 그냥 방치합니다. 한 줄로 말하면 "계좌는 만들어줬는데, 그 다음이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왜 그 다음이 없을까요. 저희는 세 가지 문제를 발견했습니다.
첫째, 기존 MTS와 모의투자는 전부 성인 기준입니다. 용어도, 화면도, 정보량도 아이가 감당할 수 없고, 미수·신용 같은 위험 거래에도 그대로 노출됩니다.
둘째, 부모의 교육 부담입니다. 부모도 주식을 잘 안다는 보장이 없어서, 가르칠 방법론도 도구도 없습니다.
셋째, 기존 모의투자는 개인 수익률 랭킹 중심이라, 가족이 함께할 맥락 자체가 없습니다.
결과적으로 아이는 배울 기회를 잃고, 부모의 의지는 행동으로 이어지지 못하고, 계좌는 방치됩니다.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이게 저희 추측이 아니라는 근거를 말씀드리겠습니다.
0~9세 신규 주식계좌가 119% 늘었고 10대도 100% 이상 늘었습니다. 20세 미만 ETF 투자자는 30만 명입니다. 즉 자녀 투자에 대한 니즈는 이미 '계좌 개설'이라는 행동으로 증명돼 있습니다. 비어 있는 건 개설 이후의 경험입니다.
경쟁 서비스도 확인했습니다. 가입자 33만의 퍼핀이 가족 모의투자 대회를 운영하지만, 가족 간에는 순위 비교만 제공합니다. 가족 단위, 아이 눈높이, AI 분석 — 이 세 가지 조합은 국내외에서 찾지 못했습니다. 선점 가능한 공백입니다.
마지막으로 부모 대상 설문조사는 현재 회수 중이며, 결과가 나오는 대로 반영하겠습니다. 조사한 것만 말씀드린다는 원칙을 지키겠습니다.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발견한 현상을 그대로 기능으로 바꾸지 않고, 현상과 원인을 구분해 핵심 문제를 다시 정의했습니다.
현상은 '부모가 계좌를 만들어주고도 방치하거나 대신 운용한다'입니다.
원인은 '아이가 쓸 수 있는 안전한 무대가 없고, 부모는 가르칠 방법이 없다'는 것입니다.
그래서 핵심 문제는 이렇게 정의했습니다 — 아이가 스스로 판단하며 안전하게 투자를 경험하고, 부모가 그 과정을 함께할 수 있는 '구조'가 없다. 정보가 부족한 게 아니라 구조가 없는 것이 문제입니다.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그래서 저희의 해결 방향은 — 아이 혼자 쓰는 교육 앱이 아니라, 부모와 자녀가 각자 뛰는 '가족 모의투자 리그'입니다. 이것이 저희 MVP 핵심 기능입니다.
규칙은 이렇습니다. 부모와 자녀가 각자 가상 시드 100만원을 받아 개인 지갑으로 투자하고, 가족 성적은 구성원 수익률 평균으로 계산해 30~50가족 리그에서 경쟁합니다. 시즌은 4주씩 연 4회, 분기마다 열려서 매 시즌 어닝시즌을 한 번씩 경험하게 됩니다.
참가 조건은 자녀 실계좌 보유입니다. 이 조건 덕분에 서비스 흥행이 계좌 개설 KPI로 직결됩니다.
'안전한 무대'는 말이 아니라 구조로 만들었습니다. 국내 우량주 50종만 매매 가능하고, 미수·신용·레버리지·파생은 원천 배제되며, 단일종목 한도 프리셋으로 몰빵도 막습니다.
성장 아카이브와 챗봇 키웅이는 이 리그 위에 얹히는 기능이고, 다음 슬라이드에서 흐름과 함께 설명드리겠습니다.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아이가 실제로 쓰는 흐름입니다.
종목을 탐색하면 아이 눈높이 기업 설명이 붙어 있고, 주문을 하려면 — 여기가 핵심인데 — '질문식 매매'를 거칩니다. 왜 사는지 근거를 태깅하고, 얼마나 자신 있는지 확신도를 고르고, 얼마나 가질 건지 예상 보유기간을 고릅니다. 세 번의 탭이면 끝나지만, 주문마다 '왜'가 기록됩니다.
체결은 실제 장 운영시간을 따르고 수수료·세금도 안내합니다. 결과는 가족 대시보드에서 리그 순위와 각자 수익률로 확인하고, 이게 가족 대화의 트리거가 됩니다.
이렇게 쌓인 행동 데이터가 두 기능의 입력이 됩니다. 성장 아카이브는 룰 기반 엔진이 성향 5축을 계산하고 LLM은 서술만 담당합니다 — AI가 수치를 지어낼 수 없는 구조입니다. 챗봇 키웅이는 아이 눈높이로 답하고 헤매는 신호가 보이면 먼저 도와주되, 종목 추천과 예측은 절대 하지 않습니다. 이 금지 규칙은 UX 원칙이면서 동시에 투자권유 규제에 대한 방어 장치입니다.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두 번째 핵심 기능, 성장 아카이브입니다. 리그에서 쌓인 행동 데이터를 두 개의 렌즈로 읽습니다.
첫 번째 렌즈는 아이에게 보여주는 '성향 5축'입니다. 집중과 분산, 속도, 신중함, 손실 대응, 탐험심 — 다섯 축 모두 양끝에 우열이 없습니다. 한우물형과 골고루형 중 어느 쪽도 정답이 아닙니다. 아이는 매주 "재빨리 개척자형" 같은 자기 스타일 라벨을 받습니다. 점수가 아니라 스타일이라서 채점·낙인 문제를 구조적으로 피합니다.
두 번째 렌즈는 부모와 운영에 보여주는 '친화도 스코어'입니다. 근거의 성숙도, 계획-행동 일치율, 확신도 분화 같은 응답의 질 지표로 시즌 전후의 성장을 측정합니다. 접속을 많이 하면 오르는 사용량 점수가 아니라는 점이 핵심입니다.
그리고 기술적으로 — 모든 수치는 룰 기반 엔진만 계산하고, LLM은 서술만 담당합니다. AI가 숫자를 지어낼 수 없는 구조입니다.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세 번째 핵심 기능, 플로팅 챗봇 키웅이입니다. 저희 문제 정의에서 '부모가 전문가가 아니라 가르칠 수 없다'고 했는데 — 가르치는 역할을 부모 대신 키웅이가 맡습니다.
아이가 "시장가가 뭐야?"라고 물으면 아이 눈높이로 세 문장 이내로 답합니다. 답할 수 있는 범위는 세 가지로 제한됩니다 — 앱 사용법, 투자 기초 개념, 그리고 지금 보고 있는 화면의 사실 정보. 도메인 제한입니다.
그리고 묻기를 기다리지만은 않습니다. 매수·매도 버튼을 반복해서 오가거나, 주문 확인창을 열었다 닫기를 반복하는 것 같은 '헤매는 신호' 4종이 감지되면 키웅이가 먼저 짧게 말을 겁니다. 이 선제 발화는 고정 스크립트라서 생성 리스크가 없고, 3분 간격·세션 2회 같은 발화 제한으로 간섭이 되지 않게 했습니다.
가장 중요한 건 금지 규칙입니다. 종목 추천, 매매 시점, 목표가, 예측, 훈계 — 절대 하지 않습니다. 이 금지가 UX 원칙이면서 동시에 투자권유 규제에 대한 방어 장치입니다.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기대효과입니다.
아이는 안전한 환경에서 직접 판단하는 경험과 '근거를 붙여 결정하는 습관'을 얻습니다. 부모는 교육 부담을 덜게 됩니다 — 가르치는 건 키웅이가, 읽어주는 건 리포트가 하니까요. 그리고 가족에게는 "아빠는 뭐 샀어?"라는 대화가 생깁니다.
키움 입장에서는 미성년 계좌의 신규 개설과 방치 계좌 활성화, 부모·자녀 동반 활성 가족이라는 세대 단위 접점, 그리고 자녀의 첫 투자 경험 선점을 얻습니다.
한 가지 원칙을 말씀드리면 — 저희는 "투자 실력이 늘어난다", "수익률이 좋아진다"는 말을 하지 않습니다. 습관, 이해, 대화, 계좌 활성처럼 실제로 확인 가능한 효용만 약속합니다.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진행 상황입니다. 문제 조사, 페르소나, 기능 설계, 규제 검토까지 마쳤고, 흩어져 있던 기획 문서를 단일 마스터 v2로 통합해 GitHub으로 관리하고 있습니다. 설문 회수와 와이어프레임이 진행 중이고, 구현은 이제 시작합니다.
검증은 두 갈래입니다. PoC-1은 가장 위험한 전제 — '부모가 정말 참여할 것인가'를 부모 8~12명 테스트로 확인합니다. 과반이 주 30분 이내면 참여하겠다고 해야 통과이고, 미달하면 후퇴안으로 수정합니다. PoC-2는 챗봇 안전성입니다. 아동 관점 시나리오 50개에서 금지 표현 누출 0건, 추천 거절률 100%가 통과선입니다.
리스크도 정직하게 공개합니다. 키움 REST API의 모의투자 지원 범위가 아직 미확인이고, 친화도 라벨과 경품 규제 검토가 남아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30초]
마지막으로, 저희 팀의 판단이 필요한 두 지점에 대해 피드백을 부탁드립니다.
플랫폼전략팀께는 — 자녀 실계좌를 참가 조건으로 둔 설계의 트레이드오프를, 현업 관점에서 어떻게 보시는지 여쭙고 싶습니다.
AIX팀께는 — 투자 친화도 ML 스코어의 라벨을 '다음 시즌 재참여 여부'로 두는 설계가 타당한지, 더 나은 프록시가 있는지 조언을 구합니다.
들어주셔서 감사합니다. 오늘 가족과 함께 키운 습관이, 10년 뒤 키움의 고객이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5A"/>
        </a:solidFill>
      </p:bgPr>
    </p:bg>
    <p:spTree>
      <p:nvGrpSpPr>
        <p:cNvPr id="1" name=""/>
        <p:cNvGrpSpPr/>
        <p:nvPr/>
      </p:nvGrpSpPr>
      <p:grpSpPr>
        <a:xfrm>
          <a:off x="0" y="0"/>
          <a:ext cx="0" cy="0"/>
          <a:chOff x="0" y="0"/>
          <a:chExt cx="0" cy="0"/>
        </a:xfrm>
      </p:grpSpPr>
      <p:sp>
        <p:nvSpPr>
          <p:cNvPr id="2" name="Shape 0"/>
          <p:cNvSpPr/>
          <p:nvPr/>
        </p:nvSpPr>
        <p:spPr>
          <a:xfrm>
            <a:off x="7223760" y="-1188720"/>
            <a:ext cx="3291840" cy="3291840"/>
          </a:xfrm>
          <a:prstGeom prst="ellipse">
            <a:avLst/>
          </a:prstGeom>
          <a:solidFill>
            <a:srgbClr val="D70082">
              <a:alpha val="18000"/>
            </a:srgbClr>
          </a:solidFill>
          <a:ln/>
        </p:spPr>
      </p:sp>
      <p:sp>
        <p:nvSpPr>
          <p:cNvPr id="3" name="Shape 1"/>
          <p:cNvSpPr/>
          <p:nvPr/>
        </p:nvSpPr>
        <p:spPr>
          <a:xfrm>
            <a:off x="-1097280" y="3566160"/>
            <a:ext cx="2926080" cy="2926080"/>
          </a:xfrm>
          <a:prstGeom prst="ellipse">
            <a:avLst/>
          </a:prstGeom>
          <a:solidFill>
            <a:srgbClr val="D70082">
              <a:alpha val="14000"/>
            </a:srgbClr>
          </a:solidFill>
          <a:ln/>
        </p:spPr>
      </p:sp>
      <p:sp>
        <p:nvSpPr>
          <p:cNvPr id="4" name="Shape 2"/>
          <p:cNvSpPr/>
          <p:nvPr/>
        </p:nvSpPr>
        <p:spPr>
          <a:xfrm>
            <a:off x="8138160" y="4023360"/>
            <a:ext cx="1371600" cy="1371600"/>
          </a:xfrm>
          <a:prstGeom prst="ellipse">
            <a:avLst/>
          </a:prstGeom>
          <a:solidFill>
            <a:srgbClr val="0A2E75">
              <a:alpha val="70000"/>
            </a:srgbClr>
          </a:solidFill>
          <a:ln/>
        </p:spPr>
      </p:sp>
      <p:sp>
        <p:nvSpPr>
          <p:cNvPr id="5" name="Text 3"/>
          <p:cNvSpPr/>
          <p:nvPr/>
        </p:nvSpPr>
        <p:spPr>
          <a:xfrm>
            <a:off x="731520" y="932688"/>
            <a:ext cx="7680960" cy="320040"/>
          </a:xfrm>
          <a:prstGeom prst="rect">
            <a:avLst/>
          </a:prstGeom>
          <a:noFill/>
          <a:ln/>
        </p:spPr>
        <p:txBody>
          <a:bodyPr wrap="square" lIns="0" tIns="0" rIns="0" bIns="0" rtlCol="0" anchor="ctr"/>
          <a:lstStyle/>
          <a:p>
            <a:pPr indent="0" marL="0">
              <a:buNone/>
            </a:pPr>
            <a:r>
              <a:rPr lang="en-US" sz="1300" b="1" spc="100" kern="0" dirty="0">
                <a:solidFill>
                  <a:srgbClr val="9DB4E8"/>
                </a:solidFill>
                <a:latin typeface="Malgun Gothic" pitchFamily="34" charset="0"/>
                <a:ea typeface="Malgun Gothic" pitchFamily="34" charset="-122"/>
                <a:cs typeface="Malgun Gothic" pitchFamily="34" charset="-120"/>
              </a:rPr>
              <a:t>2차 프로젝트 중간발표  ·  주제 : 증권</a:t>
            </a:r>
            <a:endParaRPr lang="en-US" sz="1300" dirty="0"/>
          </a:p>
        </p:txBody>
      </p:sp>
      <p:sp>
        <p:nvSpPr>
          <p:cNvPr id="6" name="Text 4"/>
          <p:cNvSpPr/>
          <p:nvPr/>
        </p:nvSpPr>
        <p:spPr>
          <a:xfrm>
            <a:off x="731520" y="1371600"/>
            <a:ext cx="7680960" cy="1051560"/>
          </a:xfrm>
          <a:prstGeom prst="rect">
            <a:avLst/>
          </a:prstGeom>
          <a:noFill/>
          <a:ln/>
        </p:spPr>
        <p:txBody>
          <a:bodyPr wrap="square" lIns="0" tIns="0" rIns="0" bIns="0" rtlCol="0" anchor="ctr"/>
          <a:lstStyle/>
          <a:p>
            <a:pPr indent="0" marL="0">
              <a:buNone/>
            </a:pPr>
            <a:r>
              <a:rPr lang="en-US" sz="6000" b="1" dirty="0">
                <a:solidFill>
                  <a:srgbClr val="FFFFFF"/>
                </a:solidFill>
                <a:latin typeface="Malgun Gothic" pitchFamily="34" charset="0"/>
                <a:ea typeface="Malgun Gothic" pitchFamily="34" charset="-122"/>
                <a:cs typeface="Malgun Gothic" pitchFamily="34" charset="-120"/>
              </a:rPr>
              <a:t>영웅 </a:t>
            </a:r>
            <a:pPr indent="0" marL="0">
              <a:buNone/>
            </a:pPr>
            <a:r>
              <a:rPr lang="en-US" sz="6000" b="1" dirty="0">
                <a:solidFill>
                  <a:srgbClr val="D70082"/>
                </a:solidFill>
                <a:latin typeface="Malgun Gothic" pitchFamily="34" charset="0"/>
                <a:ea typeface="Malgun Gothic" pitchFamily="34" charset="-122"/>
                <a:cs typeface="Malgun Gothic" pitchFamily="34" charset="-120"/>
              </a:rPr>
              <a:t>키움</a:t>
            </a:r>
            <a:endParaRPr lang="en-US" sz="6000" dirty="0"/>
          </a:p>
        </p:txBody>
      </p:sp>
      <p:sp>
        <p:nvSpPr>
          <p:cNvPr id="7" name="Text 5"/>
          <p:cNvSpPr/>
          <p:nvPr/>
        </p:nvSpPr>
        <p:spPr>
          <a:xfrm>
            <a:off x="731520" y="2542032"/>
            <a:ext cx="7680960" cy="411480"/>
          </a:xfrm>
          <a:prstGeom prst="rect">
            <a:avLst/>
          </a:prstGeom>
          <a:noFill/>
          <a:ln/>
        </p:spPr>
        <p:txBody>
          <a:bodyPr wrap="square" lIns="0" tIns="0" rIns="0" bIns="0" rtlCol="0" anchor="ctr"/>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성장 발자취가 남는 가족 단위 모의투자 플랫폼</a:t>
            </a:r>
            <a:endParaRPr lang="en-US" sz="2000" dirty="0"/>
          </a:p>
        </p:txBody>
      </p:sp>
      <p:sp>
        <p:nvSpPr>
          <p:cNvPr id="9" name="Text 6"/>
          <p:cNvSpPr/>
          <p:nvPr/>
        </p:nvSpPr>
        <p:spPr>
          <a:xfrm>
            <a:off x="731520" y="2999232"/>
            <a:ext cx="7680960" cy="320040"/>
          </a:xfrm>
          <a:prstGeom prst="rect">
            <a:avLst/>
          </a:prstGeom>
          <a:noFill/>
          <a:ln/>
        </p:spPr>
        <p:txBody>
          <a:bodyPr wrap="square" lIns="0" tIns="0" rIns="0" bIns="0" rtlCol="0" anchor="ctr"/>
          <a:lstStyle/>
          <a:p>
            <a:pPr indent="0" marL="0">
              <a:buNone/>
            </a:pPr>
            <a:r>
              <a:rPr lang="en-US" sz="1300" dirty="0">
                <a:solidFill>
                  <a:srgbClr val="C9D6F2"/>
                </a:solidFill>
                <a:latin typeface="Malgun Gothic" pitchFamily="34" charset="0"/>
                <a:ea typeface="Malgun Gothic" pitchFamily="34" charset="-122"/>
                <a:cs typeface="Malgun Gothic" pitchFamily="34" charset="-120"/>
              </a:rPr>
              <a:t>아이의 첫 투자, 가족이라는 가장 안전한 무대에서 — 어린이 눈높이 · 영웅문S# 내장</a:t>
            </a:r>
            <a:endParaRPr lang="en-US" sz="1300" dirty="0"/>
          </a:p>
        </p:txBody>
      </p:sp>
      <p:sp>
        <p:nvSpPr>
          <p:cNvPr id="10" name="Shape 7"/>
          <p:cNvSpPr/>
          <p:nvPr/>
        </p:nvSpPr>
        <p:spPr>
          <a:xfrm>
            <a:off x="731520" y="4160520"/>
            <a:ext cx="818388" cy="384048"/>
          </a:xfrm>
          <a:prstGeom prst="roundRect">
            <a:avLst>
              <a:gd name="adj" fmla="val 50000"/>
            </a:avLst>
          </a:prstGeom>
          <a:solidFill>
            <a:srgbClr val="0A2E75"/>
          </a:solidFill>
          <a:ln w="12700">
            <a:solidFill>
              <a:srgbClr val="2A4A9C"/>
            </a:solidFill>
            <a:prstDash val="solid"/>
          </a:ln>
        </p:spPr>
      </p:sp>
      <p:sp>
        <p:nvSpPr>
          <p:cNvPr id="11" name="Text 8"/>
          <p:cNvSpPr/>
          <p:nvPr/>
        </p:nvSpPr>
        <p:spPr>
          <a:xfrm>
            <a:off x="731520" y="4160520"/>
            <a:ext cx="818388" cy="384048"/>
          </a:xfrm>
          <a:prstGeom prst="rect">
            <a:avLst/>
          </a:prstGeom>
          <a:noFill/>
          <a:ln/>
        </p:spPr>
        <p:txBody>
          <a:bodyPr wrap="square" lIns="0" tIns="0" rIns="0" bIns="0" rtlCol="0" anchor="ctr"/>
          <a:lstStyle/>
          <a:p>
            <a:pPr algn="ctr" indent="0" marL="0">
              <a:buNone/>
            </a:pPr>
            <a:r>
              <a:rPr lang="en-US" sz="1050" dirty="0">
                <a:solidFill>
                  <a:srgbClr val="C9D6F2"/>
                </a:solidFill>
                <a:latin typeface="Malgun Gothic" pitchFamily="34" charset="0"/>
                <a:ea typeface="Malgun Gothic" pitchFamily="34" charset="-122"/>
                <a:cs typeface="Malgun Gothic" pitchFamily="34" charset="-120"/>
              </a:rPr>
              <a:t>팀 육개장</a:t>
            </a:r>
            <a:endParaRPr lang="en-US" sz="1050" dirty="0"/>
          </a:p>
        </p:txBody>
      </p:sp>
      <p:sp>
        <p:nvSpPr>
          <p:cNvPr id="12" name="Shape 9"/>
          <p:cNvSpPr/>
          <p:nvPr/>
        </p:nvSpPr>
        <p:spPr>
          <a:xfrm>
            <a:off x="1714500" y="4160520"/>
            <a:ext cx="1449324" cy="384048"/>
          </a:xfrm>
          <a:prstGeom prst="roundRect">
            <a:avLst>
              <a:gd name="adj" fmla="val 50000"/>
            </a:avLst>
          </a:prstGeom>
          <a:solidFill>
            <a:srgbClr val="0A2E75"/>
          </a:solidFill>
          <a:ln w="12700">
            <a:solidFill>
              <a:srgbClr val="2A4A9C"/>
            </a:solidFill>
            <a:prstDash val="solid"/>
          </a:ln>
        </p:spPr>
      </p:sp>
      <p:sp>
        <p:nvSpPr>
          <p:cNvPr id="13" name="Text 10"/>
          <p:cNvSpPr/>
          <p:nvPr/>
        </p:nvSpPr>
        <p:spPr>
          <a:xfrm>
            <a:off x="1714500" y="4160520"/>
            <a:ext cx="1449324" cy="384048"/>
          </a:xfrm>
          <a:prstGeom prst="rect">
            <a:avLst/>
          </a:prstGeom>
          <a:noFill/>
          <a:ln/>
        </p:spPr>
        <p:txBody>
          <a:bodyPr wrap="square" lIns="0" tIns="0" rIns="0" bIns="0" rtlCol="0" anchor="ctr"/>
          <a:lstStyle/>
          <a:p>
            <a:pPr algn="ctr" indent="0" marL="0">
              <a:buNone/>
            </a:pPr>
            <a:r>
              <a:rPr lang="en-US" sz="1050" dirty="0">
                <a:solidFill>
                  <a:srgbClr val="C9D6F2"/>
                </a:solidFill>
                <a:latin typeface="Malgun Gothic" pitchFamily="34" charset="0"/>
                <a:ea typeface="Malgun Gothic" pitchFamily="34" charset="-122"/>
                <a:cs typeface="Malgun Gothic" pitchFamily="34" charset="-120"/>
              </a:rPr>
              <a:t>키움증권 현직자 심사</a:t>
            </a:r>
            <a:endParaRPr lang="en-US" sz="1050" dirty="0"/>
          </a:p>
        </p:txBody>
      </p:sp>
      <p:sp>
        <p:nvSpPr>
          <p:cNvPr id="14" name="Shape 11"/>
          <p:cNvSpPr/>
          <p:nvPr/>
        </p:nvSpPr>
        <p:spPr>
          <a:xfrm>
            <a:off x="3328416" y="4160520"/>
            <a:ext cx="1975104" cy="384048"/>
          </a:xfrm>
          <a:prstGeom prst="roundRect">
            <a:avLst>
              <a:gd name="adj" fmla="val 50000"/>
            </a:avLst>
          </a:prstGeom>
          <a:solidFill>
            <a:srgbClr val="0A2E75"/>
          </a:solidFill>
          <a:ln w="12700">
            <a:solidFill>
              <a:srgbClr val="2A4A9C"/>
            </a:solidFill>
            <a:prstDash val="solid"/>
          </a:ln>
        </p:spPr>
      </p:sp>
      <p:sp>
        <p:nvSpPr>
          <p:cNvPr id="15" name="Text 12"/>
          <p:cNvSpPr/>
          <p:nvPr/>
        </p:nvSpPr>
        <p:spPr>
          <a:xfrm>
            <a:off x="3328416" y="4160520"/>
            <a:ext cx="1975104" cy="384048"/>
          </a:xfrm>
          <a:prstGeom prst="rect">
            <a:avLst/>
          </a:prstGeom>
          <a:noFill/>
          <a:ln/>
        </p:spPr>
        <p:txBody>
          <a:bodyPr wrap="square" lIns="0" tIns="0" rIns="0" bIns="0" rtlCol="0" anchor="ctr"/>
          <a:lstStyle/>
          <a:p>
            <a:pPr algn="ctr" indent="0" marL="0">
              <a:buNone/>
            </a:pPr>
            <a:r>
              <a:rPr lang="en-US" sz="1050" dirty="0">
                <a:solidFill>
                  <a:srgbClr val="C9D6F2"/>
                </a:solidFill>
                <a:latin typeface="Malgun Gothic" pitchFamily="34" charset="0"/>
                <a:ea typeface="Malgun Gothic" pitchFamily="34" charset="-122"/>
                <a:cs typeface="Malgun Gothic" pitchFamily="34" charset="-120"/>
              </a:rPr>
              <a:t>기준 문서 : 기획 통합 v2</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200" kern="0" dirty="0">
                <a:solidFill>
                  <a:srgbClr val="D70082"/>
                </a:solidFill>
                <a:latin typeface="Malgun Gothic" pitchFamily="34" charset="0"/>
                <a:ea typeface="Malgun Gothic" pitchFamily="34" charset="-122"/>
                <a:cs typeface="Malgun Gothic" pitchFamily="34" charset="-120"/>
              </a:rPr>
              <a:t>SLIDE 02 — 사용자와 이용 상황</a:t>
            </a:r>
            <a:endParaRPr lang="en-US" sz="1100" dirty="0"/>
          </a:p>
        </p:txBody>
      </p:sp>
      <p:sp>
        <p:nvSpPr>
          <p:cNvPr id="3" name="Text 1"/>
          <p:cNvSpPr/>
          <p:nvPr/>
        </p:nvSpPr>
        <p:spPr>
          <a:xfrm>
            <a:off x="502920" y="530352"/>
            <a:ext cx="8138160" cy="502920"/>
          </a:xfrm>
          <a:prstGeom prst="rect">
            <a:avLst/>
          </a:prstGeom>
          <a:noFill/>
          <a:ln/>
        </p:spPr>
        <p:txBody>
          <a:bodyPr wrap="square" lIns="0" tIns="0" rIns="0" bIns="0" rtlCol="0" anchor="ctr"/>
          <a:lstStyle/>
          <a:p>
            <a:pPr indent="0" marL="0">
              <a:buNone/>
            </a:pPr>
            <a:r>
              <a:rPr lang="en-US" sz="2500" b="1" dirty="0">
                <a:solidFill>
                  <a:srgbClr val="001E5A"/>
                </a:solidFill>
                <a:latin typeface="Malgun Gothic" pitchFamily="34" charset="0"/>
                <a:ea typeface="Malgun Gothic" pitchFamily="34" charset="-122"/>
                <a:cs typeface="Malgun Gothic" pitchFamily="34" charset="-120"/>
              </a:rPr>
              <a:t>“계좌는 만들어줬는데, 그 다음이 없습니다”</a:t>
            </a:r>
            <a:endParaRPr lang="en-US" sz="2500" dirty="0"/>
          </a:p>
        </p:txBody>
      </p:sp>
      <p:sp>
        <p:nvSpPr>
          <p:cNvPr id="5" name="Text 2"/>
          <p:cNvSpPr/>
          <p:nvPr/>
        </p:nvSpPr>
        <p:spPr>
          <a:xfrm>
            <a:off x="8458200" y="4759452"/>
            <a:ext cx="411480" cy="274320"/>
          </a:xfrm>
          <a:prstGeom prst="rect">
            <a:avLst/>
          </a:prstGeom>
          <a:noFill/>
          <a:ln/>
        </p:spPr>
        <p:txBody>
          <a:bodyPr wrap="square" lIns="0" tIns="0" rIns="0" bIns="0" rtlCol="0" anchor="ctr"/>
          <a:lstStyle/>
          <a:p>
            <a:pPr algn="r" indent="0" marL="0">
              <a:buNone/>
            </a:pPr>
            <a:r>
              <a:rPr lang="en-US" sz="1000" dirty="0">
                <a:solidFill>
                  <a:srgbClr val="BEBEBE"/>
                </a:solidFill>
                <a:latin typeface="Malgun Gothic" pitchFamily="34" charset="0"/>
                <a:ea typeface="Malgun Gothic" pitchFamily="34" charset="-122"/>
                <a:cs typeface="Malgun Gothic" pitchFamily="34" charset="-120"/>
              </a:rPr>
              <a:t>02</a:t>
            </a:r>
            <a:endParaRPr lang="en-US" sz="1000" dirty="0"/>
          </a:p>
        </p:txBody>
      </p:sp>
      <p:sp>
        <p:nvSpPr>
          <p:cNvPr id="6" name="Shape 3"/>
          <p:cNvSpPr/>
          <p:nvPr/>
        </p:nvSpPr>
        <p:spPr>
          <a:xfrm>
            <a:off x="502920" y="1234440"/>
            <a:ext cx="3977640" cy="2651760"/>
          </a:xfrm>
          <a:prstGeom prst="roundRect">
            <a:avLst>
              <a:gd name="adj" fmla="val 4138"/>
            </a:avLst>
          </a:prstGeom>
          <a:solidFill>
            <a:srgbClr val="F4F6FB"/>
          </a:solidFill>
          <a:ln/>
          <a:effectLst>
            <a:outerShdw sx="100000" sy="100000" kx="0" ky="0" algn="bl" rotWithShape="0" blurRad="101600" dist="25400" dir="5400000">
              <a:srgbClr val="9AA6C0">
                <a:alpha val="25000"/>
              </a:srgbClr>
            </a:outerShdw>
          </a:effectLst>
        </p:spPr>
      </p:sp>
      <p:sp>
        <p:nvSpPr>
          <p:cNvPr id="7" name="Shape 4"/>
          <p:cNvSpPr/>
          <p:nvPr/>
        </p:nvSpPr>
        <p:spPr>
          <a:xfrm>
            <a:off x="777240" y="1508760"/>
            <a:ext cx="566928" cy="566928"/>
          </a:xfrm>
          <a:prstGeom prst="ellipse">
            <a:avLst/>
          </a:prstGeom>
          <a:solidFill>
            <a:srgbClr val="001E5A"/>
          </a:solidFill>
          <a:ln/>
        </p:spPr>
      </p:sp>
      <p:pic>
        <p:nvPicPr>
          <p:cNvPr id="8" name="Image 0" descr="preencoded.png">    </p:cNvPr>
          <p:cNvPicPr>
            <a:picLocks noChangeAspect="1"/>
          </p:cNvPicPr>
          <p:nvPr/>
        </p:nvPicPr>
        <p:blipFill>
          <a:blip r:embed="rId1"/>
          <a:stretch>
            <a:fillRect/>
          </a:stretch>
        </p:blipFill>
        <p:spPr>
          <a:xfrm>
            <a:off x="930311" y="1661831"/>
            <a:ext cx="260787" cy="260787"/>
          </a:xfrm>
          <a:prstGeom prst="rect">
            <a:avLst/>
          </a:prstGeom>
        </p:spPr>
      </p:pic>
      <p:sp>
        <p:nvSpPr>
          <p:cNvPr id="9" name="Text 5"/>
          <p:cNvSpPr/>
          <p:nvPr/>
        </p:nvSpPr>
        <p:spPr>
          <a:xfrm>
            <a:off x="1472184" y="1508760"/>
            <a:ext cx="2788920" cy="310896"/>
          </a:xfrm>
          <a:prstGeom prst="rect">
            <a:avLst/>
          </a:prstGeom>
          <a:noFill/>
          <a:ln/>
        </p:spPr>
        <p:txBody>
          <a:bodyPr wrap="square" lIns="0" tIns="0" rIns="0" bIns="0" rtlCol="0" anchor="ctr"/>
          <a:lstStyle/>
          <a:p>
            <a:pPr indent="0" marL="0">
              <a:buNone/>
            </a:pPr>
            <a:r>
              <a:rPr lang="en-US" sz="1600" b="1" dirty="0">
                <a:solidFill>
                  <a:srgbClr val="001E5A"/>
                </a:solidFill>
                <a:latin typeface="Malgun Gothic" pitchFamily="34" charset="0"/>
                <a:ea typeface="Malgun Gothic" pitchFamily="34" charset="-122"/>
                <a:cs typeface="Malgun Gothic" pitchFamily="34" charset="-120"/>
              </a:rPr>
              <a:t>부모 · 43세</a:t>
            </a:r>
            <a:endParaRPr lang="en-US" sz="1600" dirty="0"/>
          </a:p>
        </p:txBody>
      </p:sp>
      <p:sp>
        <p:nvSpPr>
          <p:cNvPr id="10" name="Text 6"/>
          <p:cNvSpPr/>
          <p:nvPr/>
        </p:nvSpPr>
        <p:spPr>
          <a:xfrm>
            <a:off x="1472184" y="1819656"/>
            <a:ext cx="2788920" cy="256032"/>
          </a:xfrm>
          <a:prstGeom prst="rect">
            <a:avLst/>
          </a:prstGeom>
          <a:noFill/>
          <a:ln/>
        </p:spPr>
        <p:txBody>
          <a:bodyPr wrap="square" lIns="0" tIns="0" rIns="0" bIns="0" rtlCol="0" anchor="ctr"/>
          <a:lstStyle/>
          <a:p>
            <a:pPr indent="0" marL="0">
              <a:buNone/>
            </a:pPr>
            <a:r>
              <a:rPr lang="en-US" sz="1050" b="1" dirty="0">
                <a:solidFill>
                  <a:srgbClr val="D70082"/>
                </a:solidFill>
                <a:latin typeface="Malgun Gothic" pitchFamily="34" charset="0"/>
                <a:ea typeface="Malgun Gothic" pitchFamily="34" charset="-122"/>
                <a:cs typeface="Malgun Gothic" pitchFamily="34" charset="-120"/>
              </a:rPr>
              <a:t>결정하는 사람</a:t>
            </a:r>
            <a:endParaRPr lang="en-US" sz="1050" dirty="0"/>
          </a:p>
        </p:txBody>
      </p:sp>
      <p:sp>
        <p:nvSpPr>
          <p:cNvPr id="11" name="Text 7"/>
          <p:cNvSpPr/>
          <p:nvPr/>
        </p:nvSpPr>
        <p:spPr>
          <a:xfrm>
            <a:off x="795528" y="2286000"/>
            <a:ext cx="3410712" cy="146304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1A1A2E"/>
                </a:solidFill>
                <a:latin typeface="Malgun Gothic" pitchFamily="34" charset="0"/>
                <a:ea typeface="Malgun Gothic" pitchFamily="34" charset="-122"/>
                <a:cs typeface="Malgun Gothic" pitchFamily="34" charset="-120"/>
              </a:rPr>
              <a:t>키움증권 계좌 보유, 종종 매매하는 일반 투자자</a:t>
            </a:r>
            <a:endParaRPr lang="en-US" sz="1200" dirty="0"/>
          </a:p>
          <a:p>
            <a:pPr marL="177800" indent="-177800">
              <a:spcAft>
                <a:spcPts val="800"/>
              </a:spcAft>
              <a:buSzPct val="100000"/>
              <a:buChar char="—"/>
            </a:pPr>
            <a:r>
              <a:rPr lang="en-US" sz="1200" dirty="0">
                <a:solidFill>
                  <a:srgbClr val="1A1A2E"/>
                </a:solidFill>
                <a:latin typeface="Malgun Gothic" pitchFamily="34" charset="0"/>
                <a:ea typeface="Malgun Gothic" pitchFamily="34" charset="-122"/>
                <a:cs typeface="Malgun Gothic" pitchFamily="34" charset="-120"/>
              </a:rPr>
              <a:t>자녀에게 투자를 경험시켜주고 싶은 교육 의지</a:t>
            </a:r>
            <a:endParaRPr lang="en-US" sz="1200" dirty="0"/>
          </a:p>
          <a:p>
            <a:pPr marL="177800" indent="-177800">
              <a:spcAft>
                <a:spcPts val="800"/>
              </a:spcAft>
              <a:buSzPct val="100000"/>
              <a:buChar char="—"/>
            </a:pPr>
            <a:r>
              <a:rPr lang="en-US" sz="1200" dirty="0">
                <a:solidFill>
                  <a:srgbClr val="1A1A2E"/>
                </a:solidFill>
                <a:latin typeface="Malgun Gothic" pitchFamily="34" charset="0"/>
                <a:ea typeface="Malgun Gothic" pitchFamily="34" charset="-122"/>
                <a:cs typeface="Malgun Gothic" pitchFamily="34" charset="-120"/>
              </a:rPr>
              <a:t>본인도 전문가는 아니라서 가르칠 방법이 없음</a:t>
            </a:r>
            <a:endParaRPr lang="en-US" sz="1200" dirty="0"/>
          </a:p>
        </p:txBody>
      </p:sp>
      <p:sp>
        <p:nvSpPr>
          <p:cNvPr id="12" name="Shape 8"/>
          <p:cNvSpPr/>
          <p:nvPr/>
        </p:nvSpPr>
        <p:spPr>
          <a:xfrm>
            <a:off x="4663440" y="1234440"/>
            <a:ext cx="3977640" cy="2651760"/>
          </a:xfrm>
          <a:prstGeom prst="roundRect">
            <a:avLst>
              <a:gd name="adj" fmla="val 4138"/>
            </a:avLst>
          </a:prstGeom>
          <a:solidFill>
            <a:srgbClr val="F4F6FB"/>
          </a:solidFill>
          <a:ln/>
          <a:effectLst>
            <a:outerShdw sx="100000" sy="100000" kx="0" ky="0" algn="bl" rotWithShape="0" blurRad="101600" dist="25400" dir="5400000">
              <a:srgbClr val="9AA6C0">
                <a:alpha val="25000"/>
              </a:srgbClr>
            </a:outerShdw>
          </a:effectLst>
        </p:spPr>
      </p:sp>
      <p:sp>
        <p:nvSpPr>
          <p:cNvPr id="13" name="Shape 9"/>
          <p:cNvSpPr/>
          <p:nvPr/>
        </p:nvSpPr>
        <p:spPr>
          <a:xfrm>
            <a:off x="4937760" y="1508760"/>
            <a:ext cx="566928" cy="566928"/>
          </a:xfrm>
          <a:prstGeom prst="ellipse">
            <a:avLst/>
          </a:prstGeom>
          <a:solidFill>
            <a:srgbClr val="001E5A"/>
          </a:solidFill>
          <a:ln/>
        </p:spPr>
      </p:sp>
      <p:pic>
        <p:nvPicPr>
          <p:cNvPr id="14" name="Image 1" descr="preencoded.png">    </p:cNvPr>
          <p:cNvPicPr>
            <a:picLocks noChangeAspect="1"/>
          </p:cNvPicPr>
          <p:nvPr/>
        </p:nvPicPr>
        <p:blipFill>
          <a:blip r:embed="rId2"/>
          <a:stretch>
            <a:fillRect/>
          </a:stretch>
        </p:blipFill>
        <p:spPr>
          <a:xfrm>
            <a:off x="5090831" y="1661831"/>
            <a:ext cx="260787" cy="260787"/>
          </a:xfrm>
          <a:prstGeom prst="rect">
            <a:avLst/>
          </a:prstGeom>
        </p:spPr>
      </p:pic>
      <p:sp>
        <p:nvSpPr>
          <p:cNvPr id="15" name="Text 10"/>
          <p:cNvSpPr/>
          <p:nvPr/>
        </p:nvSpPr>
        <p:spPr>
          <a:xfrm>
            <a:off x="5632704" y="1508760"/>
            <a:ext cx="2788920" cy="310896"/>
          </a:xfrm>
          <a:prstGeom prst="rect">
            <a:avLst/>
          </a:prstGeom>
          <a:noFill/>
          <a:ln/>
        </p:spPr>
        <p:txBody>
          <a:bodyPr wrap="square" lIns="0" tIns="0" rIns="0" bIns="0" rtlCol="0" anchor="ctr"/>
          <a:lstStyle/>
          <a:p>
            <a:pPr indent="0" marL="0">
              <a:buNone/>
            </a:pPr>
            <a:r>
              <a:rPr lang="en-US" sz="1600" b="1" dirty="0">
                <a:solidFill>
                  <a:srgbClr val="001E5A"/>
                </a:solidFill>
                <a:latin typeface="Malgun Gothic" pitchFamily="34" charset="0"/>
                <a:ea typeface="Malgun Gothic" pitchFamily="34" charset="-122"/>
                <a:cs typeface="Malgun Gothic" pitchFamily="34" charset="-120"/>
              </a:rPr>
              <a:t>자녀 · 13세 (초6)</a:t>
            </a:r>
            <a:endParaRPr lang="en-US" sz="1600" dirty="0"/>
          </a:p>
        </p:txBody>
      </p:sp>
      <p:sp>
        <p:nvSpPr>
          <p:cNvPr id="16" name="Text 11"/>
          <p:cNvSpPr/>
          <p:nvPr/>
        </p:nvSpPr>
        <p:spPr>
          <a:xfrm>
            <a:off x="5632704" y="1819656"/>
            <a:ext cx="2788920" cy="256032"/>
          </a:xfrm>
          <a:prstGeom prst="rect">
            <a:avLst/>
          </a:prstGeom>
          <a:noFill/>
          <a:ln/>
        </p:spPr>
        <p:txBody>
          <a:bodyPr wrap="square" lIns="0" tIns="0" rIns="0" bIns="0" rtlCol="0" anchor="ctr"/>
          <a:lstStyle/>
          <a:p>
            <a:pPr indent="0" marL="0">
              <a:buNone/>
            </a:pPr>
            <a:r>
              <a:rPr lang="en-US" sz="1050" b="1" dirty="0">
                <a:solidFill>
                  <a:srgbClr val="D70082"/>
                </a:solidFill>
                <a:latin typeface="Malgun Gothic" pitchFamily="34" charset="0"/>
                <a:ea typeface="Malgun Gothic" pitchFamily="34" charset="-122"/>
                <a:cs typeface="Malgun Gothic" pitchFamily="34" charset="-120"/>
              </a:rPr>
              <a:t>사용하는 사람</a:t>
            </a:r>
            <a:endParaRPr lang="en-US" sz="1050" dirty="0"/>
          </a:p>
        </p:txBody>
      </p:sp>
      <p:sp>
        <p:nvSpPr>
          <p:cNvPr id="17" name="Text 12"/>
          <p:cNvSpPr/>
          <p:nvPr/>
        </p:nvSpPr>
        <p:spPr>
          <a:xfrm>
            <a:off x="4956048" y="2286000"/>
            <a:ext cx="3410712" cy="146304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1A1A2E"/>
                </a:solidFill>
                <a:latin typeface="Malgun Gothic" pitchFamily="34" charset="0"/>
                <a:ea typeface="Malgun Gothic" pitchFamily="34" charset="-122"/>
                <a:cs typeface="Malgun Gothic" pitchFamily="34" charset="-120"/>
              </a:rPr>
              <a:t>경제·투자·주식을 아직 잘 모르고 어려워함</a:t>
            </a:r>
            <a:endParaRPr lang="en-US" sz="1200" dirty="0"/>
          </a:p>
          <a:p>
            <a:pPr marL="177800" indent="-177800">
              <a:spcAft>
                <a:spcPts val="800"/>
              </a:spcAft>
              <a:buSzPct val="100000"/>
              <a:buChar char="—"/>
            </a:pPr>
            <a:r>
              <a:rPr lang="en-US" sz="1200" dirty="0">
                <a:solidFill>
                  <a:srgbClr val="1A1A2E"/>
                </a:solidFill>
                <a:latin typeface="Malgun Gothic" pitchFamily="34" charset="0"/>
                <a:ea typeface="Malgun Gothic" pitchFamily="34" charset="-122"/>
                <a:cs typeface="Malgun Gothic" pitchFamily="34" charset="-120"/>
              </a:rPr>
              <a:t>부모와 함께 체험해보는 것을 좋아함</a:t>
            </a:r>
            <a:endParaRPr lang="en-US" sz="1200" dirty="0"/>
          </a:p>
          <a:p>
            <a:pPr marL="177800" indent="-177800">
              <a:spcAft>
                <a:spcPts val="800"/>
              </a:spcAft>
              <a:buSzPct val="100000"/>
              <a:buChar char="—"/>
            </a:pPr>
            <a:r>
              <a:rPr lang="en-US" sz="1200" dirty="0">
                <a:solidFill>
                  <a:srgbClr val="1A1A2E"/>
                </a:solidFill>
                <a:latin typeface="Malgun Gothic" pitchFamily="34" charset="0"/>
                <a:ea typeface="Malgun Gothic" pitchFamily="34" charset="-122"/>
                <a:cs typeface="Malgun Gothic" pitchFamily="34" charset="-120"/>
              </a:rPr>
              <a:t>직접 판단해볼 안전한 기회가 없음</a:t>
            </a:r>
            <a:endParaRPr lang="en-US" sz="1200" dirty="0"/>
          </a:p>
        </p:txBody>
      </p:sp>
      <p:sp>
        <p:nvSpPr>
          <p:cNvPr id="18" name="Shape 13"/>
          <p:cNvSpPr/>
          <p:nvPr/>
        </p:nvSpPr>
        <p:spPr>
          <a:xfrm>
            <a:off x="502920" y="4069080"/>
            <a:ext cx="8138160" cy="658368"/>
          </a:xfrm>
          <a:prstGeom prst="roundRect">
            <a:avLst>
              <a:gd name="adj" fmla="val 13889"/>
            </a:avLst>
          </a:prstGeom>
          <a:solidFill>
            <a:srgbClr val="FBEAF4"/>
          </a:solidFill>
          <a:ln/>
        </p:spPr>
      </p:sp>
      <p:sp>
        <p:nvSpPr>
          <p:cNvPr id="19" name="Text 14"/>
          <p:cNvSpPr/>
          <p:nvPr/>
        </p:nvSpPr>
        <p:spPr>
          <a:xfrm>
            <a:off x="777240" y="4069080"/>
            <a:ext cx="7680960" cy="658368"/>
          </a:xfrm>
          <a:prstGeom prst="rect">
            <a:avLst/>
          </a:prstGeom>
          <a:noFill/>
          <a:ln/>
        </p:spPr>
        <p:txBody>
          <a:bodyPr wrap="square" lIns="0" tIns="0" rIns="0" bIns="0" rtlCol="0" anchor="ctr"/>
          <a:lstStyle/>
          <a:p>
            <a:pPr indent="0" marL="0">
              <a:buNone/>
            </a:pPr>
            <a:r>
              <a:rPr lang="en-US" sz="1150" b="1" dirty="0">
                <a:solidFill>
                  <a:srgbClr val="D70082"/>
                </a:solidFill>
                <a:latin typeface="Malgun Gothic" pitchFamily="34" charset="0"/>
                <a:ea typeface="Malgun Gothic" pitchFamily="34" charset="-122"/>
                <a:cs typeface="Malgun Gothic" pitchFamily="34" charset="-120"/>
              </a:rPr>
              <a:t>이용 상황  </a:t>
            </a:r>
            <a:pPr indent="0" marL="0">
              <a:buNone/>
            </a:pPr>
            <a:r>
              <a:rPr lang="en-US" sz="1150" dirty="0">
                <a:solidFill>
                  <a:srgbClr val="1A1A2E"/>
                </a:solidFill>
                <a:latin typeface="Malgun Gothic" pitchFamily="34" charset="0"/>
                <a:ea typeface="Malgun Gothic" pitchFamily="34" charset="-122"/>
                <a:cs typeface="Malgun Gothic" pitchFamily="34" charset="-120"/>
              </a:rPr>
              <a:t>부모는 본인 MTS로 매매 중 · 자녀 계좌는 만들어줬거나 만들 의향 有 → 그러나 아이에게 시킬 수 있는 것이 없어 계좌를 대신 운용하거나 방치</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200" kern="0" dirty="0">
                <a:solidFill>
                  <a:srgbClr val="D70082"/>
                </a:solidFill>
                <a:latin typeface="Malgun Gothic" pitchFamily="34" charset="0"/>
                <a:ea typeface="Malgun Gothic" pitchFamily="34" charset="-122"/>
                <a:cs typeface="Malgun Gothic" pitchFamily="34" charset="-120"/>
              </a:rPr>
              <a:t>SLIDE 03 — 발견한 문제</a:t>
            </a:r>
            <a:endParaRPr lang="en-US" sz="1100" dirty="0"/>
          </a:p>
        </p:txBody>
      </p:sp>
      <p:sp>
        <p:nvSpPr>
          <p:cNvPr id="3" name="Text 1"/>
          <p:cNvSpPr/>
          <p:nvPr/>
        </p:nvSpPr>
        <p:spPr>
          <a:xfrm>
            <a:off x="502920" y="530352"/>
            <a:ext cx="8138160" cy="502920"/>
          </a:xfrm>
          <a:prstGeom prst="rect">
            <a:avLst/>
          </a:prstGeom>
          <a:noFill/>
          <a:ln/>
        </p:spPr>
        <p:txBody>
          <a:bodyPr wrap="square" lIns="0" tIns="0" rIns="0" bIns="0" rtlCol="0" anchor="ctr"/>
          <a:lstStyle/>
          <a:p>
            <a:pPr indent="0" marL="0">
              <a:buNone/>
            </a:pPr>
            <a:r>
              <a:rPr lang="en-US" sz="2500" b="1" dirty="0">
                <a:solidFill>
                  <a:srgbClr val="001E5A"/>
                </a:solidFill>
                <a:latin typeface="Malgun Gothic" pitchFamily="34" charset="0"/>
                <a:ea typeface="Malgun Gothic" pitchFamily="34" charset="-122"/>
                <a:cs typeface="Malgun Gothic" pitchFamily="34" charset="-120"/>
              </a:rPr>
              <a:t>아이가 쓸 수 있는 ‘안전한 무대’가 없다</a:t>
            </a:r>
            <a:endParaRPr lang="en-US" sz="2500" dirty="0"/>
          </a:p>
        </p:txBody>
      </p:sp>
      <p:sp>
        <p:nvSpPr>
          <p:cNvPr id="5" name="Text 2"/>
          <p:cNvSpPr/>
          <p:nvPr/>
        </p:nvSpPr>
        <p:spPr>
          <a:xfrm>
            <a:off x="8458200" y="4759452"/>
            <a:ext cx="411480" cy="274320"/>
          </a:xfrm>
          <a:prstGeom prst="rect">
            <a:avLst/>
          </a:prstGeom>
          <a:noFill/>
          <a:ln/>
        </p:spPr>
        <p:txBody>
          <a:bodyPr wrap="square" lIns="0" tIns="0" rIns="0" bIns="0" rtlCol="0" anchor="ctr"/>
          <a:lstStyle/>
          <a:p>
            <a:pPr algn="r" indent="0" marL="0">
              <a:buNone/>
            </a:pPr>
            <a:r>
              <a:rPr lang="en-US" sz="1000" dirty="0">
                <a:solidFill>
                  <a:srgbClr val="BEBEBE"/>
                </a:solidFill>
                <a:latin typeface="Malgun Gothic" pitchFamily="34" charset="0"/>
                <a:ea typeface="Malgun Gothic" pitchFamily="34" charset="-122"/>
                <a:cs typeface="Malgun Gothic" pitchFamily="34" charset="-120"/>
              </a:rPr>
              <a:t>03</a:t>
            </a:r>
            <a:endParaRPr lang="en-US" sz="1000" dirty="0"/>
          </a:p>
        </p:txBody>
      </p:sp>
      <p:sp>
        <p:nvSpPr>
          <p:cNvPr id="6" name="Shape 3"/>
          <p:cNvSpPr/>
          <p:nvPr/>
        </p:nvSpPr>
        <p:spPr>
          <a:xfrm>
            <a:off x="502920" y="1234440"/>
            <a:ext cx="2615184" cy="2514600"/>
          </a:xfrm>
          <a:prstGeom prst="roundRect">
            <a:avLst>
              <a:gd name="adj" fmla="val 4364"/>
            </a:avLst>
          </a:prstGeom>
          <a:solidFill>
            <a:srgbClr val="F4F6FB"/>
          </a:solidFill>
          <a:ln/>
          <a:effectLst>
            <a:outerShdw sx="100000" sy="100000" kx="0" ky="0" algn="bl" rotWithShape="0" blurRad="101600" dist="25400" dir="5400000">
              <a:srgbClr val="9AA6C0">
                <a:alpha val="25000"/>
              </a:srgbClr>
            </a:outerShdw>
          </a:effectLst>
        </p:spPr>
      </p:sp>
      <p:sp>
        <p:nvSpPr>
          <p:cNvPr id="7" name="Shape 4"/>
          <p:cNvSpPr/>
          <p:nvPr/>
        </p:nvSpPr>
        <p:spPr>
          <a:xfrm>
            <a:off x="758952" y="1508760"/>
            <a:ext cx="548640" cy="548640"/>
          </a:xfrm>
          <a:prstGeom prst="ellipse">
            <a:avLst/>
          </a:prstGeom>
          <a:solidFill>
            <a:srgbClr val="001E5A"/>
          </a:solidFill>
          <a:ln/>
        </p:spPr>
      </p:sp>
      <p:pic>
        <p:nvPicPr>
          <p:cNvPr id="8" name="Image 0" descr="preencoded.png">    </p:cNvPr>
          <p:cNvPicPr>
            <a:picLocks noChangeAspect="1"/>
          </p:cNvPicPr>
          <p:nvPr/>
        </p:nvPicPr>
        <p:blipFill>
          <a:blip r:embed="rId1"/>
          <a:stretch>
            <a:fillRect/>
          </a:stretch>
        </p:blipFill>
        <p:spPr>
          <a:xfrm>
            <a:off x="907085" y="1656893"/>
            <a:ext cx="252374" cy="252374"/>
          </a:xfrm>
          <a:prstGeom prst="rect">
            <a:avLst/>
          </a:prstGeom>
        </p:spPr>
      </p:pic>
      <p:sp>
        <p:nvSpPr>
          <p:cNvPr id="9" name="Text 5"/>
          <p:cNvSpPr/>
          <p:nvPr/>
        </p:nvSpPr>
        <p:spPr>
          <a:xfrm>
            <a:off x="758952" y="2194560"/>
            <a:ext cx="2103120" cy="566928"/>
          </a:xfrm>
          <a:prstGeom prst="rect">
            <a:avLst/>
          </a:prstGeom>
          <a:noFill/>
          <a:ln/>
        </p:spPr>
        <p:txBody>
          <a:bodyPr wrap="square" lIns="0" tIns="0" rIns="0" bIns="0" rtlCol="0" anchor="ctr"/>
          <a:lstStyle/>
          <a:p>
            <a:pPr indent="0" marL="0">
              <a:buNone/>
            </a:pPr>
            <a:r>
              <a:rPr lang="en-US" sz="1350" b="1" dirty="0">
                <a:solidFill>
                  <a:srgbClr val="001E5A"/>
                </a:solidFill>
                <a:latin typeface="Malgun Gothic" pitchFamily="34" charset="0"/>
                <a:ea typeface="Malgun Gothic" pitchFamily="34" charset="-122"/>
                <a:cs typeface="Malgun Gothic" pitchFamily="34" charset="-120"/>
              </a:rPr>
              <a:t>성인 기준의 MTS·모의투자</a:t>
            </a:r>
            <a:endParaRPr lang="en-US" sz="1350" dirty="0"/>
          </a:p>
        </p:txBody>
      </p:sp>
      <p:sp>
        <p:nvSpPr>
          <p:cNvPr id="10" name="Text 6"/>
          <p:cNvSpPr/>
          <p:nvPr/>
        </p:nvSpPr>
        <p:spPr>
          <a:xfrm>
            <a:off x="758952" y="2715768"/>
            <a:ext cx="2103120" cy="914400"/>
          </a:xfrm>
          <a:prstGeom prst="rect">
            <a:avLst/>
          </a:prstGeom>
          <a:noFill/>
          <a:ln/>
        </p:spPr>
        <p:txBody>
          <a:bodyPr wrap="square" lIns="0" tIns="0" rIns="0" bIns="0" rtlCol="0" anchor="ctr"/>
          <a:lstStyle/>
          <a:p>
            <a:pPr indent="0" marL="0">
              <a:lnSpc>
                <a:spcPct val="115000"/>
              </a:lnSpc>
              <a:buNone/>
            </a:pPr>
            <a:r>
              <a:rPr lang="en-US" sz="1100" dirty="0">
                <a:solidFill>
                  <a:srgbClr val="6B7280"/>
                </a:solidFill>
                <a:latin typeface="Malgun Gothic" pitchFamily="34" charset="0"/>
                <a:ea typeface="Malgun Gothic" pitchFamily="34" charset="-122"/>
                <a:cs typeface="Malgun Gothic" pitchFamily="34" charset="-120"/>
              </a:rPr>
              <a:t>용어·화면·정보량 전부 성인 기준.</a:t>
            </a:r>
            <a:endParaRPr lang="en-US" sz="1100" dirty="0"/>
          </a:p>
          <a:p>
            <a:pPr indent="0" marL="0">
              <a:lnSpc>
                <a:spcPct val="115000"/>
              </a:lnSpc>
              <a:buNone/>
            </a:pPr>
            <a:r>
              <a:rPr lang="en-US" sz="1100" dirty="0">
                <a:solidFill>
                  <a:srgbClr val="6B7280"/>
                </a:solidFill>
                <a:latin typeface="Malgun Gothic" pitchFamily="34" charset="0"/>
                <a:ea typeface="Malgun Gothic" pitchFamily="34" charset="-122"/>
                <a:cs typeface="Malgun Gothic" pitchFamily="34" charset="-120"/>
              </a:rPr>
              <a:t>미수·신용 등 위험 거래에</a:t>
            </a:r>
            <a:endParaRPr lang="en-US" sz="1100" dirty="0"/>
          </a:p>
          <a:p>
            <a:pPr indent="0" marL="0">
              <a:lnSpc>
                <a:spcPct val="115000"/>
              </a:lnSpc>
              <a:buNone/>
            </a:pPr>
            <a:r>
              <a:rPr lang="en-US" sz="1100" dirty="0">
                <a:solidFill>
                  <a:srgbClr val="6B7280"/>
                </a:solidFill>
                <a:latin typeface="Malgun Gothic" pitchFamily="34" charset="0"/>
                <a:ea typeface="Malgun Gothic" pitchFamily="34" charset="-122"/>
                <a:cs typeface="Malgun Gothic" pitchFamily="34" charset="-120"/>
              </a:rPr>
              <a:t>그대로 노출되는 구조</a:t>
            </a:r>
            <a:endParaRPr lang="en-US" sz="1100" dirty="0"/>
          </a:p>
        </p:txBody>
      </p:sp>
      <p:sp>
        <p:nvSpPr>
          <p:cNvPr id="11" name="Shape 7"/>
          <p:cNvSpPr/>
          <p:nvPr/>
        </p:nvSpPr>
        <p:spPr>
          <a:xfrm>
            <a:off x="3264408" y="1234440"/>
            <a:ext cx="2615184" cy="2514600"/>
          </a:xfrm>
          <a:prstGeom prst="roundRect">
            <a:avLst>
              <a:gd name="adj" fmla="val 4364"/>
            </a:avLst>
          </a:prstGeom>
          <a:solidFill>
            <a:srgbClr val="F4F6FB"/>
          </a:solidFill>
          <a:ln/>
          <a:effectLst>
            <a:outerShdw sx="100000" sy="100000" kx="0" ky="0" algn="bl" rotWithShape="0" blurRad="101600" dist="25400" dir="5400000">
              <a:srgbClr val="9AA6C0">
                <a:alpha val="25000"/>
              </a:srgbClr>
            </a:outerShdw>
          </a:effectLst>
        </p:spPr>
      </p:sp>
      <p:sp>
        <p:nvSpPr>
          <p:cNvPr id="12" name="Shape 8"/>
          <p:cNvSpPr/>
          <p:nvPr/>
        </p:nvSpPr>
        <p:spPr>
          <a:xfrm>
            <a:off x="3520440" y="1508760"/>
            <a:ext cx="548640" cy="548640"/>
          </a:xfrm>
          <a:prstGeom prst="ellipse">
            <a:avLst/>
          </a:prstGeom>
          <a:solidFill>
            <a:srgbClr val="D70082"/>
          </a:solidFill>
          <a:ln/>
        </p:spPr>
      </p:sp>
      <p:pic>
        <p:nvPicPr>
          <p:cNvPr id="13" name="Image 1" descr="preencoded.png">    </p:cNvPr>
          <p:cNvPicPr>
            <a:picLocks noChangeAspect="1"/>
          </p:cNvPicPr>
          <p:nvPr/>
        </p:nvPicPr>
        <p:blipFill>
          <a:blip r:embed="rId2"/>
          <a:stretch>
            <a:fillRect/>
          </a:stretch>
        </p:blipFill>
        <p:spPr>
          <a:xfrm>
            <a:off x="3668573" y="1656893"/>
            <a:ext cx="252374" cy="252374"/>
          </a:xfrm>
          <a:prstGeom prst="rect">
            <a:avLst/>
          </a:prstGeom>
        </p:spPr>
      </p:pic>
      <p:sp>
        <p:nvSpPr>
          <p:cNvPr id="14" name="Text 9"/>
          <p:cNvSpPr/>
          <p:nvPr/>
        </p:nvSpPr>
        <p:spPr>
          <a:xfrm>
            <a:off x="3520440" y="2194560"/>
            <a:ext cx="2103120" cy="566928"/>
          </a:xfrm>
          <a:prstGeom prst="rect">
            <a:avLst/>
          </a:prstGeom>
          <a:noFill/>
          <a:ln/>
        </p:spPr>
        <p:txBody>
          <a:bodyPr wrap="square" lIns="0" tIns="0" rIns="0" bIns="0" rtlCol="0" anchor="ctr"/>
          <a:lstStyle/>
          <a:p>
            <a:pPr indent="0" marL="0">
              <a:buNone/>
            </a:pPr>
            <a:r>
              <a:rPr lang="en-US" sz="1350" b="1" dirty="0">
                <a:solidFill>
                  <a:srgbClr val="001E5A"/>
                </a:solidFill>
                <a:latin typeface="Malgun Gothic" pitchFamily="34" charset="0"/>
                <a:ea typeface="Malgun Gothic" pitchFamily="34" charset="-122"/>
                <a:cs typeface="Malgun Gothic" pitchFamily="34" charset="-120"/>
              </a:rPr>
              <a:t>부모의 교육 부담</a:t>
            </a:r>
            <a:endParaRPr lang="en-US" sz="1350" dirty="0"/>
          </a:p>
        </p:txBody>
      </p:sp>
      <p:sp>
        <p:nvSpPr>
          <p:cNvPr id="15" name="Text 10"/>
          <p:cNvSpPr/>
          <p:nvPr/>
        </p:nvSpPr>
        <p:spPr>
          <a:xfrm>
            <a:off x="3520440" y="2715768"/>
            <a:ext cx="2103120" cy="914400"/>
          </a:xfrm>
          <a:prstGeom prst="rect">
            <a:avLst/>
          </a:prstGeom>
          <a:noFill/>
          <a:ln/>
        </p:spPr>
        <p:txBody>
          <a:bodyPr wrap="square" lIns="0" tIns="0" rIns="0" bIns="0" rtlCol="0" anchor="ctr"/>
          <a:lstStyle/>
          <a:p>
            <a:pPr indent="0" marL="0">
              <a:lnSpc>
                <a:spcPct val="115000"/>
              </a:lnSpc>
              <a:buNone/>
            </a:pPr>
            <a:r>
              <a:rPr lang="en-US" sz="1100" dirty="0">
                <a:solidFill>
                  <a:srgbClr val="6B7280"/>
                </a:solidFill>
                <a:latin typeface="Malgun Gothic" pitchFamily="34" charset="0"/>
                <a:ea typeface="Malgun Gothic" pitchFamily="34" charset="-122"/>
                <a:cs typeface="Malgun Gothic" pitchFamily="34" charset="-120"/>
              </a:rPr>
              <a:t>부모도 전문가라는 보장이 없음.</a:t>
            </a:r>
            <a:endParaRPr lang="en-US" sz="1100" dirty="0"/>
          </a:p>
          <a:p>
            <a:pPr indent="0" marL="0">
              <a:lnSpc>
                <a:spcPct val="115000"/>
              </a:lnSpc>
              <a:buNone/>
            </a:pPr>
            <a:r>
              <a:rPr lang="en-US" sz="1100" dirty="0">
                <a:solidFill>
                  <a:srgbClr val="6B7280"/>
                </a:solidFill>
                <a:latin typeface="Malgun Gothic" pitchFamily="34" charset="0"/>
                <a:ea typeface="Malgun Gothic" pitchFamily="34" charset="-122"/>
                <a:cs typeface="Malgun Gothic" pitchFamily="34" charset="-120"/>
              </a:rPr>
              <a:t>가르칠 방법론도,</a:t>
            </a:r>
            <a:endParaRPr lang="en-US" sz="1100" dirty="0"/>
          </a:p>
          <a:p>
            <a:pPr indent="0" marL="0">
              <a:lnSpc>
                <a:spcPct val="115000"/>
              </a:lnSpc>
              <a:buNone/>
            </a:pPr>
            <a:r>
              <a:rPr lang="en-US" sz="1100" dirty="0">
                <a:solidFill>
                  <a:srgbClr val="6B7280"/>
                </a:solidFill>
                <a:latin typeface="Malgun Gothic" pitchFamily="34" charset="0"/>
                <a:ea typeface="Malgun Gothic" pitchFamily="34" charset="-122"/>
                <a:cs typeface="Malgun Gothic" pitchFamily="34" charset="-120"/>
              </a:rPr>
              <a:t>함께 쓸 도구도 없음</a:t>
            </a:r>
            <a:endParaRPr lang="en-US" sz="1100" dirty="0"/>
          </a:p>
        </p:txBody>
      </p:sp>
      <p:sp>
        <p:nvSpPr>
          <p:cNvPr id="16" name="Shape 11"/>
          <p:cNvSpPr/>
          <p:nvPr/>
        </p:nvSpPr>
        <p:spPr>
          <a:xfrm>
            <a:off x="6025896" y="1234440"/>
            <a:ext cx="2615184" cy="2514600"/>
          </a:xfrm>
          <a:prstGeom prst="roundRect">
            <a:avLst>
              <a:gd name="adj" fmla="val 4364"/>
            </a:avLst>
          </a:prstGeom>
          <a:solidFill>
            <a:srgbClr val="F4F6FB"/>
          </a:solidFill>
          <a:ln/>
          <a:effectLst>
            <a:outerShdw sx="100000" sy="100000" kx="0" ky="0" algn="bl" rotWithShape="0" blurRad="101600" dist="25400" dir="5400000">
              <a:srgbClr val="9AA6C0">
                <a:alpha val="25000"/>
              </a:srgbClr>
            </a:outerShdw>
          </a:effectLst>
        </p:spPr>
      </p:sp>
      <p:sp>
        <p:nvSpPr>
          <p:cNvPr id="17" name="Shape 12"/>
          <p:cNvSpPr/>
          <p:nvPr/>
        </p:nvSpPr>
        <p:spPr>
          <a:xfrm>
            <a:off x="6281928" y="1508760"/>
            <a:ext cx="548640" cy="548640"/>
          </a:xfrm>
          <a:prstGeom prst="ellipse">
            <a:avLst/>
          </a:prstGeom>
          <a:solidFill>
            <a:srgbClr val="001E5A"/>
          </a:solidFill>
          <a:ln/>
        </p:spPr>
      </p:sp>
      <p:pic>
        <p:nvPicPr>
          <p:cNvPr id="18" name="Image 2" descr="preencoded.png">    </p:cNvPr>
          <p:cNvPicPr>
            <a:picLocks noChangeAspect="1"/>
          </p:cNvPicPr>
          <p:nvPr/>
        </p:nvPicPr>
        <p:blipFill>
          <a:blip r:embed="rId3"/>
          <a:stretch>
            <a:fillRect/>
          </a:stretch>
        </p:blipFill>
        <p:spPr>
          <a:xfrm>
            <a:off x="6430061" y="1656893"/>
            <a:ext cx="252374" cy="252374"/>
          </a:xfrm>
          <a:prstGeom prst="rect">
            <a:avLst/>
          </a:prstGeom>
        </p:spPr>
      </p:pic>
      <p:sp>
        <p:nvSpPr>
          <p:cNvPr id="19" name="Text 13"/>
          <p:cNvSpPr/>
          <p:nvPr/>
        </p:nvSpPr>
        <p:spPr>
          <a:xfrm>
            <a:off x="6281928" y="2194560"/>
            <a:ext cx="2103120" cy="566928"/>
          </a:xfrm>
          <a:prstGeom prst="rect">
            <a:avLst/>
          </a:prstGeom>
          <a:noFill/>
          <a:ln/>
        </p:spPr>
        <p:txBody>
          <a:bodyPr wrap="square" lIns="0" tIns="0" rIns="0" bIns="0" rtlCol="0" anchor="ctr"/>
          <a:lstStyle/>
          <a:p>
            <a:pPr indent="0" marL="0">
              <a:buNone/>
            </a:pPr>
            <a:r>
              <a:rPr lang="en-US" sz="1350" b="1" dirty="0">
                <a:solidFill>
                  <a:srgbClr val="001E5A"/>
                </a:solidFill>
                <a:latin typeface="Malgun Gothic" pitchFamily="34" charset="0"/>
                <a:ea typeface="Malgun Gothic" pitchFamily="34" charset="-122"/>
                <a:cs typeface="Malgun Gothic" pitchFamily="34" charset="-120"/>
              </a:rPr>
              <a:t>개인 경쟁 중심 모의투자</a:t>
            </a:r>
            <a:endParaRPr lang="en-US" sz="1350" dirty="0"/>
          </a:p>
        </p:txBody>
      </p:sp>
      <p:sp>
        <p:nvSpPr>
          <p:cNvPr id="20" name="Text 14"/>
          <p:cNvSpPr/>
          <p:nvPr/>
        </p:nvSpPr>
        <p:spPr>
          <a:xfrm>
            <a:off x="6281928" y="2715768"/>
            <a:ext cx="2103120" cy="914400"/>
          </a:xfrm>
          <a:prstGeom prst="rect">
            <a:avLst/>
          </a:prstGeom>
          <a:noFill/>
          <a:ln/>
        </p:spPr>
        <p:txBody>
          <a:bodyPr wrap="square" lIns="0" tIns="0" rIns="0" bIns="0" rtlCol="0" anchor="ctr"/>
          <a:lstStyle/>
          <a:p>
            <a:pPr indent="0" marL="0">
              <a:lnSpc>
                <a:spcPct val="115000"/>
              </a:lnSpc>
              <a:buNone/>
            </a:pPr>
            <a:r>
              <a:rPr lang="en-US" sz="1100" dirty="0">
                <a:solidFill>
                  <a:srgbClr val="6B7280"/>
                </a:solidFill>
                <a:latin typeface="Malgun Gothic" pitchFamily="34" charset="0"/>
                <a:ea typeface="Malgun Gothic" pitchFamily="34" charset="-122"/>
                <a:cs typeface="Malgun Gothic" pitchFamily="34" charset="-120"/>
              </a:rPr>
              <a:t>기존 모의투자는 개인 수익률</a:t>
            </a:r>
            <a:endParaRPr lang="en-US" sz="1100" dirty="0"/>
          </a:p>
          <a:p>
            <a:pPr indent="0" marL="0">
              <a:lnSpc>
                <a:spcPct val="115000"/>
              </a:lnSpc>
              <a:buNone/>
            </a:pPr>
            <a:r>
              <a:rPr lang="en-US" sz="1100" dirty="0">
                <a:solidFill>
                  <a:srgbClr val="6B7280"/>
                </a:solidFill>
                <a:latin typeface="Malgun Gothic" pitchFamily="34" charset="0"/>
                <a:ea typeface="Malgun Gothic" pitchFamily="34" charset="-122"/>
                <a:cs typeface="Malgun Gothic" pitchFamily="34" charset="-120"/>
              </a:rPr>
              <a:t>랭킹 중심 — 가족이 함께할</a:t>
            </a:r>
            <a:endParaRPr lang="en-US" sz="1100" dirty="0"/>
          </a:p>
          <a:p>
            <a:pPr indent="0" marL="0">
              <a:lnSpc>
                <a:spcPct val="115000"/>
              </a:lnSpc>
              <a:buNone/>
            </a:pPr>
            <a:r>
              <a:rPr lang="en-US" sz="1100" dirty="0">
                <a:solidFill>
                  <a:srgbClr val="6B7280"/>
                </a:solidFill>
                <a:latin typeface="Malgun Gothic" pitchFamily="34" charset="0"/>
                <a:ea typeface="Malgun Gothic" pitchFamily="34" charset="-122"/>
                <a:cs typeface="Malgun Gothic" pitchFamily="34" charset="-120"/>
              </a:rPr>
              <a:t>맥락이 존재하지 않음</a:t>
            </a:r>
            <a:endParaRPr lang="en-US" sz="1100" dirty="0"/>
          </a:p>
        </p:txBody>
      </p:sp>
      <p:sp>
        <p:nvSpPr>
          <p:cNvPr id="21" name="Shape 15"/>
          <p:cNvSpPr/>
          <p:nvPr/>
        </p:nvSpPr>
        <p:spPr>
          <a:xfrm>
            <a:off x="502920" y="4069080"/>
            <a:ext cx="8138160" cy="658368"/>
          </a:xfrm>
          <a:prstGeom prst="roundRect">
            <a:avLst>
              <a:gd name="adj" fmla="val 13889"/>
            </a:avLst>
          </a:prstGeom>
          <a:solidFill>
            <a:srgbClr val="001E5A"/>
          </a:solidFill>
          <a:ln/>
        </p:spPr>
      </p:sp>
      <p:sp>
        <p:nvSpPr>
          <p:cNvPr id="22" name="Text 16"/>
          <p:cNvSpPr/>
          <p:nvPr/>
        </p:nvSpPr>
        <p:spPr>
          <a:xfrm>
            <a:off x="777240" y="4069080"/>
            <a:ext cx="7680960" cy="658368"/>
          </a:xfrm>
          <a:prstGeom prst="rect">
            <a:avLst/>
          </a:prstGeom>
          <a:noFill/>
          <a:ln/>
        </p:spPr>
        <p:txBody>
          <a:bodyPr wrap="square" lIns="0" tIns="0" rIns="0" bIns="0" rtlCol="0" anchor="ctr"/>
          <a:lstStyle/>
          <a:p>
            <a:pPr indent="0" marL="0">
              <a:buNone/>
            </a:pPr>
            <a:r>
              <a:rPr lang="en-US" sz="1150" b="1" dirty="0">
                <a:solidFill>
                  <a:srgbClr val="FF7ABF"/>
                </a:solidFill>
                <a:latin typeface="Malgun Gothic" pitchFamily="34" charset="0"/>
                <a:ea typeface="Malgun Gothic" pitchFamily="34" charset="-122"/>
                <a:cs typeface="Malgun Gothic" pitchFamily="34" charset="-120"/>
              </a:rPr>
              <a:t>결과  </a:t>
            </a:r>
            <a:pPr indent="0" marL="0">
              <a:buNone/>
            </a:pPr>
            <a:r>
              <a:rPr lang="en-US" sz="1150" dirty="0">
                <a:solidFill>
                  <a:srgbClr val="FFFFFF"/>
                </a:solidFill>
                <a:latin typeface="Malgun Gothic" pitchFamily="34" charset="0"/>
                <a:ea typeface="Malgun Gothic" pitchFamily="34" charset="-122"/>
                <a:cs typeface="Malgun Gothic" pitchFamily="34" charset="-120"/>
              </a:rPr>
              <a:t>아이는 직접 판단하며 배울 기회를 잃고 · 부모의 교육 의지는 행동으로 이어지지 못하며 · 만들어둔 자녀 계좌는 방치된다</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200" kern="0" dirty="0">
                <a:solidFill>
                  <a:srgbClr val="D70082"/>
                </a:solidFill>
                <a:latin typeface="Malgun Gothic" pitchFamily="34" charset="0"/>
                <a:ea typeface="Malgun Gothic" pitchFamily="34" charset="-122"/>
                <a:cs typeface="Malgun Gothic" pitchFamily="34" charset="-120"/>
              </a:rPr>
              <a:t>SLIDE 04 — 문제를 판단한 근거</a:t>
            </a:r>
            <a:endParaRPr lang="en-US" sz="1100" dirty="0"/>
          </a:p>
        </p:txBody>
      </p:sp>
      <p:sp>
        <p:nvSpPr>
          <p:cNvPr id="3" name="Text 1"/>
          <p:cNvSpPr/>
          <p:nvPr/>
        </p:nvSpPr>
        <p:spPr>
          <a:xfrm>
            <a:off x="502920" y="530352"/>
            <a:ext cx="8138160" cy="502920"/>
          </a:xfrm>
          <a:prstGeom prst="rect">
            <a:avLst/>
          </a:prstGeom>
          <a:noFill/>
          <a:ln/>
        </p:spPr>
        <p:txBody>
          <a:bodyPr wrap="square" lIns="0" tIns="0" rIns="0" bIns="0" rtlCol="0" anchor="ctr"/>
          <a:lstStyle/>
          <a:p>
            <a:pPr indent="0" marL="0">
              <a:buNone/>
            </a:pPr>
            <a:r>
              <a:rPr lang="en-US" sz="2500" b="1" dirty="0">
                <a:solidFill>
                  <a:srgbClr val="001E5A"/>
                </a:solidFill>
                <a:latin typeface="Malgun Gothic" pitchFamily="34" charset="0"/>
                <a:ea typeface="Malgun Gothic" pitchFamily="34" charset="-122"/>
                <a:cs typeface="Malgun Gothic" pitchFamily="34" charset="-120"/>
              </a:rPr>
              <a:t>니즈는 계좌 개설로 이미 증명 — 비어 있는 건 ‘경험’</a:t>
            </a:r>
            <a:endParaRPr lang="en-US" sz="2500" dirty="0"/>
          </a:p>
        </p:txBody>
      </p:sp>
      <p:sp>
        <p:nvSpPr>
          <p:cNvPr id="5" name="Text 2"/>
          <p:cNvSpPr/>
          <p:nvPr/>
        </p:nvSpPr>
        <p:spPr>
          <a:xfrm>
            <a:off x="8458200" y="4759452"/>
            <a:ext cx="411480" cy="274320"/>
          </a:xfrm>
          <a:prstGeom prst="rect">
            <a:avLst/>
          </a:prstGeom>
          <a:noFill/>
          <a:ln/>
        </p:spPr>
        <p:txBody>
          <a:bodyPr wrap="square" lIns="0" tIns="0" rIns="0" bIns="0" rtlCol="0" anchor="ctr"/>
          <a:lstStyle/>
          <a:p>
            <a:pPr algn="r" indent="0" marL="0">
              <a:buNone/>
            </a:pPr>
            <a:r>
              <a:rPr lang="en-US" sz="1000" dirty="0">
                <a:solidFill>
                  <a:srgbClr val="BEBEBE"/>
                </a:solidFill>
                <a:latin typeface="Malgun Gothic" pitchFamily="34" charset="0"/>
                <a:ea typeface="Malgun Gothic" pitchFamily="34" charset="-122"/>
                <a:cs typeface="Malgun Gothic" pitchFamily="34" charset="-120"/>
              </a:rPr>
              <a:t>04</a:t>
            </a:r>
            <a:endParaRPr lang="en-US" sz="1000" dirty="0"/>
          </a:p>
        </p:txBody>
      </p:sp>
      <p:sp>
        <p:nvSpPr>
          <p:cNvPr id="6" name="Shape 3"/>
          <p:cNvSpPr/>
          <p:nvPr/>
        </p:nvSpPr>
        <p:spPr>
          <a:xfrm>
            <a:off x="502920" y="1234440"/>
            <a:ext cx="2615184" cy="1481328"/>
          </a:xfrm>
          <a:prstGeom prst="roundRect">
            <a:avLst>
              <a:gd name="adj" fmla="val 7407"/>
            </a:avLst>
          </a:prstGeom>
          <a:solidFill>
            <a:srgbClr val="001E5A"/>
          </a:solidFill>
          <a:ln/>
        </p:spPr>
      </p:sp>
      <p:sp>
        <p:nvSpPr>
          <p:cNvPr id="7" name="Text 4"/>
          <p:cNvSpPr/>
          <p:nvPr/>
        </p:nvSpPr>
        <p:spPr>
          <a:xfrm>
            <a:off x="704088" y="1344168"/>
            <a:ext cx="2212848" cy="475488"/>
          </a:xfrm>
          <a:prstGeom prst="rect">
            <a:avLst/>
          </a:prstGeom>
          <a:noFill/>
          <a:ln/>
        </p:spPr>
        <p:txBody>
          <a:bodyPr wrap="square" lIns="0" tIns="0" rIns="0" bIns="0" rtlCol="0" anchor="ctr"/>
          <a:lstStyle/>
          <a:p>
            <a:pPr indent="0" marL="0">
              <a:buNone/>
            </a:pPr>
            <a:r>
              <a:rPr lang="en-US" sz="2700" b="1" dirty="0">
                <a:solidFill>
                  <a:srgbClr val="FFFFFF"/>
                </a:solidFill>
                <a:latin typeface="Malgun Gothic" pitchFamily="34" charset="0"/>
                <a:ea typeface="Malgun Gothic" pitchFamily="34" charset="-122"/>
                <a:cs typeface="Malgun Gothic" pitchFamily="34" charset="-120"/>
              </a:rPr>
              <a:t>+119%</a:t>
            </a:r>
            <a:endParaRPr lang="en-US" sz="2700" dirty="0"/>
          </a:p>
        </p:txBody>
      </p:sp>
      <p:sp>
        <p:nvSpPr>
          <p:cNvPr id="8" name="Text 5"/>
          <p:cNvSpPr/>
          <p:nvPr/>
        </p:nvSpPr>
        <p:spPr>
          <a:xfrm>
            <a:off x="704088" y="1837944"/>
            <a:ext cx="2212848" cy="292608"/>
          </a:xfrm>
          <a:prstGeom prst="rect">
            <a:avLst/>
          </a:prstGeom>
          <a:noFill/>
          <a:ln/>
        </p:spPr>
        <p:txBody>
          <a:bodyPr wrap="square" lIns="0" tIns="0" rIns="0" bIns="0" rtlCol="0" anchor="ctr"/>
          <a:lstStyle/>
          <a:p>
            <a:pPr indent="0" marL="0">
              <a:buNone/>
            </a:pPr>
            <a:r>
              <a:rPr lang="en-US" sz="1050" dirty="0">
                <a:solidFill>
                  <a:srgbClr val="C9D6F2"/>
                </a:solidFill>
                <a:latin typeface="Malgun Gothic" pitchFamily="34" charset="0"/>
                <a:ea typeface="Malgun Gothic" pitchFamily="34" charset="-122"/>
                <a:cs typeface="Malgun Gothic" pitchFamily="34" charset="-120"/>
              </a:rPr>
              <a:t>0~9세 신규 주식계좌 증가</a:t>
            </a:r>
            <a:endParaRPr lang="en-US" sz="1050" dirty="0"/>
          </a:p>
        </p:txBody>
      </p:sp>
      <p:sp>
        <p:nvSpPr>
          <p:cNvPr id="9" name="Text 6"/>
          <p:cNvSpPr/>
          <p:nvPr/>
        </p:nvSpPr>
        <p:spPr>
          <a:xfrm>
            <a:off x="704088" y="2121408"/>
            <a:ext cx="2212848" cy="274320"/>
          </a:xfrm>
          <a:prstGeom prst="rect">
            <a:avLst/>
          </a:prstGeom>
          <a:noFill/>
          <a:ln/>
        </p:spPr>
        <p:txBody>
          <a:bodyPr wrap="square" lIns="0" tIns="0" rIns="0" bIns="0" rtlCol="0" anchor="ctr"/>
          <a:lstStyle/>
          <a:p>
            <a:pPr indent="0" marL="0">
              <a:buNone/>
            </a:pPr>
            <a:r>
              <a:rPr lang="en-US" sz="1050" b="1" dirty="0">
                <a:solidFill>
                  <a:srgbClr val="FF7ABF"/>
                </a:solidFill>
                <a:latin typeface="Malgun Gothic" pitchFamily="34" charset="0"/>
                <a:ea typeface="Malgun Gothic" pitchFamily="34" charset="-122"/>
                <a:cs typeface="Malgun Gothic" pitchFamily="34" charset="-120"/>
              </a:rPr>
              <a:t>10대도 +100% 이상</a:t>
            </a:r>
            <a:endParaRPr lang="en-US" sz="1050" dirty="0"/>
          </a:p>
        </p:txBody>
      </p:sp>
      <p:sp>
        <p:nvSpPr>
          <p:cNvPr id="10" name="Text 7"/>
          <p:cNvSpPr/>
          <p:nvPr/>
        </p:nvSpPr>
        <p:spPr>
          <a:xfrm>
            <a:off x="704088" y="2404872"/>
            <a:ext cx="2212848" cy="237744"/>
          </a:xfrm>
          <a:prstGeom prst="rect">
            <a:avLst/>
          </a:prstGeom>
          <a:noFill/>
          <a:ln/>
        </p:spPr>
        <p:txBody>
          <a:bodyPr wrap="square" lIns="0" tIns="0" rIns="0" bIns="0" rtlCol="0" anchor="ctr"/>
          <a:lstStyle/>
          <a:p>
            <a:pPr indent="0" marL="0">
              <a:buNone/>
            </a:pPr>
            <a:r>
              <a:rPr lang="en-US" sz="850" dirty="0">
                <a:solidFill>
                  <a:srgbClr val="8FA5D8"/>
                </a:solidFill>
                <a:latin typeface="Malgun Gothic" pitchFamily="34" charset="0"/>
                <a:ea typeface="Malgun Gothic" pitchFamily="34" charset="-122"/>
                <a:cs typeface="Malgun Gothic" pitchFamily="34" charset="-120"/>
              </a:rPr>
              <a:t>[사실] 시장 데이터</a:t>
            </a:r>
            <a:endParaRPr lang="en-US" sz="850" dirty="0"/>
          </a:p>
        </p:txBody>
      </p:sp>
      <p:sp>
        <p:nvSpPr>
          <p:cNvPr id="11" name="Shape 8"/>
          <p:cNvSpPr/>
          <p:nvPr/>
        </p:nvSpPr>
        <p:spPr>
          <a:xfrm>
            <a:off x="3264408" y="1234440"/>
            <a:ext cx="2615184" cy="1481328"/>
          </a:xfrm>
          <a:prstGeom prst="roundRect">
            <a:avLst>
              <a:gd name="adj" fmla="val 7407"/>
            </a:avLst>
          </a:prstGeom>
          <a:solidFill>
            <a:srgbClr val="001E5A"/>
          </a:solidFill>
          <a:ln/>
        </p:spPr>
      </p:sp>
      <p:sp>
        <p:nvSpPr>
          <p:cNvPr id="12" name="Text 9"/>
          <p:cNvSpPr/>
          <p:nvPr/>
        </p:nvSpPr>
        <p:spPr>
          <a:xfrm>
            <a:off x="3465576" y="1344168"/>
            <a:ext cx="2212848" cy="475488"/>
          </a:xfrm>
          <a:prstGeom prst="rect">
            <a:avLst/>
          </a:prstGeom>
          <a:noFill/>
          <a:ln/>
        </p:spPr>
        <p:txBody>
          <a:bodyPr wrap="square" lIns="0" tIns="0" rIns="0" bIns="0" rtlCol="0" anchor="ctr"/>
          <a:lstStyle/>
          <a:p>
            <a:pPr indent="0" marL="0">
              <a:buNone/>
            </a:pPr>
            <a:r>
              <a:rPr lang="en-US" sz="2700" b="1" dirty="0">
                <a:solidFill>
                  <a:srgbClr val="FFFFFF"/>
                </a:solidFill>
                <a:latin typeface="Malgun Gothic" pitchFamily="34" charset="0"/>
                <a:ea typeface="Malgun Gothic" pitchFamily="34" charset="-122"/>
                <a:cs typeface="Malgun Gothic" pitchFamily="34" charset="-120"/>
              </a:rPr>
              <a:t>30만 명</a:t>
            </a:r>
            <a:endParaRPr lang="en-US" sz="2700" dirty="0"/>
          </a:p>
        </p:txBody>
      </p:sp>
      <p:sp>
        <p:nvSpPr>
          <p:cNvPr id="13" name="Text 10"/>
          <p:cNvSpPr/>
          <p:nvPr/>
        </p:nvSpPr>
        <p:spPr>
          <a:xfrm>
            <a:off x="3465576" y="1837944"/>
            <a:ext cx="2212848" cy="292608"/>
          </a:xfrm>
          <a:prstGeom prst="rect">
            <a:avLst/>
          </a:prstGeom>
          <a:noFill/>
          <a:ln/>
        </p:spPr>
        <p:txBody>
          <a:bodyPr wrap="square" lIns="0" tIns="0" rIns="0" bIns="0" rtlCol="0" anchor="ctr"/>
          <a:lstStyle/>
          <a:p>
            <a:pPr indent="0" marL="0">
              <a:buNone/>
            </a:pPr>
            <a:r>
              <a:rPr lang="en-US" sz="1050" dirty="0">
                <a:solidFill>
                  <a:srgbClr val="C9D6F2"/>
                </a:solidFill>
                <a:latin typeface="Malgun Gothic" pitchFamily="34" charset="0"/>
                <a:ea typeface="Malgun Gothic" pitchFamily="34" charset="-122"/>
                <a:cs typeface="Malgun Gothic" pitchFamily="34" charset="-120"/>
              </a:rPr>
              <a:t>20세 미만 ETF 투자자 (2026.04)</a:t>
            </a:r>
            <a:endParaRPr lang="en-US" sz="1050" dirty="0"/>
          </a:p>
        </p:txBody>
      </p:sp>
      <p:sp>
        <p:nvSpPr>
          <p:cNvPr id="14" name="Text 11"/>
          <p:cNvSpPr/>
          <p:nvPr/>
        </p:nvSpPr>
        <p:spPr>
          <a:xfrm>
            <a:off x="3465576" y="2121408"/>
            <a:ext cx="2212848" cy="274320"/>
          </a:xfrm>
          <a:prstGeom prst="rect">
            <a:avLst/>
          </a:prstGeom>
          <a:noFill/>
          <a:ln/>
        </p:spPr>
        <p:txBody>
          <a:bodyPr wrap="square" lIns="0" tIns="0" rIns="0" bIns="0" rtlCol="0" anchor="ctr"/>
          <a:lstStyle/>
          <a:p>
            <a:pPr indent="0" marL="0">
              <a:buNone/>
            </a:pPr>
            <a:r>
              <a:rPr lang="en-US" sz="1050" b="1" dirty="0">
                <a:solidFill>
                  <a:srgbClr val="FF7ABF"/>
                </a:solidFill>
                <a:latin typeface="Malgun Gothic" pitchFamily="34" charset="0"/>
                <a:ea typeface="Malgun Gothic" pitchFamily="34" charset="-122"/>
                <a:cs typeface="Malgun Gothic" pitchFamily="34" charset="-120"/>
              </a:rPr>
              <a:t>관심은 이미 행동으로</a:t>
            </a:r>
            <a:endParaRPr lang="en-US" sz="1050" dirty="0"/>
          </a:p>
        </p:txBody>
      </p:sp>
      <p:sp>
        <p:nvSpPr>
          <p:cNvPr id="15" name="Text 12"/>
          <p:cNvSpPr/>
          <p:nvPr/>
        </p:nvSpPr>
        <p:spPr>
          <a:xfrm>
            <a:off x="3465576" y="2404872"/>
            <a:ext cx="2212848" cy="237744"/>
          </a:xfrm>
          <a:prstGeom prst="rect">
            <a:avLst/>
          </a:prstGeom>
          <a:noFill/>
          <a:ln/>
        </p:spPr>
        <p:txBody>
          <a:bodyPr wrap="square" lIns="0" tIns="0" rIns="0" bIns="0" rtlCol="0" anchor="ctr"/>
          <a:lstStyle/>
          <a:p>
            <a:pPr indent="0" marL="0">
              <a:buNone/>
            </a:pPr>
            <a:r>
              <a:rPr lang="en-US" sz="850" dirty="0">
                <a:solidFill>
                  <a:srgbClr val="8FA5D8"/>
                </a:solidFill>
                <a:latin typeface="Malgun Gothic" pitchFamily="34" charset="0"/>
                <a:ea typeface="Malgun Gothic" pitchFamily="34" charset="-122"/>
                <a:cs typeface="Malgun Gothic" pitchFamily="34" charset="-120"/>
              </a:rPr>
              <a:t>[사실] 시장 데이터</a:t>
            </a:r>
            <a:endParaRPr lang="en-US" sz="850" dirty="0"/>
          </a:p>
        </p:txBody>
      </p:sp>
      <p:sp>
        <p:nvSpPr>
          <p:cNvPr id="16" name="Shape 13"/>
          <p:cNvSpPr/>
          <p:nvPr/>
        </p:nvSpPr>
        <p:spPr>
          <a:xfrm>
            <a:off x="6025896" y="1234440"/>
            <a:ext cx="2615184" cy="1481328"/>
          </a:xfrm>
          <a:prstGeom prst="roundRect">
            <a:avLst>
              <a:gd name="adj" fmla="val 7407"/>
            </a:avLst>
          </a:prstGeom>
          <a:solidFill>
            <a:srgbClr val="001E5A"/>
          </a:solidFill>
          <a:ln/>
        </p:spPr>
      </p:sp>
      <p:sp>
        <p:nvSpPr>
          <p:cNvPr id="17" name="Text 14"/>
          <p:cNvSpPr/>
          <p:nvPr/>
        </p:nvSpPr>
        <p:spPr>
          <a:xfrm>
            <a:off x="6227064" y="1344168"/>
            <a:ext cx="2212848" cy="475488"/>
          </a:xfrm>
          <a:prstGeom prst="rect">
            <a:avLst/>
          </a:prstGeom>
          <a:noFill/>
          <a:ln/>
        </p:spPr>
        <p:txBody>
          <a:bodyPr wrap="square" lIns="0" tIns="0" rIns="0" bIns="0" rtlCol="0" anchor="ctr"/>
          <a:lstStyle/>
          <a:p>
            <a:pPr indent="0" marL="0">
              <a:buNone/>
            </a:pPr>
            <a:r>
              <a:rPr lang="en-US" sz="2700" b="1" dirty="0">
                <a:solidFill>
                  <a:srgbClr val="FFFFFF"/>
                </a:solidFill>
                <a:latin typeface="Malgun Gothic" pitchFamily="34" charset="0"/>
                <a:ea typeface="Malgun Gothic" pitchFamily="34" charset="-122"/>
                <a:cs typeface="Malgun Gothic" pitchFamily="34" charset="-120"/>
              </a:rPr>
              <a:t>33만 명</a:t>
            </a:r>
            <a:endParaRPr lang="en-US" sz="2700" dirty="0"/>
          </a:p>
        </p:txBody>
      </p:sp>
      <p:sp>
        <p:nvSpPr>
          <p:cNvPr id="18" name="Text 15"/>
          <p:cNvSpPr/>
          <p:nvPr/>
        </p:nvSpPr>
        <p:spPr>
          <a:xfrm>
            <a:off x="6227064" y="1837944"/>
            <a:ext cx="2212848" cy="292608"/>
          </a:xfrm>
          <a:prstGeom prst="rect">
            <a:avLst/>
          </a:prstGeom>
          <a:noFill/>
          <a:ln/>
        </p:spPr>
        <p:txBody>
          <a:bodyPr wrap="square" lIns="0" tIns="0" rIns="0" bIns="0" rtlCol="0" anchor="ctr"/>
          <a:lstStyle/>
          <a:p>
            <a:pPr indent="0" marL="0">
              <a:buNone/>
            </a:pPr>
            <a:r>
              <a:rPr lang="en-US" sz="1050" dirty="0">
                <a:solidFill>
                  <a:srgbClr val="C9D6F2"/>
                </a:solidFill>
                <a:latin typeface="Malgun Gothic" pitchFamily="34" charset="0"/>
                <a:ea typeface="Malgun Gothic" pitchFamily="34" charset="-122"/>
                <a:cs typeface="Malgun Gothic" pitchFamily="34" charset="-120"/>
              </a:rPr>
              <a:t>퍼핀 가입자 — 가족 대회 운영</a:t>
            </a:r>
            <a:endParaRPr lang="en-US" sz="1050" dirty="0"/>
          </a:p>
        </p:txBody>
      </p:sp>
      <p:sp>
        <p:nvSpPr>
          <p:cNvPr id="19" name="Text 16"/>
          <p:cNvSpPr/>
          <p:nvPr/>
        </p:nvSpPr>
        <p:spPr>
          <a:xfrm>
            <a:off x="6227064" y="2121408"/>
            <a:ext cx="2212848" cy="274320"/>
          </a:xfrm>
          <a:prstGeom prst="rect">
            <a:avLst/>
          </a:prstGeom>
          <a:noFill/>
          <a:ln/>
        </p:spPr>
        <p:txBody>
          <a:bodyPr wrap="square" lIns="0" tIns="0" rIns="0" bIns="0" rtlCol="0" anchor="ctr"/>
          <a:lstStyle/>
          <a:p>
            <a:pPr indent="0" marL="0">
              <a:buNone/>
            </a:pPr>
            <a:r>
              <a:rPr lang="en-US" sz="1050" b="1" dirty="0">
                <a:solidFill>
                  <a:srgbClr val="FF7ABF"/>
                </a:solidFill>
                <a:latin typeface="Malgun Gothic" pitchFamily="34" charset="0"/>
                <a:ea typeface="Malgun Gothic" pitchFamily="34" charset="-122"/>
                <a:cs typeface="Malgun Gothic" pitchFamily="34" charset="-120"/>
              </a:rPr>
              <a:t>단, 가족 간 ‘순위 비교’뿐</a:t>
            </a:r>
            <a:endParaRPr lang="en-US" sz="1050" dirty="0"/>
          </a:p>
        </p:txBody>
      </p:sp>
      <p:sp>
        <p:nvSpPr>
          <p:cNvPr id="20" name="Text 17"/>
          <p:cNvSpPr/>
          <p:nvPr/>
        </p:nvSpPr>
        <p:spPr>
          <a:xfrm>
            <a:off x="6227064" y="2404872"/>
            <a:ext cx="2212848" cy="237744"/>
          </a:xfrm>
          <a:prstGeom prst="rect">
            <a:avLst/>
          </a:prstGeom>
          <a:noFill/>
          <a:ln/>
        </p:spPr>
        <p:txBody>
          <a:bodyPr wrap="square" lIns="0" tIns="0" rIns="0" bIns="0" rtlCol="0" anchor="ctr"/>
          <a:lstStyle/>
          <a:p>
            <a:pPr indent="0" marL="0">
              <a:buNone/>
            </a:pPr>
            <a:r>
              <a:rPr lang="en-US" sz="850" dirty="0">
                <a:solidFill>
                  <a:srgbClr val="8FA5D8"/>
                </a:solidFill>
                <a:latin typeface="Malgun Gothic" pitchFamily="34" charset="0"/>
                <a:ea typeface="Malgun Gothic" pitchFamily="34" charset="-122"/>
                <a:cs typeface="Malgun Gothic" pitchFamily="34" charset="-120"/>
              </a:rPr>
              <a:t>[사실] 경쟁 분석</a:t>
            </a:r>
            <a:endParaRPr lang="en-US" sz="850" dirty="0"/>
          </a:p>
        </p:txBody>
      </p:sp>
      <p:sp>
        <p:nvSpPr>
          <p:cNvPr id="21" name="Shape 18"/>
          <p:cNvSpPr/>
          <p:nvPr/>
        </p:nvSpPr>
        <p:spPr>
          <a:xfrm>
            <a:off x="502920" y="2935224"/>
            <a:ext cx="402336" cy="402336"/>
          </a:xfrm>
          <a:prstGeom prst="ellipse">
            <a:avLst/>
          </a:prstGeom>
          <a:solidFill>
            <a:srgbClr val="001E5A"/>
          </a:solidFill>
          <a:ln/>
        </p:spPr>
      </p:sp>
      <p:pic>
        <p:nvPicPr>
          <p:cNvPr id="22" name="Image 0" descr="preencoded.png">    </p:cNvPr>
          <p:cNvPicPr>
            <a:picLocks noChangeAspect="1"/>
          </p:cNvPicPr>
          <p:nvPr/>
        </p:nvPicPr>
        <p:blipFill>
          <a:blip r:embed="rId1"/>
          <a:stretch>
            <a:fillRect/>
          </a:stretch>
        </p:blipFill>
        <p:spPr>
          <a:xfrm>
            <a:off x="611551" y="3043855"/>
            <a:ext cx="185075" cy="185075"/>
          </a:xfrm>
          <a:prstGeom prst="rect">
            <a:avLst/>
          </a:prstGeom>
        </p:spPr>
      </p:pic>
      <p:sp>
        <p:nvSpPr>
          <p:cNvPr id="23" name="Text 19"/>
          <p:cNvSpPr/>
          <p:nvPr/>
        </p:nvSpPr>
        <p:spPr>
          <a:xfrm>
            <a:off x="1051560" y="2907792"/>
            <a:ext cx="7589520" cy="475488"/>
          </a:xfrm>
          <a:prstGeom prst="rect">
            <a:avLst/>
          </a:prstGeom>
          <a:noFill/>
          <a:ln/>
        </p:spPr>
        <p:txBody>
          <a:bodyPr wrap="square" lIns="0" tIns="0" rIns="0" bIns="0" rtlCol="0" anchor="ctr"/>
          <a:lstStyle/>
          <a:p>
            <a:pPr indent="0" marL="0">
              <a:buNone/>
            </a:pPr>
            <a:r>
              <a:rPr lang="en-US" sz="1200" b="1" dirty="0">
                <a:solidFill>
                  <a:srgbClr val="001E5A"/>
                </a:solidFill>
                <a:latin typeface="Malgun Gothic" pitchFamily="34" charset="0"/>
                <a:ea typeface="Malgun Gothic" pitchFamily="34" charset="-122"/>
                <a:cs typeface="Malgun Gothic" pitchFamily="34" charset="-120"/>
              </a:rPr>
              <a:t>경쟁 공백 [사실]   </a:t>
            </a:r>
            <a:pPr indent="0" marL="0">
              <a:buNone/>
            </a:pPr>
            <a:r>
              <a:rPr lang="en-US" sz="1100" dirty="0">
                <a:solidFill>
                  <a:srgbClr val="6B7280"/>
                </a:solidFill>
                <a:latin typeface="Malgun Gothic" pitchFamily="34" charset="0"/>
                <a:ea typeface="Malgun Gothic" pitchFamily="34" charset="-122"/>
                <a:cs typeface="Malgun Gothic" pitchFamily="34" charset="-120"/>
              </a:rPr>
              <a:t>‘가족 단위 + 아이 눈높이 + AI 분석’ 조합은 국내외 미발견 (국내 9건·영어권 4쿼리 탐색) — 선점 가능한 공백</a:t>
            </a:r>
            <a:endParaRPr lang="en-US" sz="1200" dirty="0"/>
          </a:p>
        </p:txBody>
      </p:sp>
      <p:sp>
        <p:nvSpPr>
          <p:cNvPr id="24" name="Shape 20"/>
          <p:cNvSpPr/>
          <p:nvPr/>
        </p:nvSpPr>
        <p:spPr>
          <a:xfrm>
            <a:off x="502920" y="3465576"/>
            <a:ext cx="402336" cy="402336"/>
          </a:xfrm>
          <a:prstGeom prst="ellipse">
            <a:avLst/>
          </a:prstGeom>
          <a:solidFill>
            <a:srgbClr val="001E5A"/>
          </a:solidFill>
          <a:ln/>
        </p:spPr>
      </p:sp>
      <p:pic>
        <p:nvPicPr>
          <p:cNvPr id="25" name="Image 1" descr="preencoded.png">    </p:cNvPr>
          <p:cNvPicPr>
            <a:picLocks noChangeAspect="1"/>
          </p:cNvPicPr>
          <p:nvPr/>
        </p:nvPicPr>
        <p:blipFill>
          <a:blip r:embed="rId2"/>
          <a:stretch>
            <a:fillRect/>
          </a:stretch>
        </p:blipFill>
        <p:spPr>
          <a:xfrm>
            <a:off x="611551" y="3574207"/>
            <a:ext cx="185075" cy="185075"/>
          </a:xfrm>
          <a:prstGeom prst="rect">
            <a:avLst/>
          </a:prstGeom>
        </p:spPr>
      </p:pic>
      <p:sp>
        <p:nvSpPr>
          <p:cNvPr id="26" name="Text 21"/>
          <p:cNvSpPr/>
          <p:nvPr/>
        </p:nvSpPr>
        <p:spPr>
          <a:xfrm>
            <a:off x="1051560" y="3438144"/>
            <a:ext cx="7589520" cy="475488"/>
          </a:xfrm>
          <a:prstGeom prst="rect">
            <a:avLst/>
          </a:prstGeom>
          <a:noFill/>
          <a:ln/>
        </p:spPr>
        <p:txBody>
          <a:bodyPr wrap="square" lIns="0" tIns="0" rIns="0" bIns="0" rtlCol="0" anchor="ctr"/>
          <a:lstStyle/>
          <a:p>
            <a:pPr indent="0" marL="0">
              <a:buNone/>
            </a:pPr>
            <a:r>
              <a:rPr lang="en-US" sz="1200" b="1" dirty="0">
                <a:solidFill>
                  <a:srgbClr val="001E5A"/>
                </a:solidFill>
                <a:latin typeface="Malgun Gothic" pitchFamily="34" charset="0"/>
                <a:ea typeface="Malgun Gothic" pitchFamily="34" charset="-122"/>
                <a:cs typeface="Malgun Gothic" pitchFamily="34" charset="-120"/>
              </a:rPr>
              <a:t>기존 서비스 분석   </a:t>
            </a:r>
            <a:pPr indent="0" marL="0">
              <a:buNone/>
            </a:pPr>
            <a:r>
              <a:rPr lang="en-US" sz="1100" dirty="0">
                <a:solidFill>
                  <a:srgbClr val="6B7280"/>
                </a:solidFill>
                <a:latin typeface="Malgun Gothic" pitchFamily="34" charset="0"/>
                <a:ea typeface="Malgun Gothic" pitchFamily="34" charset="-122"/>
                <a:cs typeface="Malgun Gothic" pitchFamily="34" charset="-120"/>
              </a:rPr>
              <a:t>키움 상시·그룹 모의투자와 MTS는 성인 기준 — 어린이 대상 진입 장치 부재. 눈높이 UX·유니버스 제한·안전장치 필요</a:t>
            </a:r>
            <a:endParaRPr lang="en-US" sz="1200" dirty="0"/>
          </a:p>
        </p:txBody>
      </p:sp>
      <p:sp>
        <p:nvSpPr>
          <p:cNvPr id="27" name="Shape 22"/>
          <p:cNvSpPr/>
          <p:nvPr/>
        </p:nvSpPr>
        <p:spPr>
          <a:xfrm>
            <a:off x="502920" y="3995928"/>
            <a:ext cx="402336" cy="402336"/>
          </a:xfrm>
          <a:prstGeom prst="ellipse">
            <a:avLst/>
          </a:prstGeom>
          <a:solidFill>
            <a:srgbClr val="D70082"/>
          </a:solidFill>
          <a:ln/>
        </p:spPr>
      </p:sp>
      <p:pic>
        <p:nvPicPr>
          <p:cNvPr id="28" name="Image 2" descr="preencoded.png">    </p:cNvPr>
          <p:cNvPicPr>
            <a:picLocks noChangeAspect="1"/>
          </p:cNvPicPr>
          <p:nvPr/>
        </p:nvPicPr>
        <p:blipFill>
          <a:blip r:embed="rId3"/>
          <a:stretch>
            <a:fillRect/>
          </a:stretch>
        </p:blipFill>
        <p:spPr>
          <a:xfrm>
            <a:off x="611551" y="4104559"/>
            <a:ext cx="185075" cy="185075"/>
          </a:xfrm>
          <a:prstGeom prst="rect">
            <a:avLst/>
          </a:prstGeom>
        </p:spPr>
      </p:pic>
      <p:sp>
        <p:nvSpPr>
          <p:cNvPr id="29" name="Text 23"/>
          <p:cNvSpPr/>
          <p:nvPr/>
        </p:nvSpPr>
        <p:spPr>
          <a:xfrm>
            <a:off x="1051560" y="3968496"/>
            <a:ext cx="7589520" cy="475488"/>
          </a:xfrm>
          <a:prstGeom prst="rect">
            <a:avLst/>
          </a:prstGeom>
          <a:noFill/>
          <a:ln/>
        </p:spPr>
        <p:txBody>
          <a:bodyPr wrap="square" lIns="0" tIns="0" rIns="0" bIns="0" rtlCol="0" anchor="ctr"/>
          <a:lstStyle/>
          <a:p>
            <a:pPr indent="0" marL="0">
              <a:buNone/>
            </a:pPr>
            <a:r>
              <a:rPr lang="en-US" sz="1200" b="1" dirty="0">
                <a:solidFill>
                  <a:srgbClr val="001E5A"/>
                </a:solidFill>
                <a:latin typeface="Malgun Gothic" pitchFamily="34" charset="0"/>
                <a:ea typeface="Malgun Gothic" pitchFamily="34" charset="-122"/>
                <a:cs typeface="Malgun Gothic" pitchFamily="34" charset="-120"/>
              </a:rPr>
              <a:t>설문조사 — 회수 중   </a:t>
            </a:r>
            <a:pPr indent="0" marL="0">
              <a:buNone/>
            </a:pPr>
            <a:r>
              <a:rPr lang="en-US" sz="1100" dirty="0">
                <a:solidFill>
                  <a:srgbClr val="6B7280"/>
                </a:solidFill>
                <a:latin typeface="Malgun Gothic" pitchFamily="34" charset="0"/>
                <a:ea typeface="Malgun Gothic" pitchFamily="34" charset="-122"/>
                <a:cs typeface="Malgun Gothic" pitchFamily="34" charset="-120"/>
              </a:rPr>
              <a:t>초·중등 자녀를 둔 부모 대상 (계좌 실태 · 교육 장벽 · 참여 의향 · 리포트 수용도) → 결과는 회수 완료 후 반영</a:t>
            </a:r>
            <a:endParaRPr lang="en-US" sz="1200" dirty="0"/>
          </a:p>
        </p:txBody>
      </p:sp>
      <p:sp>
        <p:nvSpPr>
          <p:cNvPr id="30" name="Text 24"/>
          <p:cNvSpPr/>
          <p:nvPr/>
        </p:nvSpPr>
        <p:spPr>
          <a:xfrm>
            <a:off x="502920" y="4617720"/>
            <a:ext cx="8138160" cy="256032"/>
          </a:xfrm>
          <a:prstGeom prst="rect">
            <a:avLst/>
          </a:prstGeom>
          <a:noFill/>
          <a:ln/>
        </p:spPr>
        <p:txBody>
          <a:bodyPr wrap="square" lIns="0" tIns="0" rIns="0" bIns="0" rtlCol="0" anchor="ctr"/>
          <a:lstStyle/>
          <a:p>
            <a:pPr indent="0" marL="0">
              <a:buNone/>
            </a:pPr>
            <a:r>
              <a:rPr lang="en-US" sz="850" dirty="0">
                <a:solidFill>
                  <a:srgbClr val="BEBEBE"/>
                </a:solidFill>
                <a:latin typeface="Malgun Gothic" pitchFamily="34" charset="0"/>
                <a:ea typeface="Malgun Gothic" pitchFamily="34" charset="-122"/>
                <a:cs typeface="Malgun Gothic" pitchFamily="34" charset="-120"/>
              </a:rPr>
              <a:t>출처: 이투데이·비즈한국·퍼핀 공식 블로그 등 — 기획 통합 문서 v2 §23 (전 항목 링크 명기)</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200" kern="0" dirty="0">
                <a:solidFill>
                  <a:srgbClr val="D70082"/>
                </a:solidFill>
                <a:latin typeface="Malgun Gothic" pitchFamily="34" charset="0"/>
                <a:ea typeface="Malgun Gothic" pitchFamily="34" charset="-122"/>
                <a:cs typeface="Malgun Gothic" pitchFamily="34" charset="-120"/>
              </a:rPr>
              <a:t>SLIDE 05 — 핵심 문제 재정의</a:t>
            </a:r>
            <a:endParaRPr lang="en-US" sz="1100" dirty="0"/>
          </a:p>
        </p:txBody>
      </p:sp>
      <p:sp>
        <p:nvSpPr>
          <p:cNvPr id="3" name="Text 1"/>
          <p:cNvSpPr/>
          <p:nvPr/>
        </p:nvSpPr>
        <p:spPr>
          <a:xfrm>
            <a:off x="502920" y="530352"/>
            <a:ext cx="8138160" cy="502920"/>
          </a:xfrm>
          <a:prstGeom prst="rect">
            <a:avLst/>
          </a:prstGeom>
          <a:noFill/>
          <a:ln/>
        </p:spPr>
        <p:txBody>
          <a:bodyPr wrap="square" lIns="0" tIns="0" rIns="0" bIns="0" rtlCol="0" anchor="ctr"/>
          <a:lstStyle/>
          <a:p>
            <a:pPr indent="0" marL="0">
              <a:buNone/>
            </a:pPr>
            <a:r>
              <a:rPr lang="en-US" sz="2500" b="1" dirty="0">
                <a:solidFill>
                  <a:srgbClr val="001E5A"/>
                </a:solidFill>
                <a:latin typeface="Malgun Gothic" pitchFamily="34" charset="0"/>
                <a:ea typeface="Malgun Gothic" pitchFamily="34" charset="-122"/>
                <a:cs typeface="Malgun Gothic" pitchFamily="34" charset="-120"/>
              </a:rPr>
              <a:t>현상이 아니라 구조의 문제다</a:t>
            </a:r>
            <a:endParaRPr lang="en-US" sz="2500" dirty="0"/>
          </a:p>
        </p:txBody>
      </p:sp>
      <p:sp>
        <p:nvSpPr>
          <p:cNvPr id="5" name="Text 2"/>
          <p:cNvSpPr/>
          <p:nvPr/>
        </p:nvSpPr>
        <p:spPr>
          <a:xfrm>
            <a:off x="8458200" y="4759452"/>
            <a:ext cx="411480" cy="274320"/>
          </a:xfrm>
          <a:prstGeom prst="rect">
            <a:avLst/>
          </a:prstGeom>
          <a:noFill/>
          <a:ln/>
        </p:spPr>
        <p:txBody>
          <a:bodyPr wrap="square" lIns="0" tIns="0" rIns="0" bIns="0" rtlCol="0" anchor="ctr"/>
          <a:lstStyle/>
          <a:p>
            <a:pPr algn="r" indent="0" marL="0">
              <a:buNone/>
            </a:pPr>
            <a:r>
              <a:rPr lang="en-US" sz="1000" dirty="0">
                <a:solidFill>
                  <a:srgbClr val="BEBEBE"/>
                </a:solidFill>
                <a:latin typeface="Malgun Gothic" pitchFamily="34" charset="0"/>
                <a:ea typeface="Malgun Gothic" pitchFamily="34" charset="-122"/>
                <a:cs typeface="Malgun Gothic" pitchFamily="34" charset="-120"/>
              </a:rPr>
              <a:t>05</a:t>
            </a:r>
            <a:endParaRPr lang="en-US" sz="1000" dirty="0"/>
          </a:p>
        </p:txBody>
      </p:sp>
      <p:sp>
        <p:nvSpPr>
          <p:cNvPr id="6" name="Shape 3"/>
          <p:cNvSpPr/>
          <p:nvPr/>
        </p:nvSpPr>
        <p:spPr>
          <a:xfrm>
            <a:off x="502920" y="1280160"/>
            <a:ext cx="2487168" cy="1828800"/>
          </a:xfrm>
          <a:prstGeom prst="roundRect">
            <a:avLst>
              <a:gd name="adj" fmla="val 6000"/>
            </a:avLst>
          </a:prstGeom>
          <a:solidFill>
            <a:srgbClr val="F4F6FB"/>
          </a:solidFill>
          <a:ln w="19050">
            <a:solidFill>
              <a:srgbClr val="BEBEBE"/>
            </a:solidFill>
            <a:prstDash val="solid"/>
          </a:ln>
        </p:spPr>
      </p:sp>
      <p:sp>
        <p:nvSpPr>
          <p:cNvPr id="7" name="Shape 4"/>
          <p:cNvSpPr/>
          <p:nvPr/>
        </p:nvSpPr>
        <p:spPr>
          <a:xfrm>
            <a:off x="704088" y="1463040"/>
            <a:ext cx="1051560" cy="329184"/>
          </a:xfrm>
          <a:prstGeom prst="roundRect">
            <a:avLst>
              <a:gd name="adj" fmla="val 50000"/>
            </a:avLst>
          </a:prstGeom>
          <a:solidFill>
            <a:srgbClr val="BEBEBE"/>
          </a:solidFill>
          <a:ln/>
        </p:spPr>
      </p:sp>
      <p:sp>
        <p:nvSpPr>
          <p:cNvPr id="8" name="Text 5"/>
          <p:cNvSpPr/>
          <p:nvPr/>
        </p:nvSpPr>
        <p:spPr>
          <a:xfrm>
            <a:off x="704088" y="1463040"/>
            <a:ext cx="10515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현상</a:t>
            </a:r>
            <a:endParaRPr lang="en-US" sz="1100" dirty="0"/>
          </a:p>
        </p:txBody>
      </p:sp>
      <p:sp>
        <p:nvSpPr>
          <p:cNvPr id="9" name="Text 6"/>
          <p:cNvSpPr/>
          <p:nvPr/>
        </p:nvSpPr>
        <p:spPr>
          <a:xfrm>
            <a:off x="704088" y="1901952"/>
            <a:ext cx="2084832" cy="1097280"/>
          </a:xfrm>
          <a:prstGeom prst="rect">
            <a:avLst/>
          </a:prstGeom>
          <a:noFill/>
          <a:ln/>
        </p:spPr>
        <p:txBody>
          <a:bodyPr wrap="square" lIns="0" tIns="0" rIns="0" bIns="0" rtlCol="0" anchor="ctr"/>
          <a:lstStyle/>
          <a:p>
            <a:pPr indent="0" marL="0">
              <a:lnSpc>
                <a:spcPct val="115000"/>
              </a:lnSpc>
              <a:buNone/>
            </a:pPr>
            <a:r>
              <a:rPr lang="en-US" sz="1200" dirty="0">
                <a:solidFill>
                  <a:srgbClr val="1A1A2E"/>
                </a:solidFill>
                <a:latin typeface="Malgun Gothic" pitchFamily="34" charset="0"/>
                <a:ea typeface="Malgun Gothic" pitchFamily="34" charset="-122"/>
                <a:cs typeface="Malgun Gothic" pitchFamily="34" charset="-120"/>
              </a:rPr>
              <a:t>부모가 자녀 계좌를</a:t>
            </a:r>
            <a:endParaRPr lang="en-US" sz="1200" dirty="0"/>
          </a:p>
          <a:p>
            <a:pPr indent="0" marL="0">
              <a:lnSpc>
                <a:spcPct val="115000"/>
              </a:lnSpc>
              <a:buNone/>
            </a:pPr>
            <a:r>
              <a:rPr lang="en-US" sz="1200" dirty="0">
                <a:solidFill>
                  <a:srgbClr val="1A1A2E"/>
                </a:solidFill>
                <a:latin typeface="Malgun Gothic" pitchFamily="34" charset="0"/>
                <a:ea typeface="Malgun Gothic" pitchFamily="34" charset="-122"/>
                <a:cs typeface="Malgun Gothic" pitchFamily="34" charset="-120"/>
              </a:rPr>
              <a:t>만들어주고도 방치하거나</a:t>
            </a:r>
            <a:endParaRPr lang="en-US" sz="1200" dirty="0"/>
          </a:p>
          <a:p>
            <a:pPr indent="0" marL="0">
              <a:lnSpc>
                <a:spcPct val="115000"/>
              </a:lnSpc>
              <a:buNone/>
            </a:pPr>
            <a:r>
              <a:rPr lang="en-US" sz="1200" dirty="0">
                <a:solidFill>
                  <a:srgbClr val="1A1A2E"/>
                </a:solidFill>
                <a:latin typeface="Malgun Gothic" pitchFamily="34" charset="0"/>
                <a:ea typeface="Malgun Gothic" pitchFamily="34" charset="-122"/>
                <a:cs typeface="Malgun Gothic" pitchFamily="34" charset="-120"/>
              </a:rPr>
              <a:t>대신 운용한다</a:t>
            </a:r>
            <a:endParaRPr lang="en-US" sz="1200" dirty="0"/>
          </a:p>
        </p:txBody>
      </p:sp>
      <p:pic>
        <p:nvPicPr>
          <p:cNvPr id="10" name="Image 0" descr="preencoded.png">    </p:cNvPr>
          <p:cNvPicPr>
            <a:picLocks noChangeAspect="1"/>
          </p:cNvPicPr>
          <p:nvPr/>
        </p:nvPicPr>
        <p:blipFill>
          <a:blip r:embed="rId1"/>
          <a:stretch>
            <a:fillRect/>
          </a:stretch>
        </p:blipFill>
        <p:spPr>
          <a:xfrm>
            <a:off x="3058668" y="2093976"/>
            <a:ext cx="201168" cy="201168"/>
          </a:xfrm>
          <a:prstGeom prst="rect">
            <a:avLst/>
          </a:prstGeom>
        </p:spPr>
      </p:pic>
      <p:sp>
        <p:nvSpPr>
          <p:cNvPr id="11" name="Shape 7"/>
          <p:cNvSpPr/>
          <p:nvPr/>
        </p:nvSpPr>
        <p:spPr>
          <a:xfrm>
            <a:off x="3328416" y="1280160"/>
            <a:ext cx="2487168" cy="1828800"/>
          </a:xfrm>
          <a:prstGeom prst="roundRect">
            <a:avLst>
              <a:gd name="adj" fmla="val 6000"/>
            </a:avLst>
          </a:prstGeom>
          <a:solidFill>
            <a:srgbClr val="F4F6FB"/>
          </a:solidFill>
          <a:ln w="19050">
            <a:solidFill>
              <a:srgbClr val="001E5A"/>
            </a:solidFill>
            <a:prstDash val="solid"/>
          </a:ln>
        </p:spPr>
      </p:sp>
      <p:sp>
        <p:nvSpPr>
          <p:cNvPr id="12" name="Shape 8"/>
          <p:cNvSpPr/>
          <p:nvPr/>
        </p:nvSpPr>
        <p:spPr>
          <a:xfrm>
            <a:off x="3529584" y="1463040"/>
            <a:ext cx="1051560" cy="329184"/>
          </a:xfrm>
          <a:prstGeom prst="roundRect">
            <a:avLst>
              <a:gd name="adj" fmla="val 50000"/>
            </a:avLst>
          </a:prstGeom>
          <a:solidFill>
            <a:srgbClr val="001E5A"/>
          </a:solidFill>
          <a:ln/>
        </p:spPr>
      </p:sp>
      <p:sp>
        <p:nvSpPr>
          <p:cNvPr id="13" name="Text 9"/>
          <p:cNvSpPr/>
          <p:nvPr/>
        </p:nvSpPr>
        <p:spPr>
          <a:xfrm>
            <a:off x="3529584" y="1463040"/>
            <a:ext cx="10515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원인</a:t>
            </a:r>
            <a:endParaRPr lang="en-US" sz="1100" dirty="0"/>
          </a:p>
        </p:txBody>
      </p:sp>
      <p:sp>
        <p:nvSpPr>
          <p:cNvPr id="14" name="Text 10"/>
          <p:cNvSpPr/>
          <p:nvPr/>
        </p:nvSpPr>
        <p:spPr>
          <a:xfrm>
            <a:off x="3529584" y="1901952"/>
            <a:ext cx="2084832" cy="1097280"/>
          </a:xfrm>
          <a:prstGeom prst="rect">
            <a:avLst/>
          </a:prstGeom>
          <a:noFill/>
          <a:ln/>
        </p:spPr>
        <p:txBody>
          <a:bodyPr wrap="square" lIns="0" tIns="0" rIns="0" bIns="0" rtlCol="0" anchor="ctr"/>
          <a:lstStyle/>
          <a:p>
            <a:pPr indent="0" marL="0">
              <a:lnSpc>
                <a:spcPct val="115000"/>
              </a:lnSpc>
              <a:buNone/>
            </a:pPr>
            <a:r>
              <a:rPr lang="en-US" sz="1200" dirty="0">
                <a:solidFill>
                  <a:srgbClr val="1A1A2E"/>
                </a:solidFill>
                <a:latin typeface="Malgun Gothic" pitchFamily="34" charset="0"/>
                <a:ea typeface="Malgun Gothic" pitchFamily="34" charset="-122"/>
                <a:cs typeface="Malgun Gothic" pitchFamily="34" charset="-120"/>
              </a:rPr>
              <a:t>아이가 쓸 수 있는 안전한</a:t>
            </a:r>
            <a:endParaRPr lang="en-US" sz="1200" dirty="0"/>
          </a:p>
          <a:p>
            <a:pPr indent="0" marL="0">
              <a:lnSpc>
                <a:spcPct val="115000"/>
              </a:lnSpc>
              <a:buNone/>
            </a:pPr>
            <a:r>
              <a:rPr lang="en-US" sz="1200" dirty="0">
                <a:solidFill>
                  <a:srgbClr val="1A1A2E"/>
                </a:solidFill>
                <a:latin typeface="Malgun Gothic" pitchFamily="34" charset="0"/>
                <a:ea typeface="Malgun Gothic" pitchFamily="34" charset="-122"/>
                <a:cs typeface="Malgun Gothic" pitchFamily="34" charset="-120"/>
              </a:rPr>
              <a:t>무대가 없고, 부모는</a:t>
            </a:r>
            <a:endParaRPr lang="en-US" sz="1200" dirty="0"/>
          </a:p>
          <a:p>
            <a:pPr indent="0" marL="0">
              <a:lnSpc>
                <a:spcPct val="115000"/>
              </a:lnSpc>
              <a:buNone/>
            </a:pPr>
            <a:r>
              <a:rPr lang="en-US" sz="1200" dirty="0">
                <a:solidFill>
                  <a:srgbClr val="1A1A2E"/>
                </a:solidFill>
                <a:latin typeface="Malgun Gothic" pitchFamily="34" charset="0"/>
                <a:ea typeface="Malgun Gothic" pitchFamily="34" charset="-122"/>
                <a:cs typeface="Malgun Gothic" pitchFamily="34" charset="-120"/>
              </a:rPr>
              <a:t>가르칠 방법이 없다</a:t>
            </a:r>
            <a:endParaRPr lang="en-US" sz="1200" dirty="0"/>
          </a:p>
        </p:txBody>
      </p:sp>
      <p:pic>
        <p:nvPicPr>
          <p:cNvPr id="15" name="Image 1" descr="preencoded.png">    </p:cNvPr>
          <p:cNvPicPr>
            <a:picLocks noChangeAspect="1"/>
          </p:cNvPicPr>
          <p:nvPr/>
        </p:nvPicPr>
        <p:blipFill>
          <a:blip r:embed="rId2"/>
          <a:stretch>
            <a:fillRect/>
          </a:stretch>
        </p:blipFill>
        <p:spPr>
          <a:xfrm>
            <a:off x="5884164" y="2093976"/>
            <a:ext cx="201168" cy="201168"/>
          </a:xfrm>
          <a:prstGeom prst="rect">
            <a:avLst/>
          </a:prstGeom>
        </p:spPr>
      </p:pic>
      <p:sp>
        <p:nvSpPr>
          <p:cNvPr id="16" name="Shape 11"/>
          <p:cNvSpPr/>
          <p:nvPr/>
        </p:nvSpPr>
        <p:spPr>
          <a:xfrm>
            <a:off x="6153912" y="1280160"/>
            <a:ext cx="2487168" cy="1828800"/>
          </a:xfrm>
          <a:prstGeom prst="roundRect">
            <a:avLst>
              <a:gd name="adj" fmla="val 6000"/>
            </a:avLst>
          </a:prstGeom>
          <a:solidFill>
            <a:srgbClr val="FBEAF4"/>
          </a:solidFill>
          <a:ln w="19050">
            <a:solidFill>
              <a:srgbClr val="D70082"/>
            </a:solidFill>
            <a:prstDash val="solid"/>
          </a:ln>
        </p:spPr>
      </p:sp>
      <p:sp>
        <p:nvSpPr>
          <p:cNvPr id="17" name="Shape 12"/>
          <p:cNvSpPr/>
          <p:nvPr/>
        </p:nvSpPr>
        <p:spPr>
          <a:xfrm>
            <a:off x="6355080" y="1463040"/>
            <a:ext cx="1051560" cy="329184"/>
          </a:xfrm>
          <a:prstGeom prst="roundRect">
            <a:avLst>
              <a:gd name="adj" fmla="val 50000"/>
            </a:avLst>
          </a:prstGeom>
          <a:solidFill>
            <a:srgbClr val="D70082"/>
          </a:solidFill>
          <a:ln/>
        </p:spPr>
      </p:sp>
      <p:sp>
        <p:nvSpPr>
          <p:cNvPr id="18" name="Text 13"/>
          <p:cNvSpPr/>
          <p:nvPr/>
        </p:nvSpPr>
        <p:spPr>
          <a:xfrm>
            <a:off x="6355080" y="1463040"/>
            <a:ext cx="10515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핵심 문제</a:t>
            </a:r>
            <a:endParaRPr lang="en-US" sz="1100" dirty="0"/>
          </a:p>
        </p:txBody>
      </p:sp>
      <p:sp>
        <p:nvSpPr>
          <p:cNvPr id="19" name="Text 14"/>
          <p:cNvSpPr/>
          <p:nvPr/>
        </p:nvSpPr>
        <p:spPr>
          <a:xfrm>
            <a:off x="6355080" y="1901952"/>
            <a:ext cx="2084832" cy="1097280"/>
          </a:xfrm>
          <a:prstGeom prst="rect">
            <a:avLst/>
          </a:prstGeom>
          <a:noFill/>
          <a:ln/>
        </p:spPr>
        <p:txBody>
          <a:bodyPr wrap="square" lIns="0" tIns="0" rIns="0" bIns="0" rtlCol="0" anchor="ctr"/>
          <a:lstStyle/>
          <a:p>
            <a:pPr indent="0" marL="0">
              <a:lnSpc>
                <a:spcPct val="115000"/>
              </a:lnSpc>
              <a:buNone/>
            </a:pPr>
            <a:r>
              <a:rPr lang="en-US" sz="1200" b="1" dirty="0">
                <a:solidFill>
                  <a:srgbClr val="001E5A"/>
                </a:solidFill>
                <a:latin typeface="Malgun Gothic" pitchFamily="34" charset="0"/>
                <a:ea typeface="Malgun Gothic" pitchFamily="34" charset="-122"/>
                <a:cs typeface="Malgun Gothic" pitchFamily="34" charset="-120"/>
              </a:rPr>
              <a:t>아이가 스스로 판단하며</a:t>
            </a:r>
            <a:endParaRPr lang="en-US" sz="1200" dirty="0"/>
          </a:p>
          <a:p>
            <a:pPr indent="0" marL="0">
              <a:lnSpc>
                <a:spcPct val="115000"/>
              </a:lnSpc>
              <a:buNone/>
            </a:pPr>
            <a:r>
              <a:rPr lang="en-US" sz="1200" b="1" dirty="0">
                <a:solidFill>
                  <a:srgbClr val="001E5A"/>
                </a:solidFill>
                <a:latin typeface="Malgun Gothic" pitchFamily="34" charset="0"/>
                <a:ea typeface="Malgun Gothic" pitchFamily="34" charset="-122"/>
                <a:cs typeface="Malgun Gothic" pitchFamily="34" charset="-120"/>
              </a:rPr>
              <a:t>안전하게 경험하고, 부모가</a:t>
            </a:r>
            <a:endParaRPr lang="en-US" sz="1200" dirty="0"/>
          </a:p>
          <a:p>
            <a:pPr indent="0" marL="0">
              <a:lnSpc>
                <a:spcPct val="115000"/>
              </a:lnSpc>
              <a:buNone/>
            </a:pPr>
            <a:r>
              <a:rPr lang="en-US" sz="1200" b="1" dirty="0">
                <a:solidFill>
                  <a:srgbClr val="001E5A"/>
                </a:solidFill>
                <a:latin typeface="Malgun Gothic" pitchFamily="34" charset="0"/>
                <a:ea typeface="Malgun Gothic" pitchFamily="34" charset="-122"/>
                <a:cs typeface="Malgun Gothic" pitchFamily="34" charset="-120"/>
              </a:rPr>
              <a:t>함께할 구조가 없다</a:t>
            </a:r>
            <a:endParaRPr lang="en-US" sz="1200" dirty="0"/>
          </a:p>
        </p:txBody>
      </p:sp>
      <p:sp>
        <p:nvSpPr>
          <p:cNvPr id="20" name="Shape 15"/>
          <p:cNvSpPr/>
          <p:nvPr/>
        </p:nvSpPr>
        <p:spPr>
          <a:xfrm>
            <a:off x="502920" y="3401568"/>
            <a:ext cx="8138160" cy="1325880"/>
          </a:xfrm>
          <a:prstGeom prst="roundRect">
            <a:avLst>
              <a:gd name="adj" fmla="val 8276"/>
            </a:avLst>
          </a:prstGeom>
          <a:solidFill>
            <a:srgbClr val="001E5A"/>
          </a:solidFill>
          <a:ln/>
        </p:spPr>
      </p:sp>
      <p:pic>
        <p:nvPicPr>
          <p:cNvPr id="21" name="Image 2" descr="preencoded.png">    </p:cNvPr>
          <p:cNvPicPr>
            <a:picLocks noChangeAspect="1"/>
          </p:cNvPicPr>
          <p:nvPr/>
        </p:nvPicPr>
        <p:blipFill>
          <a:blip r:embed="rId3"/>
          <a:stretch>
            <a:fillRect/>
          </a:stretch>
        </p:blipFill>
        <p:spPr>
          <a:xfrm>
            <a:off x="777240" y="3611880"/>
            <a:ext cx="274320" cy="274320"/>
          </a:xfrm>
          <a:prstGeom prst="rect">
            <a:avLst/>
          </a:prstGeom>
        </p:spPr>
      </p:pic>
      <p:sp>
        <p:nvSpPr>
          <p:cNvPr id="22" name="Text 16"/>
          <p:cNvSpPr/>
          <p:nvPr/>
        </p:nvSpPr>
        <p:spPr>
          <a:xfrm>
            <a:off x="1188720" y="3547872"/>
            <a:ext cx="7223760" cy="1051560"/>
          </a:xfrm>
          <a:prstGeom prst="rect">
            <a:avLst/>
          </a:prstGeom>
          <a:noFill/>
          <a:ln/>
        </p:spPr>
        <p:txBody>
          <a:bodyPr wrap="square" lIns="0" tIns="0" rIns="0" bIns="0" rtlCol="0" anchor="ctr"/>
          <a:lstStyle/>
          <a:p>
            <a:pPr indent="0" marL="0">
              <a:lnSpc>
                <a:spcPct val="120000"/>
              </a:lnSpc>
              <a:buNone/>
            </a:pPr>
            <a:r>
              <a:rPr lang="en-US" sz="1300" b="1" dirty="0">
                <a:solidFill>
                  <a:srgbClr val="FF7ABF"/>
                </a:solidFill>
                <a:latin typeface="Malgun Gothic" pitchFamily="34" charset="0"/>
                <a:ea typeface="Malgun Gothic" pitchFamily="34" charset="-122"/>
                <a:cs typeface="Malgun Gothic" pitchFamily="34" charset="-120"/>
              </a:rPr>
              <a:t>초·중등 자녀를 둔 키움 고객 부모</a:t>
            </a:r>
            <a:pPr indent="0" marL="0">
              <a:lnSpc>
                <a:spcPct val="120000"/>
              </a:lnSpc>
              <a:buNone/>
            </a:pPr>
            <a:r>
              <a:rPr lang="en-US" sz="1300" dirty="0">
                <a:solidFill>
                  <a:srgbClr val="FFFFFF"/>
                </a:solidFill>
                <a:latin typeface="Malgun Gothic" pitchFamily="34" charset="0"/>
                <a:ea typeface="Malgun Gothic" pitchFamily="34" charset="-122"/>
                <a:cs typeface="Malgun Gothic" pitchFamily="34" charset="-120"/>
              </a:rPr>
              <a:t>는 자녀에게 투자를 경험시켜주고 싶지만, 기존 서비스가 성인 기준 화면·상품·개인 경쟁 구조로 설계되어 있고 부모 스스로도 가르칠 도구가 없어 — </a:t>
            </a:r>
            <a:pPr indent="0" marL="0">
              <a:lnSpc>
                <a:spcPct val="120000"/>
              </a:lnSpc>
              <a:buNone/>
            </a:pPr>
            <a:r>
              <a:rPr lang="en-US" sz="1300" b="1" dirty="0">
                <a:solidFill>
                  <a:srgbClr val="FF7ABF"/>
                </a:solidFill>
                <a:latin typeface="Malgun Gothic" pitchFamily="34" charset="0"/>
                <a:ea typeface="Malgun Gothic" pitchFamily="34" charset="-122"/>
                <a:cs typeface="Malgun Gothic" pitchFamily="34" charset="-120"/>
              </a:rPr>
              <a:t>아이에게 맡길 수 있는 안전한 플랫폼이 없다</a:t>
            </a:r>
            <a:pPr indent="0" marL="0">
              <a:lnSpc>
                <a:spcPct val="120000"/>
              </a:lnSpc>
              <a:buNone/>
            </a:pPr>
            <a:r>
              <a:rPr lang="en-US" sz="1300" dirty="0">
                <a:solidFill>
                  <a:srgbClr val="FFFFFF"/>
                </a:solidFill>
                <a:latin typeface="Malgun Gothic" pitchFamily="34" charset="0"/>
                <a:ea typeface="Malgun Gothic" pitchFamily="34" charset="-122"/>
                <a:cs typeface="Malgun Gothic" pitchFamily="34" charset="-120"/>
              </a:rPr>
              <a:t>는 문제를 겪는다.</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200" kern="0" dirty="0">
                <a:solidFill>
                  <a:srgbClr val="D70082"/>
                </a:solidFill>
                <a:latin typeface="Malgun Gothic" pitchFamily="34" charset="0"/>
                <a:ea typeface="Malgun Gothic" pitchFamily="34" charset="-122"/>
                <a:cs typeface="Malgun Gothic" pitchFamily="34" charset="-120"/>
              </a:rPr>
              <a:t>SLIDE 06 — 해결 방향 &amp; MVP 핵심 기능</a:t>
            </a:r>
            <a:endParaRPr lang="en-US" sz="1100" dirty="0"/>
          </a:p>
        </p:txBody>
      </p:sp>
      <p:sp>
        <p:nvSpPr>
          <p:cNvPr id="3" name="Text 1"/>
          <p:cNvSpPr/>
          <p:nvPr/>
        </p:nvSpPr>
        <p:spPr>
          <a:xfrm>
            <a:off x="502920" y="530352"/>
            <a:ext cx="8138160" cy="502920"/>
          </a:xfrm>
          <a:prstGeom prst="rect">
            <a:avLst/>
          </a:prstGeom>
          <a:noFill/>
          <a:ln/>
        </p:spPr>
        <p:txBody>
          <a:bodyPr wrap="square" lIns="0" tIns="0" rIns="0" bIns="0" rtlCol="0" anchor="ctr"/>
          <a:lstStyle/>
          <a:p>
            <a:pPr indent="0" marL="0">
              <a:buNone/>
            </a:pPr>
            <a:r>
              <a:rPr lang="en-US" sz="2500" b="1" dirty="0">
                <a:solidFill>
                  <a:srgbClr val="001E5A"/>
                </a:solidFill>
                <a:latin typeface="Malgun Gothic" pitchFamily="34" charset="0"/>
                <a:ea typeface="Malgun Gothic" pitchFamily="34" charset="-122"/>
                <a:cs typeface="Malgun Gothic" pitchFamily="34" charset="-120"/>
              </a:rPr>
              <a:t>부모와 자녀가 각자 뛰는, 가족 모의투자 리그</a:t>
            </a:r>
            <a:endParaRPr lang="en-US" sz="2500" dirty="0"/>
          </a:p>
        </p:txBody>
      </p:sp>
      <p:sp>
        <p:nvSpPr>
          <p:cNvPr id="5" name="Text 2"/>
          <p:cNvSpPr/>
          <p:nvPr/>
        </p:nvSpPr>
        <p:spPr>
          <a:xfrm>
            <a:off x="8458200" y="4759452"/>
            <a:ext cx="411480" cy="274320"/>
          </a:xfrm>
          <a:prstGeom prst="rect">
            <a:avLst/>
          </a:prstGeom>
          <a:noFill/>
          <a:ln/>
        </p:spPr>
        <p:txBody>
          <a:bodyPr wrap="square" lIns="0" tIns="0" rIns="0" bIns="0" rtlCol="0" anchor="ctr"/>
          <a:lstStyle/>
          <a:p>
            <a:pPr algn="r" indent="0" marL="0">
              <a:buNone/>
            </a:pPr>
            <a:r>
              <a:rPr lang="en-US" sz="1000" dirty="0">
                <a:solidFill>
                  <a:srgbClr val="BEBEBE"/>
                </a:solidFill>
                <a:latin typeface="Malgun Gothic" pitchFamily="34" charset="0"/>
                <a:ea typeface="Malgun Gothic" pitchFamily="34" charset="-122"/>
                <a:cs typeface="Malgun Gothic" pitchFamily="34" charset="-120"/>
              </a:rPr>
              <a:t>06</a:t>
            </a:r>
            <a:endParaRPr lang="en-US" sz="1000" dirty="0"/>
          </a:p>
        </p:txBody>
      </p:sp>
      <p:sp>
        <p:nvSpPr>
          <p:cNvPr id="6" name="Shape 3"/>
          <p:cNvSpPr/>
          <p:nvPr/>
        </p:nvSpPr>
        <p:spPr>
          <a:xfrm>
            <a:off x="502920" y="1234440"/>
            <a:ext cx="3931920" cy="475488"/>
          </a:xfrm>
          <a:prstGeom prst="roundRect">
            <a:avLst>
              <a:gd name="adj" fmla="val 19231"/>
            </a:avLst>
          </a:prstGeom>
          <a:solidFill>
            <a:srgbClr val="001E5A"/>
          </a:solidFill>
          <a:ln/>
        </p:spPr>
      </p:sp>
      <p:sp>
        <p:nvSpPr>
          <p:cNvPr id="7" name="Text 4"/>
          <p:cNvSpPr/>
          <p:nvPr/>
        </p:nvSpPr>
        <p:spPr>
          <a:xfrm>
            <a:off x="502920" y="1234440"/>
            <a:ext cx="393192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영웅문S# (키움 MTS) — 신규 메뉴로 내장</a:t>
            </a:r>
            <a:endParaRPr lang="en-US" sz="1200" dirty="0"/>
          </a:p>
        </p:txBody>
      </p:sp>
      <p:sp>
        <p:nvSpPr>
          <p:cNvPr id="8" name="Shape 5"/>
          <p:cNvSpPr/>
          <p:nvPr/>
        </p:nvSpPr>
        <p:spPr>
          <a:xfrm>
            <a:off x="502920" y="1874520"/>
            <a:ext cx="3931920" cy="868680"/>
          </a:xfrm>
          <a:prstGeom prst="roundRect">
            <a:avLst>
              <a:gd name="adj" fmla="val 10526"/>
            </a:avLst>
          </a:prstGeom>
          <a:solidFill>
            <a:srgbClr val="FBEAF4"/>
          </a:solidFill>
          <a:ln w="22225">
            <a:solidFill>
              <a:srgbClr val="D70082"/>
            </a:solidFill>
            <a:prstDash val="solid"/>
          </a:ln>
        </p:spPr>
      </p:sp>
      <p:sp>
        <p:nvSpPr>
          <p:cNvPr id="9" name="Shape 6"/>
          <p:cNvSpPr/>
          <p:nvPr/>
        </p:nvSpPr>
        <p:spPr>
          <a:xfrm>
            <a:off x="685800" y="2089404"/>
            <a:ext cx="438912" cy="438912"/>
          </a:xfrm>
          <a:prstGeom prst="ellipse">
            <a:avLst/>
          </a:prstGeom>
          <a:solidFill>
            <a:srgbClr val="D70082"/>
          </a:solidFill>
          <a:ln/>
        </p:spPr>
      </p:sp>
      <p:pic>
        <p:nvPicPr>
          <p:cNvPr id="10" name="Image 0" descr="preencoded.png">    </p:cNvPr>
          <p:cNvPicPr>
            <a:picLocks noChangeAspect="1"/>
          </p:cNvPicPr>
          <p:nvPr/>
        </p:nvPicPr>
        <p:blipFill>
          <a:blip r:embed="rId1"/>
          <a:stretch>
            <a:fillRect/>
          </a:stretch>
        </p:blipFill>
        <p:spPr>
          <a:xfrm>
            <a:off x="804306" y="2207910"/>
            <a:ext cx="201900" cy="201900"/>
          </a:xfrm>
          <a:prstGeom prst="rect">
            <a:avLst/>
          </a:prstGeom>
        </p:spPr>
      </p:pic>
      <p:sp>
        <p:nvSpPr>
          <p:cNvPr id="11" name="Text 7"/>
          <p:cNvSpPr/>
          <p:nvPr/>
        </p:nvSpPr>
        <p:spPr>
          <a:xfrm>
            <a:off x="1261872" y="1947672"/>
            <a:ext cx="3108960" cy="722376"/>
          </a:xfrm>
          <a:prstGeom prst="rect">
            <a:avLst/>
          </a:prstGeom>
          <a:noFill/>
          <a:ln/>
        </p:spPr>
        <p:txBody>
          <a:bodyPr wrap="square" lIns="0" tIns="0" rIns="0" bIns="0" rtlCol="0" anchor="ctr"/>
          <a:lstStyle/>
          <a:p>
            <a:pPr indent="0" marL="0">
              <a:buNone/>
            </a:pPr>
            <a:r>
              <a:rPr lang="en-US" sz="1350" b="1" dirty="0">
                <a:solidFill>
                  <a:srgbClr val="D70082"/>
                </a:solidFill>
                <a:latin typeface="Malgun Gothic" pitchFamily="34" charset="0"/>
                <a:ea typeface="Malgun Gothic" pitchFamily="34" charset="-122"/>
                <a:cs typeface="Malgun Gothic" pitchFamily="34" charset="-120"/>
              </a:rPr>
              <a:t>가족 모의투자 리그  ★</a:t>
            </a:r>
            <a:endParaRPr lang="en-US" sz="1350" dirty="0"/>
          </a:p>
          <a:p>
            <a:pPr indent="0" marL="0">
              <a:buNone/>
            </a:pPr>
            <a:r>
              <a:rPr lang="en-US" sz="1000" dirty="0">
                <a:solidFill>
                  <a:srgbClr val="6B7280"/>
                </a:solidFill>
                <a:latin typeface="Malgun Gothic" pitchFamily="34" charset="0"/>
                <a:ea typeface="Malgun Gothic" pitchFamily="34" charset="-122"/>
                <a:cs typeface="Malgun Gothic" pitchFamily="34" charset="-120"/>
              </a:rPr>
              <a:t>MVP 핵심 기능 — 질문식 매매 내장</a:t>
            </a:r>
            <a:endParaRPr lang="en-US" sz="1350" dirty="0"/>
          </a:p>
        </p:txBody>
      </p:sp>
      <p:sp>
        <p:nvSpPr>
          <p:cNvPr id="12" name="Shape 8"/>
          <p:cNvSpPr/>
          <p:nvPr/>
        </p:nvSpPr>
        <p:spPr>
          <a:xfrm>
            <a:off x="502920" y="2871216"/>
            <a:ext cx="3931920" cy="713232"/>
          </a:xfrm>
          <a:prstGeom prst="roundRect">
            <a:avLst>
              <a:gd name="adj" fmla="val 12821"/>
            </a:avLst>
          </a:prstGeom>
          <a:solidFill>
            <a:srgbClr val="F4F6FB"/>
          </a:solidFill>
          <a:ln/>
        </p:spPr>
      </p:sp>
      <p:sp>
        <p:nvSpPr>
          <p:cNvPr id="13" name="Shape 9"/>
          <p:cNvSpPr/>
          <p:nvPr/>
        </p:nvSpPr>
        <p:spPr>
          <a:xfrm>
            <a:off x="685800" y="3008376"/>
            <a:ext cx="438912" cy="438912"/>
          </a:xfrm>
          <a:prstGeom prst="ellipse">
            <a:avLst/>
          </a:prstGeom>
          <a:solidFill>
            <a:srgbClr val="001E5A"/>
          </a:solidFill>
          <a:ln/>
        </p:spPr>
      </p:sp>
      <p:pic>
        <p:nvPicPr>
          <p:cNvPr id="14" name="Image 1" descr="preencoded.png">    </p:cNvPr>
          <p:cNvPicPr>
            <a:picLocks noChangeAspect="1"/>
          </p:cNvPicPr>
          <p:nvPr/>
        </p:nvPicPr>
        <p:blipFill>
          <a:blip r:embed="rId2"/>
          <a:stretch>
            <a:fillRect/>
          </a:stretch>
        </p:blipFill>
        <p:spPr>
          <a:xfrm>
            <a:off x="804306" y="3126882"/>
            <a:ext cx="201900" cy="201900"/>
          </a:xfrm>
          <a:prstGeom prst="rect">
            <a:avLst/>
          </a:prstGeom>
        </p:spPr>
      </p:pic>
      <p:sp>
        <p:nvSpPr>
          <p:cNvPr id="15" name="Text 10"/>
          <p:cNvSpPr/>
          <p:nvPr/>
        </p:nvSpPr>
        <p:spPr>
          <a:xfrm>
            <a:off x="1261872" y="2944368"/>
            <a:ext cx="3108960" cy="566928"/>
          </a:xfrm>
          <a:prstGeom prst="rect">
            <a:avLst/>
          </a:prstGeom>
          <a:noFill/>
          <a:ln/>
        </p:spPr>
        <p:txBody>
          <a:bodyPr wrap="square" lIns="0" tIns="0" rIns="0" bIns="0" rtlCol="0" anchor="ctr"/>
          <a:lstStyle/>
          <a:p>
            <a:pPr indent="0" marL="0">
              <a:buNone/>
            </a:pPr>
            <a:r>
              <a:rPr lang="en-US" sz="1200" b="1" dirty="0">
                <a:solidFill>
                  <a:srgbClr val="001E5A"/>
                </a:solidFill>
                <a:latin typeface="Malgun Gothic" pitchFamily="34" charset="0"/>
                <a:ea typeface="Malgun Gothic" pitchFamily="34" charset="-122"/>
                <a:cs typeface="Malgun Gothic" pitchFamily="34" charset="-120"/>
              </a:rPr>
              <a:t>성장 아카이브</a:t>
            </a:r>
            <a:endParaRPr lang="en-US" sz="1200" dirty="0"/>
          </a:p>
          <a:p>
            <a:pPr indent="0" marL="0">
              <a:buNone/>
            </a:pPr>
            <a:r>
              <a:rPr lang="en-US" sz="1000" dirty="0">
                <a:solidFill>
                  <a:srgbClr val="6B7280"/>
                </a:solidFill>
                <a:latin typeface="Malgun Gothic" pitchFamily="34" charset="0"/>
                <a:ea typeface="Malgun Gothic" pitchFamily="34" charset="-122"/>
                <a:cs typeface="Malgun Gothic" pitchFamily="34" charset="-120"/>
              </a:rPr>
              <a:t>성향 5축 리포트 + 친화도 스코어</a:t>
            </a:r>
            <a:endParaRPr lang="en-US" sz="1200" dirty="0"/>
          </a:p>
        </p:txBody>
      </p:sp>
      <p:sp>
        <p:nvSpPr>
          <p:cNvPr id="16" name="Shape 11"/>
          <p:cNvSpPr/>
          <p:nvPr/>
        </p:nvSpPr>
        <p:spPr>
          <a:xfrm>
            <a:off x="502920" y="3712464"/>
            <a:ext cx="3931920" cy="713232"/>
          </a:xfrm>
          <a:prstGeom prst="roundRect">
            <a:avLst>
              <a:gd name="adj" fmla="val 12821"/>
            </a:avLst>
          </a:prstGeom>
          <a:solidFill>
            <a:srgbClr val="F4F6FB"/>
          </a:solidFill>
          <a:ln/>
        </p:spPr>
      </p:sp>
      <p:sp>
        <p:nvSpPr>
          <p:cNvPr id="17" name="Shape 12"/>
          <p:cNvSpPr/>
          <p:nvPr/>
        </p:nvSpPr>
        <p:spPr>
          <a:xfrm>
            <a:off x="685800" y="3849624"/>
            <a:ext cx="438912" cy="438912"/>
          </a:xfrm>
          <a:prstGeom prst="ellipse">
            <a:avLst/>
          </a:prstGeom>
          <a:solidFill>
            <a:srgbClr val="001E5A"/>
          </a:solidFill>
          <a:ln/>
        </p:spPr>
      </p:sp>
      <p:pic>
        <p:nvPicPr>
          <p:cNvPr id="18" name="Image 2" descr="preencoded.png">    </p:cNvPr>
          <p:cNvPicPr>
            <a:picLocks noChangeAspect="1"/>
          </p:cNvPicPr>
          <p:nvPr/>
        </p:nvPicPr>
        <p:blipFill>
          <a:blip r:embed="rId3"/>
          <a:stretch>
            <a:fillRect/>
          </a:stretch>
        </p:blipFill>
        <p:spPr>
          <a:xfrm>
            <a:off x="804306" y="3968130"/>
            <a:ext cx="201900" cy="201900"/>
          </a:xfrm>
          <a:prstGeom prst="rect">
            <a:avLst/>
          </a:prstGeom>
        </p:spPr>
      </p:pic>
      <p:sp>
        <p:nvSpPr>
          <p:cNvPr id="19" name="Text 13"/>
          <p:cNvSpPr/>
          <p:nvPr/>
        </p:nvSpPr>
        <p:spPr>
          <a:xfrm>
            <a:off x="1261872" y="3785616"/>
            <a:ext cx="3108960" cy="566928"/>
          </a:xfrm>
          <a:prstGeom prst="rect">
            <a:avLst/>
          </a:prstGeom>
          <a:noFill/>
          <a:ln/>
        </p:spPr>
        <p:txBody>
          <a:bodyPr wrap="square" lIns="0" tIns="0" rIns="0" bIns="0" rtlCol="0" anchor="ctr"/>
          <a:lstStyle/>
          <a:p>
            <a:pPr indent="0" marL="0">
              <a:buNone/>
            </a:pPr>
            <a:r>
              <a:rPr lang="en-US" sz="1200" b="1" dirty="0">
                <a:solidFill>
                  <a:srgbClr val="001E5A"/>
                </a:solidFill>
                <a:latin typeface="Malgun Gothic" pitchFamily="34" charset="0"/>
                <a:ea typeface="Malgun Gothic" pitchFamily="34" charset="-122"/>
                <a:cs typeface="Malgun Gothic" pitchFamily="34" charset="-120"/>
              </a:rPr>
              <a:t>플로팅 챗봇 키웅이</a:t>
            </a:r>
            <a:endParaRPr lang="en-US" sz="1200" dirty="0"/>
          </a:p>
          <a:p>
            <a:pPr indent="0" marL="0">
              <a:buNone/>
            </a:pPr>
            <a:r>
              <a:rPr lang="en-US" sz="1000" dirty="0">
                <a:solidFill>
                  <a:srgbClr val="6B7280"/>
                </a:solidFill>
                <a:latin typeface="Malgun Gothic" pitchFamily="34" charset="0"/>
                <a:ea typeface="Malgun Gothic" pitchFamily="34" charset="-122"/>
                <a:cs typeface="Malgun Gothic" pitchFamily="34" charset="-120"/>
              </a:rPr>
              <a:t>아이 눈높이 도우미 · 추천/예측 금지</a:t>
            </a:r>
            <a:endParaRPr lang="en-US" sz="1200" dirty="0"/>
          </a:p>
        </p:txBody>
      </p:sp>
      <p:sp>
        <p:nvSpPr>
          <p:cNvPr id="20" name="Text 14"/>
          <p:cNvSpPr/>
          <p:nvPr/>
        </p:nvSpPr>
        <p:spPr>
          <a:xfrm>
            <a:off x="4709160" y="1234440"/>
            <a:ext cx="3931920" cy="274320"/>
          </a:xfrm>
          <a:prstGeom prst="rect">
            <a:avLst/>
          </a:prstGeom>
          <a:noFill/>
          <a:ln/>
        </p:spPr>
        <p:txBody>
          <a:bodyPr wrap="square" lIns="0" tIns="0" rIns="0" bIns="0" rtlCol="0" anchor="ctr"/>
          <a:lstStyle/>
          <a:p>
            <a:pPr indent="0" marL="0">
              <a:buNone/>
            </a:pPr>
            <a:r>
              <a:rPr lang="en-US" sz="1250" b="1" dirty="0">
                <a:solidFill>
                  <a:srgbClr val="001E5A"/>
                </a:solidFill>
                <a:latin typeface="Malgun Gothic" pitchFamily="34" charset="0"/>
                <a:ea typeface="Malgun Gothic" pitchFamily="34" charset="-122"/>
                <a:cs typeface="Malgun Gothic" pitchFamily="34" charset="-120"/>
              </a:rPr>
              <a:t>리그 규칙</a:t>
            </a:r>
            <a:endParaRPr lang="en-US" sz="1250" dirty="0"/>
          </a:p>
        </p:txBody>
      </p:sp>
      <p:sp>
        <p:nvSpPr>
          <p:cNvPr id="21" name="Text 15"/>
          <p:cNvSpPr/>
          <p:nvPr/>
        </p:nvSpPr>
        <p:spPr>
          <a:xfrm>
            <a:off x="4709160" y="1536192"/>
            <a:ext cx="3931920" cy="1371600"/>
          </a:xfrm>
          <a:prstGeom prst="rect">
            <a:avLst/>
          </a:prstGeom>
          <a:noFill/>
          <a:ln/>
        </p:spPr>
        <p:txBody>
          <a:bodyPr wrap="square" lIns="0" tIns="0" rIns="0" bIns="0" rtlCol="0" anchor="ctr"/>
          <a:lstStyle/>
          <a:p>
            <a:pPr marL="177800" indent="-177800">
              <a:spcAft>
                <a:spcPts val="600"/>
              </a:spcAft>
              <a:buSzPct val="100000"/>
              <a:buChar char="▪"/>
            </a:pPr>
            <a:r>
              <a:rPr lang="en-US" sz="1150" dirty="0">
                <a:solidFill>
                  <a:srgbClr val="1A1A2E"/>
                </a:solidFill>
                <a:latin typeface="Malgun Gothic" pitchFamily="34" charset="0"/>
                <a:ea typeface="Malgun Gothic" pitchFamily="34" charset="-122"/>
                <a:cs typeface="Malgun Gothic" pitchFamily="34" charset="-120"/>
              </a:rPr>
              <a:t>부모·자녀 각자 가상 시드 100만원 (개인별 지갑)</a:t>
            </a:r>
            <a:endParaRPr lang="en-US" sz="1150" dirty="0"/>
          </a:p>
          <a:p>
            <a:pPr marL="177800" indent="-177800">
              <a:spcAft>
                <a:spcPts val="600"/>
              </a:spcAft>
              <a:buSzPct val="100000"/>
              <a:buChar char="▪"/>
            </a:pPr>
            <a:r>
              <a:rPr lang="en-US" sz="1150" dirty="0">
                <a:solidFill>
                  <a:srgbClr val="1A1A2E"/>
                </a:solidFill>
                <a:latin typeface="Malgun Gothic" pitchFamily="34" charset="0"/>
                <a:ea typeface="Malgun Gothic" pitchFamily="34" charset="-122"/>
                <a:cs typeface="Malgun Gothic" pitchFamily="34" charset="-120"/>
              </a:rPr>
              <a:t>가족 성적 = 구성원 수익률 평균 → 30~50가족 리그</a:t>
            </a:r>
            <a:endParaRPr lang="en-US" sz="1150" dirty="0"/>
          </a:p>
          <a:p>
            <a:pPr marL="177800" indent="-177800">
              <a:spcAft>
                <a:spcPts val="600"/>
              </a:spcAft>
              <a:buSzPct val="100000"/>
              <a:buChar char="▪"/>
            </a:pPr>
            <a:r>
              <a:rPr lang="en-US" sz="1150" dirty="0">
                <a:solidFill>
                  <a:srgbClr val="1A1A2E"/>
                </a:solidFill>
                <a:latin typeface="Malgun Gothic" pitchFamily="34" charset="0"/>
                <a:ea typeface="Malgun Gothic" pitchFamily="34" charset="-122"/>
                <a:cs typeface="Malgun Gothic" pitchFamily="34" charset="-120"/>
              </a:rPr>
              <a:t>시즌 4주 × 연 4회 — 매 시즌 어닝시즌을 경험</a:t>
            </a:r>
            <a:endParaRPr lang="en-US" sz="1150" dirty="0"/>
          </a:p>
          <a:p>
            <a:pPr marL="177800" indent="-177800">
              <a:spcAft>
                <a:spcPts val="600"/>
              </a:spcAft>
              <a:buSzPct val="100000"/>
              <a:buChar char="▪"/>
            </a:pPr>
            <a:r>
              <a:rPr lang="en-US" sz="1150" dirty="0">
                <a:solidFill>
                  <a:srgbClr val="1A1A2E"/>
                </a:solidFill>
                <a:latin typeface="Malgun Gothic" pitchFamily="34" charset="0"/>
                <a:ea typeface="Malgun Gothic" pitchFamily="34" charset="-122"/>
                <a:cs typeface="Malgun Gothic" pitchFamily="34" charset="-120"/>
              </a:rPr>
              <a:t>참가 조건 : 자녀 실계좌 (개설 → KPI 직결)</a:t>
            </a:r>
            <a:endParaRPr lang="en-US" sz="1150" dirty="0"/>
          </a:p>
        </p:txBody>
      </p:sp>
      <p:sp>
        <p:nvSpPr>
          <p:cNvPr id="22" name="Shape 16"/>
          <p:cNvSpPr/>
          <p:nvPr/>
        </p:nvSpPr>
        <p:spPr>
          <a:xfrm>
            <a:off x="4709160" y="3063240"/>
            <a:ext cx="3931920" cy="1572768"/>
          </a:xfrm>
          <a:prstGeom prst="roundRect">
            <a:avLst>
              <a:gd name="adj" fmla="val 6977"/>
            </a:avLst>
          </a:prstGeom>
          <a:solidFill>
            <a:srgbClr val="F4F6FB"/>
          </a:solidFill>
          <a:ln/>
        </p:spPr>
      </p:sp>
      <p:sp>
        <p:nvSpPr>
          <p:cNvPr id="23" name="Shape 17"/>
          <p:cNvSpPr/>
          <p:nvPr/>
        </p:nvSpPr>
        <p:spPr>
          <a:xfrm>
            <a:off x="4919472" y="3246120"/>
            <a:ext cx="457200" cy="457200"/>
          </a:xfrm>
          <a:prstGeom prst="ellipse">
            <a:avLst/>
          </a:prstGeom>
          <a:solidFill>
            <a:srgbClr val="001E5A"/>
          </a:solidFill>
          <a:ln/>
        </p:spPr>
      </p:sp>
      <p:pic>
        <p:nvPicPr>
          <p:cNvPr id="24" name="Image 3" descr="preencoded.png">    </p:cNvPr>
          <p:cNvPicPr>
            <a:picLocks noChangeAspect="1"/>
          </p:cNvPicPr>
          <p:nvPr/>
        </p:nvPicPr>
        <p:blipFill>
          <a:blip r:embed="rId4"/>
          <a:stretch>
            <a:fillRect/>
          </a:stretch>
        </p:blipFill>
        <p:spPr>
          <a:xfrm>
            <a:off x="5042916" y="3369564"/>
            <a:ext cx="210312" cy="210312"/>
          </a:xfrm>
          <a:prstGeom prst="rect">
            <a:avLst/>
          </a:prstGeom>
        </p:spPr>
      </p:pic>
      <p:sp>
        <p:nvSpPr>
          <p:cNvPr id="25" name="Text 18"/>
          <p:cNvSpPr/>
          <p:nvPr/>
        </p:nvSpPr>
        <p:spPr>
          <a:xfrm>
            <a:off x="5486400" y="3291840"/>
            <a:ext cx="3017520" cy="310896"/>
          </a:xfrm>
          <a:prstGeom prst="rect">
            <a:avLst/>
          </a:prstGeom>
          <a:noFill/>
          <a:ln/>
        </p:spPr>
        <p:txBody>
          <a:bodyPr wrap="square" lIns="0" tIns="0" rIns="0" bIns="0" rtlCol="0" anchor="ctr"/>
          <a:lstStyle/>
          <a:p>
            <a:pPr indent="0" marL="0">
              <a:buNone/>
            </a:pPr>
            <a:r>
              <a:rPr lang="en-US" sz="1250" b="1" dirty="0">
                <a:solidFill>
                  <a:srgbClr val="001E5A"/>
                </a:solidFill>
                <a:latin typeface="Malgun Gothic" pitchFamily="34" charset="0"/>
                <a:ea typeface="Malgun Gothic" pitchFamily="34" charset="-122"/>
                <a:cs typeface="Malgun Gothic" pitchFamily="34" charset="-120"/>
              </a:rPr>
              <a:t>‘안전한 무대’의 실체</a:t>
            </a:r>
            <a:endParaRPr lang="en-US" sz="1250" dirty="0"/>
          </a:p>
        </p:txBody>
      </p:sp>
      <p:sp>
        <p:nvSpPr>
          <p:cNvPr id="26" name="Text 19"/>
          <p:cNvSpPr/>
          <p:nvPr/>
        </p:nvSpPr>
        <p:spPr>
          <a:xfrm>
            <a:off x="5486400" y="3639312"/>
            <a:ext cx="3063240" cy="914400"/>
          </a:xfrm>
          <a:prstGeom prst="rect">
            <a:avLst/>
          </a:prstGeom>
          <a:noFill/>
          <a:ln/>
        </p:spPr>
        <p:txBody>
          <a:bodyPr wrap="square" lIns="0" tIns="0" rIns="0" bIns="0" rtlCol="0" anchor="ctr"/>
          <a:lstStyle/>
          <a:p>
            <a:pPr marL="152400" indent="-152400">
              <a:spcAft>
                <a:spcPts val="500"/>
              </a:spcAft>
              <a:buSzPct val="100000"/>
              <a:buChar char="▪"/>
            </a:pPr>
            <a:r>
              <a:rPr lang="en-US" sz="1050" dirty="0">
                <a:solidFill>
                  <a:srgbClr val="1A1A2E"/>
                </a:solidFill>
                <a:latin typeface="Malgun Gothic" pitchFamily="34" charset="0"/>
                <a:ea typeface="Malgun Gothic" pitchFamily="34" charset="-122"/>
                <a:cs typeface="Malgun Gothic" pitchFamily="34" charset="-120"/>
              </a:rPr>
              <a:t>국내 우량주 50종 큐레이션만 매매 가능</a:t>
            </a:r>
            <a:endParaRPr lang="en-US" sz="1050" dirty="0"/>
          </a:p>
          <a:p>
            <a:pPr marL="152400" indent="-152400">
              <a:spcAft>
                <a:spcPts val="500"/>
              </a:spcAft>
              <a:buSzPct val="100000"/>
              <a:buChar char="▪"/>
            </a:pPr>
            <a:r>
              <a:rPr lang="en-US" sz="1050" dirty="0">
                <a:solidFill>
                  <a:srgbClr val="1A1A2E"/>
                </a:solidFill>
                <a:latin typeface="Malgun Gothic" pitchFamily="34" charset="0"/>
                <a:ea typeface="Malgun Gothic" pitchFamily="34" charset="-122"/>
                <a:cs typeface="Malgun Gothic" pitchFamily="34" charset="-120"/>
              </a:rPr>
              <a:t>미수·신용·레버리지·파생 원천 배제</a:t>
            </a:r>
            <a:endParaRPr lang="en-US" sz="1050" dirty="0"/>
          </a:p>
          <a:p>
            <a:pPr marL="152400" indent="-152400">
              <a:spcAft>
                <a:spcPts val="500"/>
              </a:spcAft>
              <a:buSzPct val="100000"/>
              <a:buChar char="▪"/>
            </a:pPr>
            <a:r>
              <a:rPr lang="en-US" sz="1050" dirty="0">
                <a:solidFill>
                  <a:srgbClr val="1A1A2E"/>
                </a:solidFill>
                <a:latin typeface="Malgun Gothic" pitchFamily="34" charset="0"/>
                <a:ea typeface="Malgun Gothic" pitchFamily="34" charset="-122"/>
                <a:cs typeface="Malgun Gothic" pitchFamily="34" charset="-120"/>
              </a:rPr>
              <a:t>단일종목 한도 프리셋 (입문 ≤30% / 성장 ≤40%)</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200" kern="0" dirty="0">
                <a:solidFill>
                  <a:srgbClr val="D70082"/>
                </a:solidFill>
                <a:latin typeface="Malgun Gothic" pitchFamily="34" charset="0"/>
                <a:ea typeface="Malgun Gothic" pitchFamily="34" charset="-122"/>
                <a:cs typeface="Malgun Gothic" pitchFamily="34" charset="-120"/>
              </a:rPr>
              <a:t>SLIDE 07 — 작동 방식과 사용자 흐름</a:t>
            </a:r>
            <a:endParaRPr lang="en-US" sz="1100" dirty="0"/>
          </a:p>
        </p:txBody>
      </p:sp>
      <p:sp>
        <p:nvSpPr>
          <p:cNvPr id="3" name="Text 1"/>
          <p:cNvSpPr/>
          <p:nvPr/>
        </p:nvSpPr>
        <p:spPr>
          <a:xfrm>
            <a:off x="502920" y="530352"/>
            <a:ext cx="8138160" cy="502920"/>
          </a:xfrm>
          <a:prstGeom prst="rect">
            <a:avLst/>
          </a:prstGeom>
          <a:noFill/>
          <a:ln/>
        </p:spPr>
        <p:txBody>
          <a:bodyPr wrap="square" lIns="0" tIns="0" rIns="0" bIns="0" rtlCol="0" anchor="ctr"/>
          <a:lstStyle/>
          <a:p>
            <a:pPr indent="0" marL="0">
              <a:buNone/>
            </a:pPr>
            <a:r>
              <a:rPr lang="en-US" sz="2500" b="1" dirty="0">
                <a:solidFill>
                  <a:srgbClr val="001E5A"/>
                </a:solidFill>
                <a:latin typeface="Malgun Gothic" pitchFamily="34" charset="0"/>
                <a:ea typeface="Malgun Gothic" pitchFamily="34" charset="-122"/>
                <a:cs typeface="Malgun Gothic" pitchFamily="34" charset="-120"/>
              </a:rPr>
              <a:t>주문 안에 ‘왜’가 내장된다 — 질문식 매매</a:t>
            </a:r>
            <a:endParaRPr lang="en-US" sz="2500" dirty="0"/>
          </a:p>
        </p:txBody>
      </p:sp>
      <p:sp>
        <p:nvSpPr>
          <p:cNvPr id="5" name="Text 2"/>
          <p:cNvSpPr/>
          <p:nvPr/>
        </p:nvSpPr>
        <p:spPr>
          <a:xfrm>
            <a:off x="8458200" y="4759452"/>
            <a:ext cx="411480" cy="274320"/>
          </a:xfrm>
          <a:prstGeom prst="rect">
            <a:avLst/>
          </a:prstGeom>
          <a:noFill/>
          <a:ln/>
        </p:spPr>
        <p:txBody>
          <a:bodyPr wrap="square" lIns="0" tIns="0" rIns="0" bIns="0" rtlCol="0" anchor="ctr"/>
          <a:lstStyle/>
          <a:p>
            <a:pPr algn="r" indent="0" marL="0">
              <a:buNone/>
            </a:pPr>
            <a:r>
              <a:rPr lang="en-US" sz="1000" dirty="0">
                <a:solidFill>
                  <a:srgbClr val="BEBEBE"/>
                </a:solidFill>
                <a:latin typeface="Malgun Gothic" pitchFamily="34" charset="0"/>
                <a:ea typeface="Malgun Gothic" pitchFamily="34" charset="-122"/>
                <a:cs typeface="Malgun Gothic" pitchFamily="34" charset="-120"/>
              </a:rPr>
              <a:t>07</a:t>
            </a:r>
            <a:endParaRPr lang="en-US" sz="1000" dirty="0"/>
          </a:p>
        </p:txBody>
      </p:sp>
      <p:sp>
        <p:nvSpPr>
          <p:cNvPr id="6" name="Shape 3"/>
          <p:cNvSpPr/>
          <p:nvPr/>
        </p:nvSpPr>
        <p:spPr>
          <a:xfrm>
            <a:off x="502920" y="1234440"/>
            <a:ext cx="1938528" cy="1783080"/>
          </a:xfrm>
          <a:prstGeom prst="roundRect">
            <a:avLst>
              <a:gd name="adj" fmla="val 6154"/>
            </a:avLst>
          </a:prstGeom>
          <a:solidFill>
            <a:srgbClr val="F4F6FB"/>
          </a:solidFill>
          <a:ln/>
        </p:spPr>
      </p:sp>
      <p:sp>
        <p:nvSpPr>
          <p:cNvPr id="7" name="Shape 4"/>
          <p:cNvSpPr/>
          <p:nvPr/>
        </p:nvSpPr>
        <p:spPr>
          <a:xfrm>
            <a:off x="704088" y="1417320"/>
            <a:ext cx="457200" cy="457200"/>
          </a:xfrm>
          <a:prstGeom prst="ellipse">
            <a:avLst/>
          </a:prstGeom>
          <a:solidFill>
            <a:srgbClr val="001E5A"/>
          </a:solidFill>
          <a:ln/>
        </p:spPr>
      </p:sp>
      <p:pic>
        <p:nvPicPr>
          <p:cNvPr id="8" name="Image 0" descr="preencoded.png">    </p:cNvPr>
          <p:cNvPicPr>
            <a:picLocks noChangeAspect="1"/>
          </p:cNvPicPr>
          <p:nvPr/>
        </p:nvPicPr>
        <p:blipFill>
          <a:blip r:embed="rId1"/>
          <a:stretch>
            <a:fillRect/>
          </a:stretch>
        </p:blipFill>
        <p:spPr>
          <a:xfrm>
            <a:off x="827532" y="1540764"/>
            <a:ext cx="210312" cy="210312"/>
          </a:xfrm>
          <a:prstGeom prst="rect">
            <a:avLst/>
          </a:prstGeom>
        </p:spPr>
      </p:pic>
      <p:sp>
        <p:nvSpPr>
          <p:cNvPr id="9" name="Text 5"/>
          <p:cNvSpPr/>
          <p:nvPr/>
        </p:nvSpPr>
        <p:spPr>
          <a:xfrm>
            <a:off x="1783080" y="1399032"/>
            <a:ext cx="457200" cy="310896"/>
          </a:xfrm>
          <a:prstGeom prst="rect">
            <a:avLst/>
          </a:prstGeom>
          <a:noFill/>
          <a:ln/>
        </p:spPr>
        <p:txBody>
          <a:bodyPr wrap="square" lIns="0" tIns="0" rIns="0" bIns="0" rtlCol="0" anchor="ctr"/>
          <a:lstStyle/>
          <a:p>
            <a:pPr algn="r" indent="0" marL="0">
              <a:buNone/>
            </a:pPr>
            <a:r>
              <a:rPr lang="en-US" sz="1500" b="1" dirty="0">
                <a:solidFill>
                  <a:srgbClr val="BEBEBE"/>
                </a:solidFill>
                <a:latin typeface="Malgun Gothic" pitchFamily="34" charset="0"/>
                <a:ea typeface="Malgun Gothic" pitchFamily="34" charset="-122"/>
                <a:cs typeface="Malgun Gothic" pitchFamily="34" charset="-120"/>
              </a:rPr>
              <a:t>01</a:t>
            </a:r>
            <a:endParaRPr lang="en-US" sz="1500" dirty="0"/>
          </a:p>
        </p:txBody>
      </p:sp>
      <p:sp>
        <p:nvSpPr>
          <p:cNvPr id="10" name="Text 6"/>
          <p:cNvSpPr/>
          <p:nvPr/>
        </p:nvSpPr>
        <p:spPr>
          <a:xfrm>
            <a:off x="704088" y="1984248"/>
            <a:ext cx="1536192" cy="292608"/>
          </a:xfrm>
          <a:prstGeom prst="rect">
            <a:avLst/>
          </a:prstGeom>
          <a:noFill/>
          <a:ln/>
        </p:spPr>
        <p:txBody>
          <a:bodyPr wrap="square" lIns="0" tIns="0" rIns="0" bIns="0" rtlCol="0" anchor="ctr"/>
          <a:lstStyle/>
          <a:p>
            <a:pPr indent="0" marL="0">
              <a:buNone/>
            </a:pPr>
            <a:r>
              <a:rPr lang="en-US" sz="1300" b="1" dirty="0">
                <a:solidFill>
                  <a:srgbClr val="001E5A"/>
                </a:solidFill>
                <a:latin typeface="Malgun Gothic" pitchFamily="34" charset="0"/>
                <a:ea typeface="Malgun Gothic" pitchFamily="34" charset="-122"/>
                <a:cs typeface="Malgun Gothic" pitchFamily="34" charset="-120"/>
              </a:rPr>
              <a:t>종목 탐색</a:t>
            </a:r>
            <a:endParaRPr lang="en-US" sz="1300" dirty="0"/>
          </a:p>
        </p:txBody>
      </p:sp>
      <p:sp>
        <p:nvSpPr>
          <p:cNvPr id="11" name="Text 7"/>
          <p:cNvSpPr/>
          <p:nvPr/>
        </p:nvSpPr>
        <p:spPr>
          <a:xfrm>
            <a:off x="704088" y="2295144"/>
            <a:ext cx="1572768" cy="658368"/>
          </a:xfrm>
          <a:prstGeom prst="rect">
            <a:avLst/>
          </a:prstGeom>
          <a:noFill/>
          <a:ln/>
        </p:spPr>
        <p:txBody>
          <a:bodyPr wrap="square" lIns="0" tIns="0" rIns="0" bIns="0" rtlCol="0" anchor="ctr"/>
          <a:lstStyle/>
          <a:p>
            <a:pPr indent="0" marL="0">
              <a:lnSpc>
                <a:spcPct val="112000"/>
              </a:lnSpc>
              <a:buNone/>
            </a:pPr>
            <a:r>
              <a:rPr lang="en-US" sz="950" dirty="0">
                <a:solidFill>
                  <a:srgbClr val="6B7280"/>
                </a:solidFill>
                <a:latin typeface="Malgun Gothic" pitchFamily="34" charset="0"/>
                <a:ea typeface="Malgun Gothic" pitchFamily="34" charset="-122"/>
                <a:cs typeface="Malgun Gothic" pitchFamily="34" charset="-120"/>
              </a:rPr>
              <a:t>우량주 50종 ·</a:t>
            </a:r>
            <a:endParaRPr lang="en-US" sz="950" dirty="0"/>
          </a:p>
          <a:p>
            <a:pPr indent="0" marL="0">
              <a:lnSpc>
                <a:spcPct val="112000"/>
              </a:lnSpc>
              <a:buNone/>
            </a:pPr>
            <a:r>
              <a:rPr lang="en-US" sz="950" dirty="0">
                <a:solidFill>
                  <a:srgbClr val="6B7280"/>
                </a:solidFill>
                <a:latin typeface="Malgun Gothic" pitchFamily="34" charset="0"/>
                <a:ea typeface="Malgun Gothic" pitchFamily="34" charset="-122"/>
                <a:cs typeface="Malgun Gothic" pitchFamily="34" charset="-120"/>
              </a:rPr>
              <a:t>아이 눈높이 기업 설명</a:t>
            </a:r>
            <a:endParaRPr lang="en-US" sz="950" dirty="0"/>
          </a:p>
        </p:txBody>
      </p:sp>
      <p:pic>
        <p:nvPicPr>
          <p:cNvPr id="12" name="Image 1" descr="preencoded.png">    </p:cNvPr>
          <p:cNvPicPr>
            <a:picLocks noChangeAspect="1"/>
          </p:cNvPicPr>
          <p:nvPr/>
        </p:nvPicPr>
        <p:blipFill>
          <a:blip r:embed="rId2"/>
          <a:stretch>
            <a:fillRect/>
          </a:stretch>
        </p:blipFill>
        <p:spPr>
          <a:xfrm>
            <a:off x="2473452" y="2034540"/>
            <a:ext cx="182880" cy="182880"/>
          </a:xfrm>
          <a:prstGeom prst="rect">
            <a:avLst/>
          </a:prstGeom>
        </p:spPr>
      </p:pic>
      <p:sp>
        <p:nvSpPr>
          <p:cNvPr id="13" name="Shape 8"/>
          <p:cNvSpPr/>
          <p:nvPr/>
        </p:nvSpPr>
        <p:spPr>
          <a:xfrm>
            <a:off x="2688336" y="1234440"/>
            <a:ext cx="1938528" cy="1783080"/>
          </a:xfrm>
          <a:prstGeom prst="roundRect">
            <a:avLst>
              <a:gd name="adj" fmla="val 6154"/>
            </a:avLst>
          </a:prstGeom>
          <a:solidFill>
            <a:srgbClr val="FBEAF4"/>
          </a:solidFill>
          <a:ln w="22225">
            <a:solidFill>
              <a:srgbClr val="D70082"/>
            </a:solidFill>
            <a:prstDash val="solid"/>
          </a:ln>
        </p:spPr>
      </p:sp>
      <p:sp>
        <p:nvSpPr>
          <p:cNvPr id="14" name="Shape 9"/>
          <p:cNvSpPr/>
          <p:nvPr/>
        </p:nvSpPr>
        <p:spPr>
          <a:xfrm>
            <a:off x="2889504" y="1417320"/>
            <a:ext cx="457200" cy="457200"/>
          </a:xfrm>
          <a:prstGeom prst="ellipse">
            <a:avLst/>
          </a:prstGeom>
          <a:solidFill>
            <a:srgbClr val="D70082"/>
          </a:solidFill>
          <a:ln/>
        </p:spPr>
      </p:sp>
      <p:pic>
        <p:nvPicPr>
          <p:cNvPr id="15" name="Image 2" descr="preencoded.png">    </p:cNvPr>
          <p:cNvPicPr>
            <a:picLocks noChangeAspect="1"/>
          </p:cNvPicPr>
          <p:nvPr/>
        </p:nvPicPr>
        <p:blipFill>
          <a:blip r:embed="rId3"/>
          <a:stretch>
            <a:fillRect/>
          </a:stretch>
        </p:blipFill>
        <p:spPr>
          <a:xfrm>
            <a:off x="3012948" y="1540764"/>
            <a:ext cx="210312" cy="210312"/>
          </a:xfrm>
          <a:prstGeom prst="rect">
            <a:avLst/>
          </a:prstGeom>
        </p:spPr>
      </p:pic>
      <p:sp>
        <p:nvSpPr>
          <p:cNvPr id="16" name="Text 10"/>
          <p:cNvSpPr/>
          <p:nvPr/>
        </p:nvSpPr>
        <p:spPr>
          <a:xfrm>
            <a:off x="3968496" y="1399032"/>
            <a:ext cx="457200" cy="310896"/>
          </a:xfrm>
          <a:prstGeom prst="rect">
            <a:avLst/>
          </a:prstGeom>
          <a:noFill/>
          <a:ln/>
        </p:spPr>
        <p:txBody>
          <a:bodyPr wrap="square" lIns="0" tIns="0" rIns="0" bIns="0" rtlCol="0" anchor="ctr"/>
          <a:lstStyle/>
          <a:p>
            <a:pPr algn="r" indent="0" marL="0">
              <a:buNone/>
            </a:pPr>
            <a:r>
              <a:rPr lang="en-US" sz="1500" b="1" dirty="0">
                <a:solidFill>
                  <a:srgbClr val="D70082"/>
                </a:solidFill>
                <a:latin typeface="Malgun Gothic" pitchFamily="34" charset="0"/>
                <a:ea typeface="Malgun Gothic" pitchFamily="34" charset="-122"/>
                <a:cs typeface="Malgun Gothic" pitchFamily="34" charset="-120"/>
              </a:rPr>
              <a:t>02</a:t>
            </a:r>
            <a:endParaRPr lang="en-US" sz="1500" dirty="0"/>
          </a:p>
        </p:txBody>
      </p:sp>
      <p:sp>
        <p:nvSpPr>
          <p:cNvPr id="17" name="Text 11"/>
          <p:cNvSpPr/>
          <p:nvPr/>
        </p:nvSpPr>
        <p:spPr>
          <a:xfrm>
            <a:off x="2889504" y="1984248"/>
            <a:ext cx="1536192" cy="292608"/>
          </a:xfrm>
          <a:prstGeom prst="rect">
            <a:avLst/>
          </a:prstGeom>
          <a:noFill/>
          <a:ln/>
        </p:spPr>
        <p:txBody>
          <a:bodyPr wrap="square" lIns="0" tIns="0" rIns="0" bIns="0" rtlCol="0" anchor="ctr"/>
          <a:lstStyle/>
          <a:p>
            <a:pPr indent="0" marL="0">
              <a:buNone/>
            </a:pPr>
            <a:r>
              <a:rPr lang="en-US" sz="1300" b="1" dirty="0">
                <a:solidFill>
                  <a:srgbClr val="D70082"/>
                </a:solidFill>
                <a:latin typeface="Malgun Gothic" pitchFamily="34" charset="0"/>
                <a:ea typeface="Malgun Gothic" pitchFamily="34" charset="-122"/>
                <a:cs typeface="Malgun Gothic" pitchFamily="34" charset="-120"/>
              </a:rPr>
              <a:t>질문식 매매</a:t>
            </a:r>
            <a:endParaRPr lang="en-US" sz="1300" dirty="0"/>
          </a:p>
        </p:txBody>
      </p:sp>
      <p:sp>
        <p:nvSpPr>
          <p:cNvPr id="18" name="Text 12"/>
          <p:cNvSpPr/>
          <p:nvPr/>
        </p:nvSpPr>
        <p:spPr>
          <a:xfrm>
            <a:off x="2889504" y="2295144"/>
            <a:ext cx="1572768" cy="658368"/>
          </a:xfrm>
          <a:prstGeom prst="rect">
            <a:avLst/>
          </a:prstGeom>
          <a:noFill/>
          <a:ln/>
        </p:spPr>
        <p:txBody>
          <a:bodyPr wrap="square" lIns="0" tIns="0" rIns="0" bIns="0" rtlCol="0" anchor="ctr"/>
          <a:lstStyle/>
          <a:p>
            <a:pPr indent="0" marL="0">
              <a:lnSpc>
                <a:spcPct val="112000"/>
              </a:lnSpc>
              <a:buNone/>
            </a:pPr>
            <a:r>
              <a:rPr lang="en-US" sz="950" dirty="0">
                <a:solidFill>
                  <a:srgbClr val="6B7280"/>
                </a:solidFill>
                <a:latin typeface="Malgun Gothic" pitchFamily="34" charset="0"/>
                <a:ea typeface="Malgun Gothic" pitchFamily="34" charset="-122"/>
                <a:cs typeface="Malgun Gothic" pitchFamily="34" charset="-120"/>
              </a:rPr>
              <a:t>근거 태깅(버튼) + 확신도</a:t>
            </a:r>
            <a:endParaRPr lang="en-US" sz="950" dirty="0"/>
          </a:p>
          <a:p>
            <a:pPr indent="0" marL="0">
              <a:lnSpc>
                <a:spcPct val="112000"/>
              </a:lnSpc>
              <a:buNone/>
            </a:pPr>
            <a:r>
              <a:rPr lang="en-US" sz="950" dirty="0">
                <a:solidFill>
                  <a:srgbClr val="6B7280"/>
                </a:solidFill>
                <a:latin typeface="Malgun Gothic" pitchFamily="34" charset="0"/>
                <a:ea typeface="Malgun Gothic" pitchFamily="34" charset="-122"/>
                <a:cs typeface="Malgun Gothic" pitchFamily="34" charset="-120"/>
              </a:rPr>
              <a:t>(슬라이더) + 보유 계획</a:t>
            </a:r>
            <a:endParaRPr lang="en-US" sz="950" dirty="0"/>
          </a:p>
        </p:txBody>
      </p:sp>
      <p:pic>
        <p:nvPicPr>
          <p:cNvPr id="19" name="Image 3" descr="preencoded.png">    </p:cNvPr>
          <p:cNvPicPr>
            <a:picLocks noChangeAspect="1"/>
          </p:cNvPicPr>
          <p:nvPr/>
        </p:nvPicPr>
        <p:blipFill>
          <a:blip r:embed="rId4"/>
          <a:stretch>
            <a:fillRect/>
          </a:stretch>
        </p:blipFill>
        <p:spPr>
          <a:xfrm>
            <a:off x="4658868" y="2034540"/>
            <a:ext cx="182880" cy="182880"/>
          </a:xfrm>
          <a:prstGeom prst="rect">
            <a:avLst/>
          </a:prstGeom>
        </p:spPr>
      </p:pic>
      <p:sp>
        <p:nvSpPr>
          <p:cNvPr id="20" name="Shape 13"/>
          <p:cNvSpPr/>
          <p:nvPr/>
        </p:nvSpPr>
        <p:spPr>
          <a:xfrm>
            <a:off x="4873752" y="1234440"/>
            <a:ext cx="1938528" cy="1783080"/>
          </a:xfrm>
          <a:prstGeom prst="roundRect">
            <a:avLst>
              <a:gd name="adj" fmla="val 6154"/>
            </a:avLst>
          </a:prstGeom>
          <a:solidFill>
            <a:srgbClr val="F4F6FB"/>
          </a:solidFill>
          <a:ln/>
        </p:spPr>
      </p:sp>
      <p:sp>
        <p:nvSpPr>
          <p:cNvPr id="21" name="Shape 14"/>
          <p:cNvSpPr/>
          <p:nvPr/>
        </p:nvSpPr>
        <p:spPr>
          <a:xfrm>
            <a:off x="5074920" y="1417320"/>
            <a:ext cx="457200" cy="457200"/>
          </a:xfrm>
          <a:prstGeom prst="ellipse">
            <a:avLst/>
          </a:prstGeom>
          <a:solidFill>
            <a:srgbClr val="001E5A"/>
          </a:solidFill>
          <a:ln/>
        </p:spPr>
      </p:sp>
      <p:pic>
        <p:nvPicPr>
          <p:cNvPr id="22" name="Image 4" descr="preencoded.png">    </p:cNvPr>
          <p:cNvPicPr>
            <a:picLocks noChangeAspect="1"/>
          </p:cNvPicPr>
          <p:nvPr/>
        </p:nvPicPr>
        <p:blipFill>
          <a:blip r:embed="rId5"/>
          <a:stretch>
            <a:fillRect/>
          </a:stretch>
        </p:blipFill>
        <p:spPr>
          <a:xfrm>
            <a:off x="5198364" y="1540764"/>
            <a:ext cx="210312" cy="210312"/>
          </a:xfrm>
          <a:prstGeom prst="rect">
            <a:avLst/>
          </a:prstGeom>
        </p:spPr>
      </p:pic>
      <p:sp>
        <p:nvSpPr>
          <p:cNvPr id="23" name="Text 15"/>
          <p:cNvSpPr/>
          <p:nvPr/>
        </p:nvSpPr>
        <p:spPr>
          <a:xfrm>
            <a:off x="6153912" y="1399032"/>
            <a:ext cx="457200" cy="310896"/>
          </a:xfrm>
          <a:prstGeom prst="rect">
            <a:avLst/>
          </a:prstGeom>
          <a:noFill/>
          <a:ln/>
        </p:spPr>
        <p:txBody>
          <a:bodyPr wrap="square" lIns="0" tIns="0" rIns="0" bIns="0" rtlCol="0" anchor="ctr"/>
          <a:lstStyle/>
          <a:p>
            <a:pPr algn="r" indent="0" marL="0">
              <a:buNone/>
            </a:pPr>
            <a:r>
              <a:rPr lang="en-US" sz="1500" b="1" dirty="0">
                <a:solidFill>
                  <a:srgbClr val="BEBEBE"/>
                </a:solidFill>
                <a:latin typeface="Malgun Gothic" pitchFamily="34" charset="0"/>
                <a:ea typeface="Malgun Gothic" pitchFamily="34" charset="-122"/>
                <a:cs typeface="Malgun Gothic" pitchFamily="34" charset="-120"/>
              </a:rPr>
              <a:t>03</a:t>
            </a:r>
            <a:endParaRPr lang="en-US" sz="1500" dirty="0"/>
          </a:p>
        </p:txBody>
      </p:sp>
      <p:sp>
        <p:nvSpPr>
          <p:cNvPr id="24" name="Text 16"/>
          <p:cNvSpPr/>
          <p:nvPr/>
        </p:nvSpPr>
        <p:spPr>
          <a:xfrm>
            <a:off x="5074920" y="1984248"/>
            <a:ext cx="1536192" cy="292608"/>
          </a:xfrm>
          <a:prstGeom prst="rect">
            <a:avLst/>
          </a:prstGeom>
          <a:noFill/>
          <a:ln/>
        </p:spPr>
        <p:txBody>
          <a:bodyPr wrap="square" lIns="0" tIns="0" rIns="0" bIns="0" rtlCol="0" anchor="ctr"/>
          <a:lstStyle/>
          <a:p>
            <a:pPr indent="0" marL="0">
              <a:buNone/>
            </a:pPr>
            <a:r>
              <a:rPr lang="en-US" sz="1300" b="1" dirty="0">
                <a:solidFill>
                  <a:srgbClr val="001E5A"/>
                </a:solidFill>
                <a:latin typeface="Malgun Gothic" pitchFamily="34" charset="0"/>
                <a:ea typeface="Malgun Gothic" pitchFamily="34" charset="-122"/>
                <a:cs typeface="Malgun Gothic" pitchFamily="34" charset="-120"/>
              </a:rPr>
              <a:t>체결</a:t>
            </a:r>
            <a:endParaRPr lang="en-US" sz="1300" dirty="0"/>
          </a:p>
        </p:txBody>
      </p:sp>
      <p:sp>
        <p:nvSpPr>
          <p:cNvPr id="25" name="Text 17"/>
          <p:cNvSpPr/>
          <p:nvPr/>
        </p:nvSpPr>
        <p:spPr>
          <a:xfrm>
            <a:off x="5074920" y="2295144"/>
            <a:ext cx="1572768" cy="658368"/>
          </a:xfrm>
          <a:prstGeom prst="rect">
            <a:avLst/>
          </a:prstGeom>
          <a:noFill/>
          <a:ln/>
        </p:spPr>
        <p:txBody>
          <a:bodyPr wrap="square" lIns="0" tIns="0" rIns="0" bIns="0" rtlCol="0" anchor="ctr"/>
          <a:lstStyle/>
          <a:p>
            <a:pPr indent="0" marL="0">
              <a:lnSpc>
                <a:spcPct val="112000"/>
              </a:lnSpc>
              <a:buNone/>
            </a:pPr>
            <a:r>
              <a:rPr lang="en-US" sz="950" dirty="0">
                <a:solidFill>
                  <a:srgbClr val="6B7280"/>
                </a:solidFill>
                <a:latin typeface="Malgun Gothic" pitchFamily="34" charset="0"/>
                <a:ea typeface="Malgun Gothic" pitchFamily="34" charset="-122"/>
                <a:cs typeface="Malgun Gothic" pitchFamily="34" charset="-120"/>
              </a:rPr>
              <a:t>장 운영시간 준수 ·</a:t>
            </a:r>
            <a:endParaRPr lang="en-US" sz="950" dirty="0"/>
          </a:p>
          <a:p>
            <a:pPr indent="0" marL="0">
              <a:lnSpc>
                <a:spcPct val="112000"/>
              </a:lnSpc>
              <a:buNone/>
            </a:pPr>
            <a:r>
              <a:rPr lang="en-US" sz="950" dirty="0">
                <a:solidFill>
                  <a:srgbClr val="6B7280"/>
                </a:solidFill>
                <a:latin typeface="Malgun Gothic" pitchFamily="34" charset="0"/>
                <a:ea typeface="Malgun Gothic" pitchFamily="34" charset="-122"/>
                <a:cs typeface="Malgun Gothic" pitchFamily="34" charset="-120"/>
              </a:rPr>
              <a:t>수수료·세금 안내</a:t>
            </a:r>
            <a:endParaRPr lang="en-US" sz="950" dirty="0"/>
          </a:p>
        </p:txBody>
      </p:sp>
      <p:pic>
        <p:nvPicPr>
          <p:cNvPr id="26" name="Image 5" descr="preencoded.png">    </p:cNvPr>
          <p:cNvPicPr>
            <a:picLocks noChangeAspect="1"/>
          </p:cNvPicPr>
          <p:nvPr/>
        </p:nvPicPr>
        <p:blipFill>
          <a:blip r:embed="rId6"/>
          <a:stretch>
            <a:fillRect/>
          </a:stretch>
        </p:blipFill>
        <p:spPr>
          <a:xfrm>
            <a:off x="6844284" y="2034540"/>
            <a:ext cx="182880" cy="182880"/>
          </a:xfrm>
          <a:prstGeom prst="rect">
            <a:avLst/>
          </a:prstGeom>
        </p:spPr>
      </p:pic>
      <p:sp>
        <p:nvSpPr>
          <p:cNvPr id="27" name="Shape 18"/>
          <p:cNvSpPr/>
          <p:nvPr/>
        </p:nvSpPr>
        <p:spPr>
          <a:xfrm>
            <a:off x="7059168" y="1234440"/>
            <a:ext cx="1938528" cy="1783080"/>
          </a:xfrm>
          <a:prstGeom prst="roundRect">
            <a:avLst>
              <a:gd name="adj" fmla="val 6154"/>
            </a:avLst>
          </a:prstGeom>
          <a:solidFill>
            <a:srgbClr val="F4F6FB"/>
          </a:solidFill>
          <a:ln/>
        </p:spPr>
      </p:sp>
      <p:sp>
        <p:nvSpPr>
          <p:cNvPr id="28" name="Shape 19"/>
          <p:cNvSpPr/>
          <p:nvPr/>
        </p:nvSpPr>
        <p:spPr>
          <a:xfrm>
            <a:off x="7260336" y="1417320"/>
            <a:ext cx="457200" cy="457200"/>
          </a:xfrm>
          <a:prstGeom prst="ellipse">
            <a:avLst/>
          </a:prstGeom>
          <a:solidFill>
            <a:srgbClr val="001E5A"/>
          </a:solidFill>
          <a:ln/>
        </p:spPr>
      </p:sp>
      <p:pic>
        <p:nvPicPr>
          <p:cNvPr id="29" name="Image 6" descr="preencoded.png">    </p:cNvPr>
          <p:cNvPicPr>
            <a:picLocks noChangeAspect="1"/>
          </p:cNvPicPr>
          <p:nvPr/>
        </p:nvPicPr>
        <p:blipFill>
          <a:blip r:embed="rId7"/>
          <a:stretch>
            <a:fillRect/>
          </a:stretch>
        </p:blipFill>
        <p:spPr>
          <a:xfrm>
            <a:off x="7383780" y="1540764"/>
            <a:ext cx="210312" cy="210312"/>
          </a:xfrm>
          <a:prstGeom prst="rect">
            <a:avLst/>
          </a:prstGeom>
        </p:spPr>
      </p:pic>
      <p:sp>
        <p:nvSpPr>
          <p:cNvPr id="30" name="Text 20"/>
          <p:cNvSpPr/>
          <p:nvPr/>
        </p:nvSpPr>
        <p:spPr>
          <a:xfrm>
            <a:off x="8339328" y="1399032"/>
            <a:ext cx="457200" cy="310896"/>
          </a:xfrm>
          <a:prstGeom prst="rect">
            <a:avLst/>
          </a:prstGeom>
          <a:noFill/>
          <a:ln/>
        </p:spPr>
        <p:txBody>
          <a:bodyPr wrap="square" lIns="0" tIns="0" rIns="0" bIns="0" rtlCol="0" anchor="ctr"/>
          <a:lstStyle/>
          <a:p>
            <a:pPr algn="r" indent="0" marL="0">
              <a:buNone/>
            </a:pPr>
            <a:r>
              <a:rPr lang="en-US" sz="1500" b="1" dirty="0">
                <a:solidFill>
                  <a:srgbClr val="BEBEBE"/>
                </a:solidFill>
                <a:latin typeface="Malgun Gothic" pitchFamily="34" charset="0"/>
                <a:ea typeface="Malgun Gothic" pitchFamily="34" charset="-122"/>
                <a:cs typeface="Malgun Gothic" pitchFamily="34" charset="-120"/>
              </a:rPr>
              <a:t>04</a:t>
            </a:r>
            <a:endParaRPr lang="en-US" sz="1500" dirty="0"/>
          </a:p>
        </p:txBody>
      </p:sp>
      <p:sp>
        <p:nvSpPr>
          <p:cNvPr id="31" name="Text 21"/>
          <p:cNvSpPr/>
          <p:nvPr/>
        </p:nvSpPr>
        <p:spPr>
          <a:xfrm>
            <a:off x="7260336" y="1984248"/>
            <a:ext cx="1536192" cy="292608"/>
          </a:xfrm>
          <a:prstGeom prst="rect">
            <a:avLst/>
          </a:prstGeom>
          <a:noFill/>
          <a:ln/>
        </p:spPr>
        <p:txBody>
          <a:bodyPr wrap="square" lIns="0" tIns="0" rIns="0" bIns="0" rtlCol="0" anchor="ctr"/>
          <a:lstStyle/>
          <a:p>
            <a:pPr indent="0" marL="0">
              <a:buNone/>
            </a:pPr>
            <a:r>
              <a:rPr lang="en-US" sz="1300" b="1" dirty="0">
                <a:solidFill>
                  <a:srgbClr val="001E5A"/>
                </a:solidFill>
                <a:latin typeface="Malgun Gothic" pitchFamily="34" charset="0"/>
                <a:ea typeface="Malgun Gothic" pitchFamily="34" charset="-122"/>
                <a:cs typeface="Malgun Gothic" pitchFamily="34" charset="-120"/>
              </a:rPr>
              <a:t>가족 대시보드</a:t>
            </a:r>
            <a:endParaRPr lang="en-US" sz="1300" dirty="0"/>
          </a:p>
        </p:txBody>
      </p:sp>
      <p:sp>
        <p:nvSpPr>
          <p:cNvPr id="32" name="Text 22"/>
          <p:cNvSpPr/>
          <p:nvPr/>
        </p:nvSpPr>
        <p:spPr>
          <a:xfrm>
            <a:off x="7260336" y="2295144"/>
            <a:ext cx="1572768" cy="658368"/>
          </a:xfrm>
          <a:prstGeom prst="rect">
            <a:avLst/>
          </a:prstGeom>
          <a:noFill/>
          <a:ln/>
        </p:spPr>
        <p:txBody>
          <a:bodyPr wrap="square" lIns="0" tIns="0" rIns="0" bIns="0" rtlCol="0" anchor="ctr"/>
          <a:lstStyle/>
          <a:p>
            <a:pPr indent="0" marL="0">
              <a:lnSpc>
                <a:spcPct val="112000"/>
              </a:lnSpc>
              <a:buNone/>
            </a:pPr>
            <a:r>
              <a:rPr lang="en-US" sz="950" dirty="0">
                <a:solidFill>
                  <a:srgbClr val="6B7280"/>
                </a:solidFill>
                <a:latin typeface="Malgun Gothic" pitchFamily="34" charset="0"/>
                <a:ea typeface="Malgun Gothic" pitchFamily="34" charset="-122"/>
                <a:cs typeface="Malgun Gothic" pitchFamily="34" charset="-120"/>
              </a:rPr>
              <a:t>리그 순위 · 각자 수익률 ·</a:t>
            </a:r>
            <a:endParaRPr lang="en-US" sz="950" dirty="0"/>
          </a:p>
          <a:p>
            <a:pPr indent="0" marL="0">
              <a:lnSpc>
                <a:spcPct val="112000"/>
              </a:lnSpc>
              <a:buNone/>
            </a:pPr>
            <a:r>
              <a:rPr lang="en-US" sz="950" dirty="0">
                <a:solidFill>
                  <a:srgbClr val="6B7280"/>
                </a:solidFill>
                <a:latin typeface="Malgun Gothic" pitchFamily="34" charset="0"/>
                <a:ea typeface="Malgun Gothic" pitchFamily="34" charset="-122"/>
                <a:cs typeface="Malgun Gothic" pitchFamily="34" charset="-120"/>
              </a:rPr>
              <a:t>가족 대화의 트리거</a:t>
            </a:r>
            <a:endParaRPr lang="en-US" sz="950" dirty="0"/>
          </a:p>
        </p:txBody>
      </p:sp>
      <p:sp>
        <p:nvSpPr>
          <p:cNvPr id="33" name="Text 23"/>
          <p:cNvSpPr/>
          <p:nvPr/>
        </p:nvSpPr>
        <p:spPr>
          <a:xfrm>
            <a:off x="502920" y="3154680"/>
            <a:ext cx="8138160" cy="274320"/>
          </a:xfrm>
          <a:prstGeom prst="rect">
            <a:avLst/>
          </a:prstGeom>
          <a:noFill/>
          <a:ln/>
        </p:spPr>
        <p:txBody>
          <a:bodyPr wrap="square" lIns="0" tIns="0" rIns="0" bIns="0" rtlCol="0" anchor="ctr"/>
          <a:lstStyle/>
          <a:p>
            <a:pPr indent="0" marL="0">
              <a:buNone/>
            </a:pPr>
            <a:r>
              <a:rPr lang="en-US" sz="1100" b="1" dirty="0">
                <a:solidFill>
                  <a:srgbClr val="001E5A"/>
                </a:solidFill>
                <a:latin typeface="Malgun Gothic" pitchFamily="34" charset="0"/>
                <a:ea typeface="Malgun Gothic" pitchFamily="34" charset="-122"/>
                <a:cs typeface="Malgun Gothic" pitchFamily="34" charset="-120"/>
              </a:rPr>
              <a:t>→ 매매·기록·탐색 행동이 전부 데이터로 축적되어, 아래 두 기능의 입력이 된다</a:t>
            </a:r>
            <a:endParaRPr lang="en-US" sz="1100" dirty="0"/>
          </a:p>
        </p:txBody>
      </p:sp>
      <p:sp>
        <p:nvSpPr>
          <p:cNvPr id="34" name="Shape 24"/>
          <p:cNvSpPr/>
          <p:nvPr/>
        </p:nvSpPr>
        <p:spPr>
          <a:xfrm>
            <a:off x="502920" y="3493008"/>
            <a:ext cx="8138160" cy="566928"/>
          </a:xfrm>
          <a:prstGeom prst="roundRect">
            <a:avLst>
              <a:gd name="adj" fmla="val 16129"/>
            </a:avLst>
          </a:prstGeom>
          <a:solidFill>
            <a:srgbClr val="F4F6FB"/>
          </a:solidFill>
          <a:ln/>
        </p:spPr>
      </p:sp>
      <p:sp>
        <p:nvSpPr>
          <p:cNvPr id="35" name="Shape 25"/>
          <p:cNvSpPr/>
          <p:nvPr/>
        </p:nvSpPr>
        <p:spPr>
          <a:xfrm>
            <a:off x="658368" y="3575304"/>
            <a:ext cx="402336" cy="402336"/>
          </a:xfrm>
          <a:prstGeom prst="ellipse">
            <a:avLst/>
          </a:prstGeom>
          <a:solidFill>
            <a:srgbClr val="001E5A"/>
          </a:solidFill>
          <a:ln/>
        </p:spPr>
      </p:sp>
      <p:pic>
        <p:nvPicPr>
          <p:cNvPr id="36" name="Image 7" descr="preencoded.png">    </p:cNvPr>
          <p:cNvPicPr>
            <a:picLocks noChangeAspect="1"/>
          </p:cNvPicPr>
          <p:nvPr/>
        </p:nvPicPr>
        <p:blipFill>
          <a:blip r:embed="rId8"/>
          <a:stretch>
            <a:fillRect/>
          </a:stretch>
        </p:blipFill>
        <p:spPr>
          <a:xfrm>
            <a:off x="766999" y="3683935"/>
            <a:ext cx="185075" cy="185075"/>
          </a:xfrm>
          <a:prstGeom prst="rect">
            <a:avLst/>
          </a:prstGeom>
        </p:spPr>
      </p:pic>
      <p:sp>
        <p:nvSpPr>
          <p:cNvPr id="37" name="Text 26"/>
          <p:cNvSpPr/>
          <p:nvPr/>
        </p:nvSpPr>
        <p:spPr>
          <a:xfrm>
            <a:off x="1188720" y="3493008"/>
            <a:ext cx="7315200" cy="566928"/>
          </a:xfrm>
          <a:prstGeom prst="rect">
            <a:avLst/>
          </a:prstGeom>
          <a:noFill/>
          <a:ln/>
        </p:spPr>
        <p:txBody>
          <a:bodyPr wrap="square" lIns="0" tIns="0" rIns="0" bIns="0" rtlCol="0" anchor="ctr"/>
          <a:lstStyle/>
          <a:p>
            <a:pPr indent="0" marL="0">
              <a:buNone/>
            </a:pPr>
            <a:r>
              <a:rPr lang="en-US" sz="1150" b="1" dirty="0">
                <a:solidFill>
                  <a:srgbClr val="001E5A"/>
                </a:solidFill>
                <a:latin typeface="Malgun Gothic" pitchFamily="34" charset="0"/>
                <a:ea typeface="Malgun Gothic" pitchFamily="34" charset="-122"/>
                <a:cs typeface="Malgun Gothic" pitchFamily="34" charset="-120"/>
              </a:rPr>
              <a:t>성장 아카이브   </a:t>
            </a:r>
            <a:pPr indent="0" marL="0">
              <a:buNone/>
            </a:pPr>
            <a:r>
              <a:rPr lang="en-US" sz="1000" dirty="0">
                <a:solidFill>
                  <a:srgbClr val="6B7280"/>
                </a:solidFill>
                <a:latin typeface="Malgun Gothic" pitchFamily="34" charset="0"/>
                <a:ea typeface="Malgun Gothic" pitchFamily="34" charset="-122"/>
                <a:cs typeface="Malgun Gothic" pitchFamily="34" charset="-120"/>
              </a:rPr>
              <a:t>룰 기반 엔진이 성향 5축 계산 → 유형 라벨·주간 리포트·가족 비교  ·  친화도 스코어(ML)로 시즌 전후 성장 측정 — LLM은 서술만, 수치 추정 금지</a:t>
            </a:r>
            <a:endParaRPr lang="en-US" sz="1150" dirty="0"/>
          </a:p>
        </p:txBody>
      </p:sp>
      <p:sp>
        <p:nvSpPr>
          <p:cNvPr id="38" name="Shape 27"/>
          <p:cNvSpPr/>
          <p:nvPr/>
        </p:nvSpPr>
        <p:spPr>
          <a:xfrm>
            <a:off x="502920" y="4151376"/>
            <a:ext cx="8138160" cy="566928"/>
          </a:xfrm>
          <a:prstGeom prst="roundRect">
            <a:avLst>
              <a:gd name="adj" fmla="val 16129"/>
            </a:avLst>
          </a:prstGeom>
          <a:solidFill>
            <a:srgbClr val="F4F6FB"/>
          </a:solidFill>
          <a:ln/>
        </p:spPr>
      </p:sp>
      <p:sp>
        <p:nvSpPr>
          <p:cNvPr id="39" name="Shape 28"/>
          <p:cNvSpPr/>
          <p:nvPr/>
        </p:nvSpPr>
        <p:spPr>
          <a:xfrm>
            <a:off x="658368" y="4233672"/>
            <a:ext cx="402336" cy="402336"/>
          </a:xfrm>
          <a:prstGeom prst="ellipse">
            <a:avLst/>
          </a:prstGeom>
          <a:solidFill>
            <a:srgbClr val="001E5A"/>
          </a:solidFill>
          <a:ln/>
        </p:spPr>
      </p:sp>
      <p:pic>
        <p:nvPicPr>
          <p:cNvPr id="40" name="Image 8" descr="preencoded.png">    </p:cNvPr>
          <p:cNvPicPr>
            <a:picLocks noChangeAspect="1"/>
          </p:cNvPicPr>
          <p:nvPr/>
        </p:nvPicPr>
        <p:blipFill>
          <a:blip r:embed="rId9"/>
          <a:stretch>
            <a:fillRect/>
          </a:stretch>
        </p:blipFill>
        <p:spPr>
          <a:xfrm>
            <a:off x="766999" y="4342303"/>
            <a:ext cx="185075" cy="185075"/>
          </a:xfrm>
          <a:prstGeom prst="rect">
            <a:avLst/>
          </a:prstGeom>
        </p:spPr>
      </p:pic>
      <p:sp>
        <p:nvSpPr>
          <p:cNvPr id="41" name="Text 29"/>
          <p:cNvSpPr/>
          <p:nvPr/>
        </p:nvSpPr>
        <p:spPr>
          <a:xfrm>
            <a:off x="1188720" y="4151376"/>
            <a:ext cx="7315200" cy="566928"/>
          </a:xfrm>
          <a:prstGeom prst="rect">
            <a:avLst/>
          </a:prstGeom>
          <a:noFill/>
          <a:ln/>
        </p:spPr>
        <p:txBody>
          <a:bodyPr wrap="square" lIns="0" tIns="0" rIns="0" bIns="0" rtlCol="0" anchor="ctr"/>
          <a:lstStyle/>
          <a:p>
            <a:pPr indent="0" marL="0">
              <a:buNone/>
            </a:pPr>
            <a:r>
              <a:rPr lang="en-US" sz="1150" b="1" dirty="0">
                <a:solidFill>
                  <a:srgbClr val="001E5A"/>
                </a:solidFill>
                <a:latin typeface="Malgun Gothic" pitchFamily="34" charset="0"/>
                <a:ea typeface="Malgun Gothic" pitchFamily="34" charset="-122"/>
                <a:cs typeface="Malgun Gothic" pitchFamily="34" charset="-120"/>
              </a:rPr>
              <a:t>플로팅 챗봇 키웅이   </a:t>
            </a:r>
            <a:pPr indent="0" marL="0">
              <a:buNone/>
            </a:pPr>
            <a:r>
              <a:rPr lang="en-US" sz="1000" dirty="0">
                <a:solidFill>
                  <a:srgbClr val="6B7280"/>
                </a:solidFill>
                <a:latin typeface="Malgun Gothic" pitchFamily="34" charset="0"/>
                <a:ea typeface="Malgun Gothic" pitchFamily="34" charset="-122"/>
                <a:cs typeface="Malgun Gothic" pitchFamily="34" charset="-120"/>
              </a:rPr>
              <a:t>“시장가가 뭐야?” 아이 눈높이 답변 + 헤매는 신호 4종 감지 시 선제 도움  ·  종목 추천·예측·훈계 절대 금지 (규제 방어 장치 겸용)</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200" kern="0" dirty="0">
                <a:solidFill>
                  <a:srgbClr val="D70082"/>
                </a:solidFill>
                <a:latin typeface="Malgun Gothic" pitchFamily="34" charset="0"/>
                <a:ea typeface="Malgun Gothic" pitchFamily="34" charset="-122"/>
                <a:cs typeface="Malgun Gothic" pitchFamily="34" charset="-120"/>
              </a:rPr>
              <a:t>SLIDE 08 — 핵심기능 ② 성장 아카이브</a:t>
            </a:r>
            <a:endParaRPr lang="en-US" sz="1100" dirty="0"/>
          </a:p>
        </p:txBody>
      </p:sp>
      <p:sp>
        <p:nvSpPr>
          <p:cNvPr id="3" name="Text 1"/>
          <p:cNvSpPr/>
          <p:nvPr/>
        </p:nvSpPr>
        <p:spPr>
          <a:xfrm>
            <a:off x="502920" y="530352"/>
            <a:ext cx="8138160" cy="502920"/>
          </a:xfrm>
          <a:prstGeom prst="rect">
            <a:avLst/>
          </a:prstGeom>
          <a:noFill/>
          <a:ln/>
        </p:spPr>
        <p:txBody>
          <a:bodyPr wrap="square" lIns="0" tIns="0" rIns="0" bIns="0" rtlCol="0" anchor="ctr"/>
          <a:lstStyle/>
          <a:p>
            <a:pPr indent="0" marL="0">
              <a:buNone/>
            </a:pPr>
            <a:r>
              <a:rPr lang="en-US" sz="2500" b="1" dirty="0">
                <a:solidFill>
                  <a:srgbClr val="001E5A"/>
                </a:solidFill>
                <a:latin typeface="Malgun Gothic" pitchFamily="34" charset="0"/>
                <a:ea typeface="Malgun Gothic" pitchFamily="34" charset="-122"/>
                <a:cs typeface="Malgun Gothic" pitchFamily="34" charset="-120"/>
              </a:rPr>
              <a:t>행동을 읽는 두 개의 렌즈 — 스타일과 성장</a:t>
            </a:r>
            <a:endParaRPr lang="en-US" sz="2500" dirty="0"/>
          </a:p>
        </p:txBody>
      </p:sp>
      <p:sp>
        <p:nvSpPr>
          <p:cNvPr id="5" name="Text 2"/>
          <p:cNvSpPr/>
          <p:nvPr/>
        </p:nvSpPr>
        <p:spPr>
          <a:xfrm>
            <a:off x="8458200" y="4759452"/>
            <a:ext cx="411480" cy="274320"/>
          </a:xfrm>
          <a:prstGeom prst="rect">
            <a:avLst/>
          </a:prstGeom>
          <a:noFill/>
          <a:ln/>
        </p:spPr>
        <p:txBody>
          <a:bodyPr wrap="square" lIns="0" tIns="0" rIns="0" bIns="0" rtlCol="0" anchor="ctr"/>
          <a:lstStyle/>
          <a:p>
            <a:pPr algn="r" indent="0" marL="0">
              <a:buNone/>
            </a:pPr>
            <a:r>
              <a:rPr lang="en-US" sz="1000" dirty="0">
                <a:solidFill>
                  <a:srgbClr val="BEBEBE"/>
                </a:solidFill>
                <a:latin typeface="Malgun Gothic" pitchFamily="34" charset="0"/>
                <a:ea typeface="Malgun Gothic" pitchFamily="34" charset="-122"/>
                <a:cs typeface="Malgun Gothic" pitchFamily="34" charset="-120"/>
              </a:rPr>
              <a:t>08</a:t>
            </a:r>
            <a:endParaRPr lang="en-US" sz="1000" dirty="0"/>
          </a:p>
        </p:txBody>
      </p:sp>
      <p:sp>
        <p:nvSpPr>
          <p:cNvPr id="6" name="Shape 3"/>
          <p:cNvSpPr/>
          <p:nvPr/>
        </p:nvSpPr>
        <p:spPr>
          <a:xfrm>
            <a:off x="502920" y="1207008"/>
            <a:ext cx="4023360" cy="2743200"/>
          </a:xfrm>
          <a:prstGeom prst="roundRect">
            <a:avLst>
              <a:gd name="adj" fmla="val 4000"/>
            </a:avLst>
          </a:prstGeom>
          <a:solidFill>
            <a:srgbClr val="F4F6FB"/>
          </a:solidFill>
          <a:ln/>
        </p:spPr>
      </p:sp>
      <p:sp>
        <p:nvSpPr>
          <p:cNvPr id="7" name="Shape 4"/>
          <p:cNvSpPr/>
          <p:nvPr/>
        </p:nvSpPr>
        <p:spPr>
          <a:xfrm>
            <a:off x="713232" y="1389888"/>
            <a:ext cx="420624" cy="420624"/>
          </a:xfrm>
          <a:prstGeom prst="ellipse">
            <a:avLst/>
          </a:prstGeom>
          <a:solidFill>
            <a:srgbClr val="001E5A"/>
          </a:solidFill>
          <a:ln/>
        </p:spPr>
      </p:sp>
      <p:pic>
        <p:nvPicPr>
          <p:cNvPr id="8" name="Image 0" descr="preencoded.png">    </p:cNvPr>
          <p:cNvPicPr>
            <a:picLocks noChangeAspect="1"/>
          </p:cNvPicPr>
          <p:nvPr/>
        </p:nvPicPr>
        <p:blipFill>
          <a:blip r:embed="rId1"/>
          <a:stretch>
            <a:fillRect/>
          </a:stretch>
        </p:blipFill>
        <p:spPr>
          <a:xfrm>
            <a:off x="826800" y="1503456"/>
            <a:ext cx="193487" cy="193487"/>
          </a:xfrm>
          <a:prstGeom prst="rect">
            <a:avLst/>
          </a:prstGeom>
        </p:spPr>
      </p:pic>
      <p:sp>
        <p:nvSpPr>
          <p:cNvPr id="9" name="Text 5"/>
          <p:cNvSpPr/>
          <p:nvPr/>
        </p:nvSpPr>
        <p:spPr>
          <a:xfrm>
            <a:off x="1243584" y="1426464"/>
            <a:ext cx="3200400" cy="329184"/>
          </a:xfrm>
          <a:prstGeom prst="rect">
            <a:avLst/>
          </a:prstGeom>
          <a:noFill/>
          <a:ln/>
        </p:spPr>
        <p:txBody>
          <a:bodyPr wrap="square" lIns="0" tIns="0" rIns="0" bIns="0" rtlCol="0" anchor="ctr"/>
          <a:lstStyle/>
          <a:p>
            <a:pPr indent="0" marL="0">
              <a:buNone/>
            </a:pPr>
            <a:r>
              <a:rPr lang="en-US" sz="1350" b="1" dirty="0">
                <a:solidFill>
                  <a:srgbClr val="001E5A"/>
                </a:solidFill>
                <a:latin typeface="Malgun Gothic" pitchFamily="34" charset="0"/>
                <a:ea typeface="Malgun Gothic" pitchFamily="34" charset="-122"/>
                <a:cs typeface="Malgun Gothic" pitchFamily="34" charset="-120"/>
              </a:rPr>
              <a:t>성향 5축</a:t>
            </a:r>
            <a:pPr indent="0" marL="0">
              <a:buNone/>
            </a:pPr>
            <a:r>
              <a:rPr lang="en-US" sz="1000" dirty="0">
                <a:solidFill>
                  <a:srgbClr val="6B7280"/>
                </a:solidFill>
                <a:latin typeface="Malgun Gothic" pitchFamily="34" charset="0"/>
                <a:ea typeface="Malgun Gothic" pitchFamily="34" charset="-122"/>
                <a:cs typeface="Malgun Gothic" pitchFamily="34" charset="-120"/>
              </a:rPr>
              <a:t>  아이에게 보여주는 '스타일'</a:t>
            </a:r>
            <a:endParaRPr lang="en-US" sz="1350" dirty="0"/>
          </a:p>
        </p:txBody>
      </p:sp>
      <p:sp>
        <p:nvSpPr>
          <p:cNvPr id="10" name="Text 6"/>
          <p:cNvSpPr/>
          <p:nvPr/>
        </p:nvSpPr>
        <p:spPr>
          <a:xfrm>
            <a:off x="777240" y="1883664"/>
            <a:ext cx="1234440" cy="274320"/>
          </a:xfrm>
          <a:prstGeom prst="rect">
            <a:avLst/>
          </a:prstGeom>
          <a:noFill/>
          <a:ln/>
        </p:spPr>
        <p:txBody>
          <a:bodyPr wrap="square" lIns="0" tIns="0" rIns="0" bIns="0" rtlCol="0" anchor="ctr"/>
          <a:lstStyle/>
          <a:p>
            <a:pPr indent="0" marL="0">
              <a:buNone/>
            </a:pPr>
            <a:r>
              <a:rPr lang="en-US" sz="1050" b="1" dirty="0">
                <a:solidFill>
                  <a:srgbClr val="001E5A"/>
                </a:solidFill>
                <a:latin typeface="Malgun Gothic" pitchFamily="34" charset="0"/>
                <a:ea typeface="Malgun Gothic" pitchFamily="34" charset="-122"/>
                <a:cs typeface="Malgun Gothic" pitchFamily="34" charset="-120"/>
              </a:rPr>
              <a:t>집중–분산</a:t>
            </a:r>
            <a:endParaRPr lang="en-US" sz="1050" dirty="0"/>
          </a:p>
        </p:txBody>
      </p:sp>
      <p:sp>
        <p:nvSpPr>
          <p:cNvPr id="11" name="Text 7"/>
          <p:cNvSpPr/>
          <p:nvPr/>
        </p:nvSpPr>
        <p:spPr>
          <a:xfrm>
            <a:off x="2057400" y="1883664"/>
            <a:ext cx="2331720" cy="274320"/>
          </a:xfrm>
          <a:prstGeom prst="rect">
            <a:avLst/>
          </a:prstGeom>
          <a:noFill/>
          <a:ln/>
        </p:spPr>
        <p:txBody>
          <a:bodyPr wrap="square" lIns="0" tIns="0" rIns="0" bIns="0" rtlCol="0" anchor="ctr"/>
          <a:lstStyle/>
          <a:p>
            <a:pPr indent="0" marL="0">
              <a:buNone/>
            </a:pPr>
            <a:r>
              <a:rPr lang="en-US" sz="1050" dirty="0">
                <a:solidFill>
                  <a:srgbClr val="1A1A2E"/>
                </a:solidFill>
                <a:latin typeface="Malgun Gothic" pitchFamily="34" charset="0"/>
                <a:ea typeface="Malgun Gothic" pitchFamily="34" charset="-122"/>
                <a:cs typeface="Malgun Gothic" pitchFamily="34" charset="-120"/>
              </a:rPr>
              <a:t>한우물형 ↔ 골고루형</a:t>
            </a:r>
            <a:endParaRPr lang="en-US" sz="1050" dirty="0"/>
          </a:p>
        </p:txBody>
      </p:sp>
      <p:sp>
        <p:nvSpPr>
          <p:cNvPr id="12" name="Text 8"/>
          <p:cNvSpPr/>
          <p:nvPr/>
        </p:nvSpPr>
        <p:spPr>
          <a:xfrm>
            <a:off x="777240" y="2189988"/>
            <a:ext cx="1234440" cy="274320"/>
          </a:xfrm>
          <a:prstGeom prst="rect">
            <a:avLst/>
          </a:prstGeom>
          <a:noFill/>
          <a:ln/>
        </p:spPr>
        <p:txBody>
          <a:bodyPr wrap="square" lIns="0" tIns="0" rIns="0" bIns="0" rtlCol="0" anchor="ctr"/>
          <a:lstStyle/>
          <a:p>
            <a:pPr indent="0" marL="0">
              <a:buNone/>
            </a:pPr>
            <a:r>
              <a:rPr lang="en-US" sz="1050" b="1" dirty="0">
                <a:solidFill>
                  <a:srgbClr val="001E5A"/>
                </a:solidFill>
                <a:latin typeface="Malgun Gothic" pitchFamily="34" charset="0"/>
                <a:ea typeface="Malgun Gothic" pitchFamily="34" charset="-122"/>
                <a:cs typeface="Malgun Gothic" pitchFamily="34" charset="-120"/>
              </a:rPr>
              <a:t>속도</a:t>
            </a:r>
            <a:endParaRPr lang="en-US" sz="1050" dirty="0"/>
          </a:p>
        </p:txBody>
      </p:sp>
      <p:sp>
        <p:nvSpPr>
          <p:cNvPr id="13" name="Text 9"/>
          <p:cNvSpPr/>
          <p:nvPr/>
        </p:nvSpPr>
        <p:spPr>
          <a:xfrm>
            <a:off x="2057400" y="2189988"/>
            <a:ext cx="2331720" cy="274320"/>
          </a:xfrm>
          <a:prstGeom prst="rect">
            <a:avLst/>
          </a:prstGeom>
          <a:noFill/>
          <a:ln/>
        </p:spPr>
        <p:txBody>
          <a:bodyPr wrap="square" lIns="0" tIns="0" rIns="0" bIns="0" rtlCol="0" anchor="ctr"/>
          <a:lstStyle/>
          <a:p>
            <a:pPr indent="0" marL="0">
              <a:buNone/>
            </a:pPr>
            <a:r>
              <a:rPr lang="en-US" sz="1050" dirty="0">
                <a:solidFill>
                  <a:srgbClr val="1A1A2E"/>
                </a:solidFill>
                <a:latin typeface="Malgun Gothic" pitchFamily="34" charset="0"/>
                <a:ea typeface="Malgun Gothic" pitchFamily="34" charset="-122"/>
                <a:cs typeface="Malgun Gothic" pitchFamily="34" charset="-120"/>
              </a:rPr>
              <a:t>진득이형 ↔ 재빨리형</a:t>
            </a:r>
            <a:endParaRPr lang="en-US" sz="1050" dirty="0"/>
          </a:p>
        </p:txBody>
      </p:sp>
      <p:sp>
        <p:nvSpPr>
          <p:cNvPr id="14" name="Text 10"/>
          <p:cNvSpPr/>
          <p:nvPr/>
        </p:nvSpPr>
        <p:spPr>
          <a:xfrm>
            <a:off x="777240" y="2496312"/>
            <a:ext cx="1234440" cy="274320"/>
          </a:xfrm>
          <a:prstGeom prst="rect">
            <a:avLst/>
          </a:prstGeom>
          <a:noFill/>
          <a:ln/>
        </p:spPr>
        <p:txBody>
          <a:bodyPr wrap="square" lIns="0" tIns="0" rIns="0" bIns="0" rtlCol="0" anchor="ctr"/>
          <a:lstStyle/>
          <a:p>
            <a:pPr indent="0" marL="0">
              <a:buNone/>
            </a:pPr>
            <a:r>
              <a:rPr lang="en-US" sz="1050" b="1" dirty="0">
                <a:solidFill>
                  <a:srgbClr val="001E5A"/>
                </a:solidFill>
                <a:latin typeface="Malgun Gothic" pitchFamily="34" charset="0"/>
                <a:ea typeface="Malgun Gothic" pitchFamily="34" charset="-122"/>
                <a:cs typeface="Malgun Gothic" pitchFamily="34" charset="-120"/>
              </a:rPr>
              <a:t>신중함</a:t>
            </a:r>
            <a:endParaRPr lang="en-US" sz="1050" dirty="0"/>
          </a:p>
        </p:txBody>
      </p:sp>
      <p:sp>
        <p:nvSpPr>
          <p:cNvPr id="15" name="Text 11"/>
          <p:cNvSpPr/>
          <p:nvPr/>
        </p:nvSpPr>
        <p:spPr>
          <a:xfrm>
            <a:off x="2057400" y="2496312"/>
            <a:ext cx="2331720" cy="274320"/>
          </a:xfrm>
          <a:prstGeom prst="rect">
            <a:avLst/>
          </a:prstGeom>
          <a:noFill/>
          <a:ln/>
        </p:spPr>
        <p:txBody>
          <a:bodyPr wrap="square" lIns="0" tIns="0" rIns="0" bIns="0" rtlCol="0" anchor="ctr"/>
          <a:lstStyle/>
          <a:p>
            <a:pPr indent="0" marL="0">
              <a:buNone/>
            </a:pPr>
            <a:r>
              <a:rPr lang="en-US" sz="1050" dirty="0">
                <a:solidFill>
                  <a:srgbClr val="1A1A2E"/>
                </a:solidFill>
                <a:latin typeface="Malgun Gothic" pitchFamily="34" charset="0"/>
                <a:ea typeface="Malgun Gothic" pitchFamily="34" charset="-122"/>
                <a:cs typeface="Malgun Gothic" pitchFamily="34" charset="-120"/>
              </a:rPr>
              <a:t>직진형 ↔ 돌다리형</a:t>
            </a:r>
            <a:endParaRPr lang="en-US" sz="1050" dirty="0"/>
          </a:p>
        </p:txBody>
      </p:sp>
      <p:sp>
        <p:nvSpPr>
          <p:cNvPr id="16" name="Text 12"/>
          <p:cNvSpPr/>
          <p:nvPr/>
        </p:nvSpPr>
        <p:spPr>
          <a:xfrm>
            <a:off x="777240" y="2802636"/>
            <a:ext cx="1234440" cy="274320"/>
          </a:xfrm>
          <a:prstGeom prst="rect">
            <a:avLst/>
          </a:prstGeom>
          <a:noFill/>
          <a:ln/>
        </p:spPr>
        <p:txBody>
          <a:bodyPr wrap="square" lIns="0" tIns="0" rIns="0" bIns="0" rtlCol="0" anchor="ctr"/>
          <a:lstStyle/>
          <a:p>
            <a:pPr indent="0" marL="0">
              <a:buNone/>
            </a:pPr>
            <a:r>
              <a:rPr lang="en-US" sz="1050" b="1" dirty="0">
                <a:solidFill>
                  <a:srgbClr val="001E5A"/>
                </a:solidFill>
                <a:latin typeface="Malgun Gothic" pitchFamily="34" charset="0"/>
                <a:ea typeface="Malgun Gothic" pitchFamily="34" charset="-122"/>
                <a:cs typeface="Malgun Gothic" pitchFamily="34" charset="-120"/>
              </a:rPr>
              <a:t>손실 대응</a:t>
            </a:r>
            <a:endParaRPr lang="en-US" sz="1050" dirty="0"/>
          </a:p>
        </p:txBody>
      </p:sp>
      <p:sp>
        <p:nvSpPr>
          <p:cNvPr id="17" name="Text 13"/>
          <p:cNvSpPr/>
          <p:nvPr/>
        </p:nvSpPr>
        <p:spPr>
          <a:xfrm>
            <a:off x="2057400" y="2802636"/>
            <a:ext cx="2331720" cy="274320"/>
          </a:xfrm>
          <a:prstGeom prst="rect">
            <a:avLst/>
          </a:prstGeom>
          <a:noFill/>
          <a:ln/>
        </p:spPr>
        <p:txBody>
          <a:bodyPr wrap="square" lIns="0" tIns="0" rIns="0" bIns="0" rtlCol="0" anchor="ctr"/>
          <a:lstStyle/>
          <a:p>
            <a:pPr indent="0" marL="0">
              <a:buNone/>
            </a:pPr>
            <a:r>
              <a:rPr lang="en-US" sz="1050" dirty="0">
                <a:solidFill>
                  <a:srgbClr val="1A1A2E"/>
                </a:solidFill>
                <a:latin typeface="Malgun Gothic" pitchFamily="34" charset="0"/>
                <a:ea typeface="Malgun Gothic" pitchFamily="34" charset="-122"/>
                <a:cs typeface="Malgun Gothic" pitchFamily="34" charset="-120"/>
              </a:rPr>
              <a:t>버티기형 ↔ 갈아타기형</a:t>
            </a:r>
            <a:endParaRPr lang="en-US" sz="1050" dirty="0"/>
          </a:p>
        </p:txBody>
      </p:sp>
      <p:sp>
        <p:nvSpPr>
          <p:cNvPr id="18" name="Text 14"/>
          <p:cNvSpPr/>
          <p:nvPr/>
        </p:nvSpPr>
        <p:spPr>
          <a:xfrm>
            <a:off x="777240" y="3108960"/>
            <a:ext cx="1234440" cy="274320"/>
          </a:xfrm>
          <a:prstGeom prst="rect">
            <a:avLst/>
          </a:prstGeom>
          <a:noFill/>
          <a:ln/>
        </p:spPr>
        <p:txBody>
          <a:bodyPr wrap="square" lIns="0" tIns="0" rIns="0" bIns="0" rtlCol="0" anchor="ctr"/>
          <a:lstStyle/>
          <a:p>
            <a:pPr indent="0" marL="0">
              <a:buNone/>
            </a:pPr>
            <a:r>
              <a:rPr lang="en-US" sz="1050" b="1" dirty="0">
                <a:solidFill>
                  <a:srgbClr val="001E5A"/>
                </a:solidFill>
                <a:latin typeface="Malgun Gothic" pitchFamily="34" charset="0"/>
                <a:ea typeface="Malgun Gothic" pitchFamily="34" charset="-122"/>
                <a:cs typeface="Malgun Gothic" pitchFamily="34" charset="-120"/>
              </a:rPr>
              <a:t>탐험심</a:t>
            </a:r>
            <a:endParaRPr lang="en-US" sz="1050" dirty="0"/>
          </a:p>
        </p:txBody>
      </p:sp>
      <p:sp>
        <p:nvSpPr>
          <p:cNvPr id="19" name="Text 15"/>
          <p:cNvSpPr/>
          <p:nvPr/>
        </p:nvSpPr>
        <p:spPr>
          <a:xfrm>
            <a:off x="2057400" y="3108960"/>
            <a:ext cx="2331720" cy="274320"/>
          </a:xfrm>
          <a:prstGeom prst="rect">
            <a:avLst/>
          </a:prstGeom>
          <a:noFill/>
          <a:ln/>
        </p:spPr>
        <p:txBody>
          <a:bodyPr wrap="square" lIns="0" tIns="0" rIns="0" bIns="0" rtlCol="0" anchor="ctr"/>
          <a:lstStyle/>
          <a:p>
            <a:pPr indent="0" marL="0">
              <a:buNone/>
            </a:pPr>
            <a:r>
              <a:rPr lang="en-US" sz="1050" dirty="0">
                <a:solidFill>
                  <a:srgbClr val="1A1A2E"/>
                </a:solidFill>
                <a:latin typeface="Malgun Gothic" pitchFamily="34" charset="0"/>
                <a:ea typeface="Malgun Gothic" pitchFamily="34" charset="-122"/>
                <a:cs typeface="Malgun Gothic" pitchFamily="34" charset="-120"/>
              </a:rPr>
              <a:t>익숙함형 ↔ 개척자형</a:t>
            </a:r>
            <a:endParaRPr lang="en-US" sz="1050" dirty="0"/>
          </a:p>
        </p:txBody>
      </p:sp>
      <p:sp>
        <p:nvSpPr>
          <p:cNvPr id="20" name="Text 16"/>
          <p:cNvSpPr/>
          <p:nvPr/>
        </p:nvSpPr>
        <p:spPr>
          <a:xfrm>
            <a:off x="777240" y="3502152"/>
            <a:ext cx="3566160" cy="292608"/>
          </a:xfrm>
          <a:prstGeom prst="rect">
            <a:avLst/>
          </a:prstGeom>
          <a:noFill/>
          <a:ln/>
        </p:spPr>
        <p:txBody>
          <a:bodyPr wrap="square" lIns="0" tIns="0" rIns="0" bIns="0" rtlCol="0" anchor="ctr"/>
          <a:lstStyle/>
          <a:p>
            <a:pPr indent="0" marL="0">
              <a:buNone/>
            </a:pPr>
            <a:r>
              <a:rPr lang="en-US" sz="950" dirty="0">
                <a:solidFill>
                  <a:srgbClr val="6B7280"/>
                </a:solidFill>
                <a:latin typeface="Malgun Gothic" pitchFamily="34" charset="0"/>
                <a:ea typeface="Malgun Gothic" pitchFamily="34" charset="-122"/>
                <a:cs typeface="Malgun Gothic" pitchFamily="34" charset="-120"/>
              </a:rPr>
              <a:t>매주 유형 라벨: </a:t>
            </a:r>
            <a:pPr indent="0" marL="0">
              <a:buNone/>
            </a:pPr>
            <a:r>
              <a:rPr lang="en-US" sz="950" b="1" dirty="0">
                <a:solidFill>
                  <a:srgbClr val="D70082"/>
                </a:solidFill>
                <a:latin typeface="Malgun Gothic" pitchFamily="34" charset="0"/>
                <a:ea typeface="Malgun Gothic" pitchFamily="34" charset="-122"/>
                <a:cs typeface="Malgun Gothic" pitchFamily="34" charset="-120"/>
              </a:rPr>
              <a:t>“재빨리 개척자형”</a:t>
            </a:r>
            <a:pPr indent="0" marL="0">
              <a:buNone/>
            </a:pPr>
            <a:r>
              <a:rPr lang="en-US" sz="950" dirty="0">
                <a:solidFill>
                  <a:srgbClr val="6B7280"/>
                </a:solidFill>
                <a:latin typeface="Malgun Gothic" pitchFamily="34" charset="0"/>
                <a:ea typeface="Malgun Gothic" pitchFamily="34" charset="-122"/>
                <a:cs typeface="Malgun Gothic" pitchFamily="34" charset="-120"/>
              </a:rPr>
              <a:t>  ·  양끝 우열 없음 · “정답은 없어!”</a:t>
            </a:r>
            <a:endParaRPr lang="en-US" sz="950" dirty="0"/>
          </a:p>
        </p:txBody>
      </p:sp>
      <p:sp>
        <p:nvSpPr>
          <p:cNvPr id="21" name="Shape 17"/>
          <p:cNvSpPr/>
          <p:nvPr/>
        </p:nvSpPr>
        <p:spPr>
          <a:xfrm>
            <a:off x="4663440" y="1207008"/>
            <a:ext cx="3977640" cy="2743200"/>
          </a:xfrm>
          <a:prstGeom prst="roundRect">
            <a:avLst>
              <a:gd name="adj" fmla="val 4000"/>
            </a:avLst>
          </a:prstGeom>
          <a:solidFill>
            <a:srgbClr val="FBEAF4"/>
          </a:solidFill>
          <a:ln/>
        </p:spPr>
      </p:sp>
      <p:sp>
        <p:nvSpPr>
          <p:cNvPr id="22" name="Shape 18"/>
          <p:cNvSpPr/>
          <p:nvPr/>
        </p:nvSpPr>
        <p:spPr>
          <a:xfrm>
            <a:off x="4873752" y="1389888"/>
            <a:ext cx="420624" cy="420624"/>
          </a:xfrm>
          <a:prstGeom prst="ellipse">
            <a:avLst/>
          </a:prstGeom>
          <a:solidFill>
            <a:srgbClr val="D70082"/>
          </a:solidFill>
          <a:ln/>
        </p:spPr>
      </p:sp>
      <p:pic>
        <p:nvPicPr>
          <p:cNvPr id="23" name="Image 1" descr="preencoded.png">    </p:cNvPr>
          <p:cNvPicPr>
            <a:picLocks noChangeAspect="1"/>
          </p:cNvPicPr>
          <p:nvPr/>
        </p:nvPicPr>
        <p:blipFill>
          <a:blip r:embed="rId2"/>
          <a:stretch>
            <a:fillRect/>
          </a:stretch>
        </p:blipFill>
        <p:spPr>
          <a:xfrm>
            <a:off x="4987320" y="1503456"/>
            <a:ext cx="193487" cy="193487"/>
          </a:xfrm>
          <a:prstGeom prst="rect">
            <a:avLst/>
          </a:prstGeom>
        </p:spPr>
      </p:pic>
      <p:sp>
        <p:nvSpPr>
          <p:cNvPr id="24" name="Text 19"/>
          <p:cNvSpPr/>
          <p:nvPr/>
        </p:nvSpPr>
        <p:spPr>
          <a:xfrm>
            <a:off x="5404104" y="1426464"/>
            <a:ext cx="3108960" cy="329184"/>
          </a:xfrm>
          <a:prstGeom prst="rect">
            <a:avLst/>
          </a:prstGeom>
          <a:noFill/>
          <a:ln/>
        </p:spPr>
        <p:txBody>
          <a:bodyPr wrap="square" lIns="0" tIns="0" rIns="0" bIns="0" rtlCol="0" anchor="ctr"/>
          <a:lstStyle/>
          <a:p>
            <a:pPr indent="0" marL="0">
              <a:buNone/>
            </a:pPr>
            <a:r>
              <a:rPr lang="en-US" sz="1350" b="1" dirty="0">
                <a:solidFill>
                  <a:srgbClr val="D70082"/>
                </a:solidFill>
                <a:latin typeface="Malgun Gothic" pitchFamily="34" charset="0"/>
                <a:ea typeface="Malgun Gothic" pitchFamily="34" charset="-122"/>
                <a:cs typeface="Malgun Gothic" pitchFamily="34" charset="-120"/>
              </a:rPr>
              <a:t>친화도 스코어</a:t>
            </a:r>
            <a:pPr indent="0" marL="0">
              <a:buNone/>
            </a:pPr>
            <a:r>
              <a:rPr lang="en-US" sz="1000" dirty="0">
                <a:solidFill>
                  <a:srgbClr val="6B7280"/>
                </a:solidFill>
                <a:latin typeface="Malgun Gothic" pitchFamily="34" charset="0"/>
                <a:ea typeface="Malgun Gothic" pitchFamily="34" charset="-122"/>
                <a:cs typeface="Malgun Gothic" pitchFamily="34" charset="-120"/>
              </a:rPr>
              <a:t>  부모·운영에 보여주는 '성장'</a:t>
            </a:r>
            <a:endParaRPr lang="en-US" sz="1350" dirty="0"/>
          </a:p>
        </p:txBody>
      </p:sp>
      <p:sp>
        <p:nvSpPr>
          <p:cNvPr id="25" name="Text 20"/>
          <p:cNvSpPr/>
          <p:nvPr/>
        </p:nvSpPr>
        <p:spPr>
          <a:xfrm>
            <a:off x="4937760" y="1883664"/>
            <a:ext cx="3520440" cy="1508760"/>
          </a:xfrm>
          <a:prstGeom prst="rect">
            <a:avLst/>
          </a:prstGeom>
          <a:noFill/>
          <a:ln/>
        </p:spPr>
        <p:txBody>
          <a:bodyPr wrap="square" lIns="0" tIns="0" rIns="0" bIns="0" rtlCol="0" anchor="ctr"/>
          <a:lstStyle/>
          <a:p>
            <a:pPr marL="152400" indent="-152400">
              <a:spcAft>
                <a:spcPts val="800"/>
              </a:spcAft>
              <a:buSzPct val="100000"/>
              <a:buChar char="▪"/>
            </a:pPr>
            <a:r>
              <a:rPr lang="en-US" sz="1050" dirty="0">
                <a:solidFill>
                  <a:srgbClr val="1A1A2E"/>
                </a:solidFill>
                <a:latin typeface="Malgun Gothic" pitchFamily="34" charset="0"/>
                <a:ea typeface="Malgun Gothic" pitchFamily="34" charset="-122"/>
                <a:cs typeface="Malgun Gothic" pitchFamily="34" charset="-120"/>
              </a:rPr>
              <a:t>근거 성숙도 — '그냥 느낌' → 뉴스·지식 기반으로</a:t>
            </a:r>
            <a:endParaRPr lang="en-US" sz="1050" dirty="0"/>
          </a:p>
          <a:p>
            <a:pPr marL="152400" indent="-152400">
              <a:spcAft>
                <a:spcPts val="800"/>
              </a:spcAft>
              <a:buSzPct val="100000"/>
              <a:buChar char="▪"/>
            </a:pPr>
            <a:r>
              <a:rPr lang="en-US" sz="1050" dirty="0">
                <a:solidFill>
                  <a:srgbClr val="1A1A2E"/>
                </a:solidFill>
                <a:latin typeface="Malgun Gothic" pitchFamily="34" charset="0"/>
                <a:ea typeface="Malgun Gothic" pitchFamily="34" charset="-122"/>
                <a:cs typeface="Malgun Gothic" pitchFamily="34" charset="-120"/>
              </a:rPr>
              <a:t>계획-행동 일치율 — 세운 계획을 지키는 비율</a:t>
            </a:r>
            <a:endParaRPr lang="en-US" sz="1050" dirty="0"/>
          </a:p>
          <a:p>
            <a:pPr marL="152400" indent="-152400">
              <a:spcAft>
                <a:spcPts val="800"/>
              </a:spcAft>
              <a:buSzPct val="100000"/>
              <a:buChar char="▪"/>
            </a:pPr>
            <a:r>
              <a:rPr lang="en-US" sz="1050" dirty="0">
                <a:solidFill>
                  <a:srgbClr val="1A1A2E"/>
                </a:solidFill>
                <a:latin typeface="Malgun Gothic" pitchFamily="34" charset="0"/>
                <a:ea typeface="Malgun Gothic" pitchFamily="34" charset="-122"/>
                <a:cs typeface="Malgun Gothic" pitchFamily="34" charset="-120"/>
              </a:rPr>
              <a:t>확신도 분화 — 종목마다 다른 확신 = 자기 인식</a:t>
            </a:r>
            <a:endParaRPr lang="en-US" sz="1050" dirty="0"/>
          </a:p>
          <a:p>
            <a:pPr marL="152400" indent="-152400">
              <a:spcAft>
                <a:spcPts val="800"/>
              </a:spcAft>
              <a:buSzPct val="100000"/>
              <a:buChar char="▪"/>
            </a:pPr>
            <a:r>
              <a:rPr lang="en-US" sz="1050" dirty="0">
                <a:solidFill>
                  <a:srgbClr val="1A1A2E"/>
                </a:solidFill>
                <a:latin typeface="Malgun Gothic" pitchFamily="34" charset="0"/>
                <a:ea typeface="Malgun Gothic" pitchFamily="34" charset="-122"/>
                <a:cs typeface="Malgun Gothic" pitchFamily="34" charset="-120"/>
              </a:rPr>
              <a:t>자발 신호 — 메모 작성 · 회고 카드 열람</a:t>
            </a:r>
            <a:endParaRPr lang="en-US" sz="1050" dirty="0"/>
          </a:p>
        </p:txBody>
      </p:sp>
      <p:sp>
        <p:nvSpPr>
          <p:cNvPr id="26" name="Text 21"/>
          <p:cNvSpPr/>
          <p:nvPr/>
        </p:nvSpPr>
        <p:spPr>
          <a:xfrm>
            <a:off x="4937760" y="3474720"/>
            <a:ext cx="3520440" cy="365760"/>
          </a:xfrm>
          <a:prstGeom prst="rect">
            <a:avLst/>
          </a:prstGeom>
          <a:noFill/>
          <a:ln/>
        </p:spPr>
        <p:txBody>
          <a:bodyPr wrap="square" lIns="0" tIns="0" rIns="0" bIns="0" rtlCol="0" anchor="ctr"/>
          <a:lstStyle/>
          <a:p>
            <a:pPr indent="0" marL="0">
              <a:lnSpc>
                <a:spcPct val="110000"/>
              </a:lnSpc>
              <a:buNone/>
            </a:pPr>
            <a:r>
              <a:rPr lang="en-US" sz="950" dirty="0">
                <a:solidFill>
                  <a:srgbClr val="6B7280"/>
                </a:solidFill>
                <a:latin typeface="Malgun Gothic" pitchFamily="34" charset="0"/>
                <a:ea typeface="Malgun Gothic" pitchFamily="34" charset="-122"/>
                <a:cs typeface="Malgun Gothic" pitchFamily="34" charset="-120"/>
              </a:rPr>
              <a:t>시즌 전후 변화로 성장을 증명 · 사용량 지표 아님(순환논리 방어) · 아이에게 수치 비노출</a:t>
            </a:r>
            <a:endParaRPr lang="en-US" sz="950" dirty="0"/>
          </a:p>
        </p:txBody>
      </p:sp>
      <p:sp>
        <p:nvSpPr>
          <p:cNvPr id="27" name="Shape 22"/>
          <p:cNvSpPr/>
          <p:nvPr/>
        </p:nvSpPr>
        <p:spPr>
          <a:xfrm>
            <a:off x="502920" y="4160520"/>
            <a:ext cx="8138160" cy="566928"/>
          </a:xfrm>
          <a:prstGeom prst="roundRect">
            <a:avLst>
              <a:gd name="adj" fmla="val 16129"/>
            </a:avLst>
          </a:prstGeom>
          <a:solidFill>
            <a:srgbClr val="001E5A"/>
          </a:solidFill>
          <a:ln/>
        </p:spPr>
      </p:sp>
      <p:sp>
        <p:nvSpPr>
          <p:cNvPr id="28" name="Text 23"/>
          <p:cNvSpPr/>
          <p:nvPr/>
        </p:nvSpPr>
        <p:spPr>
          <a:xfrm>
            <a:off x="777240" y="4160520"/>
            <a:ext cx="7680960" cy="566928"/>
          </a:xfrm>
          <a:prstGeom prst="rect">
            <a:avLst/>
          </a:prstGeom>
          <a:noFill/>
          <a:ln/>
        </p:spPr>
        <p:txBody>
          <a:bodyPr wrap="square" lIns="0" tIns="0" rIns="0" bIns="0" rtlCol="0" anchor="ctr"/>
          <a:lstStyle/>
          <a:p>
            <a:pPr indent="0" marL="0">
              <a:buNone/>
            </a:pPr>
            <a:r>
              <a:rPr lang="en-US" sz="1100" b="1" dirty="0">
                <a:solidFill>
                  <a:srgbClr val="FF7ABF"/>
                </a:solidFill>
                <a:latin typeface="Malgun Gothic" pitchFamily="34" charset="0"/>
                <a:ea typeface="Malgun Gothic" pitchFamily="34" charset="-122"/>
                <a:cs typeface="Malgun Gothic" pitchFamily="34" charset="-120"/>
              </a:rPr>
              <a:t>분리 구조  </a:t>
            </a:r>
            <a:pPr indent="0" marL="0">
              <a:buNone/>
            </a:pPr>
            <a:r>
              <a:rPr lang="en-US" sz="1100" dirty="0">
                <a:solidFill>
                  <a:srgbClr val="FFFFFF"/>
                </a:solidFill>
                <a:latin typeface="Malgun Gothic" pitchFamily="34" charset="0"/>
                <a:ea typeface="Malgun Gothic" pitchFamily="34" charset="-122"/>
                <a:cs typeface="Malgun Gothic" pitchFamily="34" charset="-120"/>
              </a:rPr>
              <a:t>수치는 룰 기반 스코어링 엔진만 계산, LLM은 서술만 담당 — AI가 숫자를 지어낼 수 없는 구조 (환각 차단)</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200" kern="0" dirty="0">
                <a:solidFill>
                  <a:srgbClr val="D70082"/>
                </a:solidFill>
                <a:latin typeface="Malgun Gothic" pitchFamily="34" charset="0"/>
                <a:ea typeface="Malgun Gothic" pitchFamily="34" charset="-122"/>
                <a:cs typeface="Malgun Gothic" pitchFamily="34" charset="-120"/>
              </a:rPr>
              <a:t>SLIDE 09 — 핵심기능 ③ 플로팅 AI 챗봇 '키웅이'</a:t>
            </a:r>
            <a:endParaRPr lang="en-US" sz="1100" dirty="0"/>
          </a:p>
        </p:txBody>
      </p:sp>
      <p:sp>
        <p:nvSpPr>
          <p:cNvPr id="3" name="Text 1"/>
          <p:cNvSpPr/>
          <p:nvPr/>
        </p:nvSpPr>
        <p:spPr>
          <a:xfrm>
            <a:off x="502920" y="530352"/>
            <a:ext cx="8138160" cy="502920"/>
          </a:xfrm>
          <a:prstGeom prst="rect">
            <a:avLst/>
          </a:prstGeom>
          <a:noFill/>
          <a:ln/>
        </p:spPr>
        <p:txBody>
          <a:bodyPr wrap="square" lIns="0" tIns="0" rIns="0" bIns="0" rtlCol="0" anchor="ctr"/>
          <a:lstStyle/>
          <a:p>
            <a:pPr indent="0" marL="0">
              <a:buNone/>
            </a:pPr>
            <a:r>
              <a:rPr lang="en-US" sz="2500" b="1" dirty="0">
                <a:solidFill>
                  <a:srgbClr val="001E5A"/>
                </a:solidFill>
                <a:latin typeface="Malgun Gothic" pitchFamily="34" charset="0"/>
                <a:ea typeface="Malgun Gothic" pitchFamily="34" charset="-122"/>
                <a:cs typeface="Malgun Gothic" pitchFamily="34" charset="-120"/>
              </a:rPr>
              <a:t>가르치는 역할은 부모가 아니라 키웅이가</a:t>
            </a:r>
            <a:endParaRPr lang="en-US" sz="2500" dirty="0"/>
          </a:p>
        </p:txBody>
      </p:sp>
      <p:sp>
        <p:nvSpPr>
          <p:cNvPr id="5" name="Text 2"/>
          <p:cNvSpPr/>
          <p:nvPr/>
        </p:nvSpPr>
        <p:spPr>
          <a:xfrm>
            <a:off x="8458200" y="4759452"/>
            <a:ext cx="411480" cy="274320"/>
          </a:xfrm>
          <a:prstGeom prst="rect">
            <a:avLst/>
          </a:prstGeom>
          <a:noFill/>
          <a:ln/>
        </p:spPr>
        <p:txBody>
          <a:bodyPr wrap="square" lIns="0" tIns="0" rIns="0" bIns="0" rtlCol="0" anchor="ctr"/>
          <a:lstStyle/>
          <a:p>
            <a:pPr algn="r" indent="0" marL="0">
              <a:buNone/>
            </a:pPr>
            <a:r>
              <a:rPr lang="en-US" sz="1000" dirty="0">
                <a:solidFill>
                  <a:srgbClr val="BEBEBE"/>
                </a:solidFill>
                <a:latin typeface="Malgun Gothic" pitchFamily="34" charset="0"/>
                <a:ea typeface="Malgun Gothic" pitchFamily="34" charset="-122"/>
                <a:cs typeface="Malgun Gothic" pitchFamily="34" charset="-120"/>
              </a:rPr>
              <a:t>09</a:t>
            </a:r>
            <a:endParaRPr lang="en-US" sz="1000" dirty="0"/>
          </a:p>
        </p:txBody>
      </p:sp>
      <p:sp>
        <p:nvSpPr>
          <p:cNvPr id="6" name="Shape 3"/>
          <p:cNvSpPr/>
          <p:nvPr/>
        </p:nvSpPr>
        <p:spPr>
          <a:xfrm>
            <a:off x="502920" y="1207008"/>
            <a:ext cx="4023360" cy="2743200"/>
          </a:xfrm>
          <a:prstGeom prst="roundRect">
            <a:avLst>
              <a:gd name="adj" fmla="val 4000"/>
            </a:avLst>
          </a:prstGeom>
          <a:solidFill>
            <a:srgbClr val="F4F6FB"/>
          </a:solidFill>
          <a:ln/>
        </p:spPr>
      </p:sp>
      <p:sp>
        <p:nvSpPr>
          <p:cNvPr id="7" name="Text 4"/>
          <p:cNvSpPr/>
          <p:nvPr/>
        </p:nvSpPr>
        <p:spPr>
          <a:xfrm>
            <a:off x="777240" y="1353312"/>
            <a:ext cx="3566160" cy="274320"/>
          </a:xfrm>
          <a:prstGeom prst="rect">
            <a:avLst/>
          </a:prstGeom>
          <a:noFill/>
          <a:ln/>
        </p:spPr>
        <p:txBody>
          <a:bodyPr wrap="square" lIns="0" tIns="0" rIns="0" bIns="0" rtlCol="0" anchor="ctr"/>
          <a:lstStyle/>
          <a:p>
            <a:pPr indent="0" marL="0">
              <a:buNone/>
            </a:pPr>
            <a:r>
              <a:rPr lang="en-US" sz="1200" b="1" dirty="0">
                <a:solidFill>
                  <a:srgbClr val="001E5A"/>
                </a:solidFill>
                <a:latin typeface="Malgun Gothic" pitchFamily="34" charset="0"/>
                <a:ea typeface="Malgun Gothic" pitchFamily="34" charset="-122"/>
                <a:cs typeface="Malgun Gothic" pitchFamily="34" charset="-120"/>
              </a:rPr>
              <a:t>물어보면, 아이 눈높이로</a:t>
            </a:r>
            <a:endParaRPr lang="en-US" sz="1200" dirty="0"/>
          </a:p>
        </p:txBody>
      </p:sp>
      <p:sp>
        <p:nvSpPr>
          <p:cNvPr id="8" name="Shape 5"/>
          <p:cNvSpPr/>
          <p:nvPr/>
        </p:nvSpPr>
        <p:spPr>
          <a:xfrm>
            <a:off x="2240280" y="1719072"/>
            <a:ext cx="2057400" cy="402336"/>
          </a:xfrm>
          <a:prstGeom prst="roundRect">
            <a:avLst>
              <a:gd name="adj" fmla="val 40909"/>
            </a:avLst>
          </a:prstGeom>
          <a:solidFill>
            <a:srgbClr val="001E5A"/>
          </a:solidFill>
          <a:ln/>
        </p:spPr>
      </p:sp>
      <p:sp>
        <p:nvSpPr>
          <p:cNvPr id="9" name="Text 6"/>
          <p:cNvSpPr/>
          <p:nvPr/>
        </p:nvSpPr>
        <p:spPr>
          <a:xfrm>
            <a:off x="2240280" y="1719072"/>
            <a:ext cx="2057400" cy="402336"/>
          </a:xfrm>
          <a:prstGeom prst="rect">
            <a:avLst/>
          </a:prstGeom>
          <a:noFill/>
          <a:ln/>
        </p:spPr>
        <p:txBody>
          <a:bodyPr wrap="square" lIns="0" tIns="0" rIns="0" bIns="0" rtlCol="0" anchor="ctr"/>
          <a:lstStyle/>
          <a:p>
            <a:pPr algn="ctr" indent="0" marL="0">
              <a:buNone/>
            </a:pPr>
            <a:r>
              <a:rPr lang="en-US" sz="1050" dirty="0">
                <a:solidFill>
                  <a:srgbClr val="FFFFFF"/>
                </a:solidFill>
                <a:latin typeface="Malgun Gothic" pitchFamily="34" charset="0"/>
                <a:ea typeface="Malgun Gothic" pitchFamily="34" charset="-122"/>
                <a:cs typeface="Malgun Gothic" pitchFamily="34" charset="-120"/>
              </a:rPr>
              <a:t>시장가가 뭐야? 🤔</a:t>
            </a:r>
            <a:endParaRPr lang="en-US" sz="1050" dirty="0"/>
          </a:p>
        </p:txBody>
      </p:sp>
      <p:sp>
        <p:nvSpPr>
          <p:cNvPr id="10" name="Shape 7"/>
          <p:cNvSpPr/>
          <p:nvPr/>
        </p:nvSpPr>
        <p:spPr>
          <a:xfrm>
            <a:off x="749808" y="2249424"/>
            <a:ext cx="365760" cy="365760"/>
          </a:xfrm>
          <a:prstGeom prst="ellipse">
            <a:avLst/>
          </a:prstGeom>
          <a:solidFill>
            <a:srgbClr val="D70082"/>
          </a:solidFill>
          <a:ln/>
        </p:spPr>
      </p:sp>
      <p:pic>
        <p:nvPicPr>
          <p:cNvPr id="11" name="Image 0" descr="preencoded.png">    </p:cNvPr>
          <p:cNvPicPr>
            <a:picLocks noChangeAspect="1"/>
          </p:cNvPicPr>
          <p:nvPr/>
        </p:nvPicPr>
        <p:blipFill>
          <a:blip r:embed="rId1"/>
          <a:stretch>
            <a:fillRect/>
          </a:stretch>
        </p:blipFill>
        <p:spPr>
          <a:xfrm>
            <a:off x="848563" y="2348179"/>
            <a:ext cx="168250" cy="168250"/>
          </a:xfrm>
          <a:prstGeom prst="rect">
            <a:avLst/>
          </a:prstGeom>
        </p:spPr>
      </p:pic>
      <p:sp>
        <p:nvSpPr>
          <p:cNvPr id="12" name="Shape 8"/>
          <p:cNvSpPr/>
          <p:nvPr/>
        </p:nvSpPr>
        <p:spPr>
          <a:xfrm>
            <a:off x="1207008" y="2212848"/>
            <a:ext cx="3108960" cy="786384"/>
          </a:xfrm>
          <a:prstGeom prst="roundRect">
            <a:avLst>
              <a:gd name="adj" fmla="val 16279"/>
            </a:avLst>
          </a:prstGeom>
          <a:solidFill>
            <a:srgbClr val="FFFFFF"/>
          </a:solidFill>
          <a:ln w="12700">
            <a:solidFill>
              <a:srgbClr val="BEBEBE"/>
            </a:solidFill>
            <a:prstDash val="solid"/>
          </a:ln>
        </p:spPr>
      </p:sp>
      <p:sp>
        <p:nvSpPr>
          <p:cNvPr id="13" name="Text 9"/>
          <p:cNvSpPr/>
          <p:nvPr/>
        </p:nvSpPr>
        <p:spPr>
          <a:xfrm>
            <a:off x="1353312" y="2286000"/>
            <a:ext cx="2834640" cy="658368"/>
          </a:xfrm>
          <a:prstGeom prst="rect">
            <a:avLst/>
          </a:prstGeom>
          <a:noFill/>
          <a:ln/>
        </p:spPr>
        <p:txBody>
          <a:bodyPr wrap="square" lIns="0" tIns="0" rIns="0" bIns="0" rtlCol="0" anchor="ctr"/>
          <a:lstStyle/>
          <a:p>
            <a:pPr indent="0" marL="0">
              <a:lnSpc>
                <a:spcPct val="112000"/>
              </a:lnSpc>
              <a:buNone/>
            </a:pPr>
            <a:r>
              <a:rPr lang="en-US" sz="950" dirty="0">
                <a:solidFill>
                  <a:srgbClr val="1A1A2E"/>
                </a:solidFill>
                <a:latin typeface="Malgun Gothic" pitchFamily="34" charset="0"/>
                <a:ea typeface="Malgun Gothic" pitchFamily="34" charset="-122"/>
                <a:cs typeface="Malgun Gothic" pitchFamily="34" charset="-120"/>
              </a:rPr>
              <a:t>시장가는 “지금 가격에 바로 사요!”라는 뜻이야 🐻 내가 정한 가격에 사고 싶으면 지정가를 골라봐!</a:t>
            </a:r>
            <a:endParaRPr lang="en-US" sz="950" dirty="0"/>
          </a:p>
        </p:txBody>
      </p:sp>
      <p:sp>
        <p:nvSpPr>
          <p:cNvPr id="14" name="Text 10"/>
          <p:cNvSpPr/>
          <p:nvPr/>
        </p:nvSpPr>
        <p:spPr>
          <a:xfrm>
            <a:off x="777240" y="3145536"/>
            <a:ext cx="3566160" cy="237744"/>
          </a:xfrm>
          <a:prstGeom prst="rect">
            <a:avLst/>
          </a:prstGeom>
          <a:noFill/>
          <a:ln/>
        </p:spPr>
        <p:txBody>
          <a:bodyPr wrap="square" lIns="0" tIns="0" rIns="0" bIns="0" rtlCol="0" anchor="ctr"/>
          <a:lstStyle/>
          <a:p>
            <a:pPr indent="0" marL="0">
              <a:buNone/>
            </a:pPr>
            <a:r>
              <a:rPr lang="en-US" sz="950" b="1" dirty="0">
                <a:solidFill>
                  <a:srgbClr val="6B7280"/>
                </a:solidFill>
                <a:latin typeface="Malgun Gothic" pitchFamily="34" charset="0"/>
                <a:ea typeface="Malgun Gothic" pitchFamily="34" charset="-122"/>
                <a:cs typeface="Malgun Gothic" pitchFamily="34" charset="-120"/>
              </a:rPr>
              <a:t>답하는 범위는 3가지로 제한 (도메인 제한):</a:t>
            </a:r>
            <a:endParaRPr lang="en-US" sz="950" dirty="0"/>
          </a:p>
        </p:txBody>
      </p:sp>
      <p:sp>
        <p:nvSpPr>
          <p:cNvPr id="15" name="Shape 11"/>
          <p:cNvSpPr/>
          <p:nvPr/>
        </p:nvSpPr>
        <p:spPr>
          <a:xfrm>
            <a:off x="777240" y="3419856"/>
            <a:ext cx="736092" cy="329184"/>
          </a:xfrm>
          <a:prstGeom prst="roundRect">
            <a:avLst>
              <a:gd name="adj" fmla="val 50000"/>
            </a:avLst>
          </a:prstGeom>
          <a:solidFill>
            <a:srgbClr val="FFFFFF"/>
          </a:solidFill>
          <a:ln w="12700">
            <a:solidFill>
              <a:srgbClr val="001E5A"/>
            </a:solidFill>
            <a:prstDash val="solid"/>
          </a:ln>
        </p:spPr>
      </p:sp>
      <p:sp>
        <p:nvSpPr>
          <p:cNvPr id="16" name="Text 12"/>
          <p:cNvSpPr/>
          <p:nvPr/>
        </p:nvSpPr>
        <p:spPr>
          <a:xfrm>
            <a:off x="777240" y="3419856"/>
            <a:ext cx="736092" cy="329184"/>
          </a:xfrm>
          <a:prstGeom prst="rect">
            <a:avLst/>
          </a:prstGeom>
          <a:noFill/>
          <a:ln/>
        </p:spPr>
        <p:txBody>
          <a:bodyPr wrap="square" lIns="0" tIns="0" rIns="0" bIns="0" rtlCol="0" anchor="ctr"/>
          <a:lstStyle/>
          <a:p>
            <a:pPr algn="ctr" indent="0" marL="0">
              <a:buNone/>
            </a:pPr>
            <a:r>
              <a:rPr lang="en-US" sz="900" dirty="0">
                <a:solidFill>
                  <a:srgbClr val="001E5A"/>
                </a:solidFill>
                <a:latin typeface="Malgun Gothic" pitchFamily="34" charset="0"/>
                <a:ea typeface="Malgun Gothic" pitchFamily="34" charset="-122"/>
                <a:cs typeface="Malgun Gothic" pitchFamily="34" charset="-120"/>
              </a:rPr>
              <a:t>앱 사용법</a:t>
            </a:r>
            <a:endParaRPr lang="en-US" sz="900" dirty="0"/>
          </a:p>
        </p:txBody>
      </p:sp>
      <p:sp>
        <p:nvSpPr>
          <p:cNvPr id="17" name="Shape 13"/>
          <p:cNvSpPr/>
          <p:nvPr/>
        </p:nvSpPr>
        <p:spPr>
          <a:xfrm>
            <a:off x="1623060" y="3419856"/>
            <a:ext cx="1024128" cy="329184"/>
          </a:xfrm>
          <a:prstGeom prst="roundRect">
            <a:avLst>
              <a:gd name="adj" fmla="val 50000"/>
            </a:avLst>
          </a:prstGeom>
          <a:solidFill>
            <a:srgbClr val="FFFFFF"/>
          </a:solidFill>
          <a:ln w="12700">
            <a:solidFill>
              <a:srgbClr val="001E5A"/>
            </a:solidFill>
            <a:prstDash val="solid"/>
          </a:ln>
        </p:spPr>
      </p:sp>
      <p:sp>
        <p:nvSpPr>
          <p:cNvPr id="18" name="Text 14"/>
          <p:cNvSpPr/>
          <p:nvPr/>
        </p:nvSpPr>
        <p:spPr>
          <a:xfrm>
            <a:off x="1623060" y="3419856"/>
            <a:ext cx="1024128" cy="329184"/>
          </a:xfrm>
          <a:prstGeom prst="rect">
            <a:avLst/>
          </a:prstGeom>
          <a:noFill/>
          <a:ln/>
        </p:spPr>
        <p:txBody>
          <a:bodyPr wrap="square" lIns="0" tIns="0" rIns="0" bIns="0" rtlCol="0" anchor="ctr"/>
          <a:lstStyle/>
          <a:p>
            <a:pPr algn="ctr" indent="0" marL="0">
              <a:buNone/>
            </a:pPr>
            <a:r>
              <a:rPr lang="en-US" sz="900" dirty="0">
                <a:solidFill>
                  <a:srgbClr val="001E5A"/>
                </a:solidFill>
                <a:latin typeface="Malgun Gothic" pitchFamily="34" charset="0"/>
                <a:ea typeface="Malgun Gothic" pitchFamily="34" charset="-122"/>
                <a:cs typeface="Malgun Gothic" pitchFamily="34" charset="-120"/>
              </a:rPr>
              <a:t>투자 기초 개념</a:t>
            </a:r>
            <a:endParaRPr lang="en-US" sz="900" dirty="0"/>
          </a:p>
        </p:txBody>
      </p:sp>
      <p:sp>
        <p:nvSpPr>
          <p:cNvPr id="19" name="Shape 15"/>
          <p:cNvSpPr/>
          <p:nvPr/>
        </p:nvSpPr>
        <p:spPr>
          <a:xfrm>
            <a:off x="2756916" y="3419856"/>
            <a:ext cx="1696212" cy="329184"/>
          </a:xfrm>
          <a:prstGeom prst="roundRect">
            <a:avLst>
              <a:gd name="adj" fmla="val 50000"/>
            </a:avLst>
          </a:prstGeom>
          <a:solidFill>
            <a:srgbClr val="FFFFFF"/>
          </a:solidFill>
          <a:ln w="12700">
            <a:solidFill>
              <a:srgbClr val="001E5A"/>
            </a:solidFill>
            <a:prstDash val="solid"/>
          </a:ln>
        </p:spPr>
      </p:sp>
      <p:sp>
        <p:nvSpPr>
          <p:cNvPr id="20" name="Text 16"/>
          <p:cNvSpPr/>
          <p:nvPr/>
        </p:nvSpPr>
        <p:spPr>
          <a:xfrm>
            <a:off x="2756916" y="3419856"/>
            <a:ext cx="1696212" cy="329184"/>
          </a:xfrm>
          <a:prstGeom prst="rect">
            <a:avLst/>
          </a:prstGeom>
          <a:noFill/>
          <a:ln/>
        </p:spPr>
        <p:txBody>
          <a:bodyPr wrap="square" lIns="0" tIns="0" rIns="0" bIns="0" rtlCol="0" anchor="ctr"/>
          <a:lstStyle/>
          <a:p>
            <a:pPr algn="ctr" indent="0" marL="0">
              <a:buNone/>
            </a:pPr>
            <a:r>
              <a:rPr lang="en-US" sz="900" dirty="0">
                <a:solidFill>
                  <a:srgbClr val="001E5A"/>
                </a:solidFill>
                <a:latin typeface="Malgun Gothic" pitchFamily="34" charset="0"/>
                <a:ea typeface="Malgun Gothic" pitchFamily="34" charset="-122"/>
                <a:cs typeface="Malgun Gothic" pitchFamily="34" charset="-120"/>
              </a:rPr>
              <a:t>보고 있는 화면·종목의 사실</a:t>
            </a:r>
            <a:endParaRPr lang="en-US" sz="900" dirty="0"/>
          </a:p>
        </p:txBody>
      </p:sp>
      <p:sp>
        <p:nvSpPr>
          <p:cNvPr id="21" name="Shape 17"/>
          <p:cNvSpPr/>
          <p:nvPr/>
        </p:nvSpPr>
        <p:spPr>
          <a:xfrm>
            <a:off x="4663440" y="1207008"/>
            <a:ext cx="3977640" cy="2743200"/>
          </a:xfrm>
          <a:prstGeom prst="roundRect">
            <a:avLst>
              <a:gd name="adj" fmla="val 4000"/>
            </a:avLst>
          </a:prstGeom>
          <a:solidFill>
            <a:srgbClr val="F4F6FB"/>
          </a:solidFill>
          <a:ln/>
        </p:spPr>
      </p:sp>
      <p:sp>
        <p:nvSpPr>
          <p:cNvPr id="22" name="Text 18"/>
          <p:cNvSpPr/>
          <p:nvPr/>
        </p:nvSpPr>
        <p:spPr>
          <a:xfrm>
            <a:off x="4937760" y="1353312"/>
            <a:ext cx="3520440" cy="274320"/>
          </a:xfrm>
          <a:prstGeom prst="rect">
            <a:avLst/>
          </a:prstGeom>
          <a:noFill/>
          <a:ln/>
        </p:spPr>
        <p:txBody>
          <a:bodyPr wrap="square" lIns="0" tIns="0" rIns="0" bIns="0" rtlCol="0" anchor="ctr"/>
          <a:lstStyle/>
          <a:p>
            <a:pPr indent="0" marL="0">
              <a:buNone/>
            </a:pPr>
            <a:r>
              <a:rPr lang="en-US" sz="1200" b="1" dirty="0">
                <a:solidFill>
                  <a:srgbClr val="001E5A"/>
                </a:solidFill>
                <a:latin typeface="Malgun Gothic" pitchFamily="34" charset="0"/>
                <a:ea typeface="Malgun Gothic" pitchFamily="34" charset="-122"/>
                <a:cs typeface="Malgun Gothic" pitchFamily="34" charset="-120"/>
              </a:rPr>
              <a:t>헤매면, 먼저 말을 걸어요 — 선제 신호 4종</a:t>
            </a:r>
            <a:endParaRPr lang="en-US" sz="1200" dirty="0"/>
          </a:p>
        </p:txBody>
      </p:sp>
      <p:sp>
        <p:nvSpPr>
          <p:cNvPr id="23" name="Text 19"/>
          <p:cNvSpPr/>
          <p:nvPr/>
        </p:nvSpPr>
        <p:spPr>
          <a:xfrm>
            <a:off x="4937760" y="1737360"/>
            <a:ext cx="3474720" cy="1554480"/>
          </a:xfrm>
          <a:prstGeom prst="rect">
            <a:avLst/>
          </a:prstGeom>
          <a:noFill/>
          <a:ln/>
        </p:spPr>
        <p:txBody>
          <a:bodyPr wrap="square" lIns="0" tIns="0" rIns="0" bIns="0" rtlCol="0" anchor="ctr"/>
          <a:lstStyle/>
          <a:p>
            <a:pPr marL="152400" indent="-152400">
              <a:spcAft>
                <a:spcPts val="800"/>
              </a:spcAft>
              <a:buSzPct val="100000"/>
              <a:buChar char="▪"/>
            </a:pPr>
            <a:r>
              <a:rPr lang="en-US" sz="1000" dirty="0">
                <a:solidFill>
                  <a:srgbClr val="1A1A2E"/>
                </a:solidFill>
                <a:latin typeface="Malgun Gothic" pitchFamily="34" charset="0"/>
                <a:ea typeface="Malgun Gothic" pitchFamily="34" charset="-122"/>
                <a:cs typeface="Malgun Gothic" pitchFamily="34" charset="-120"/>
              </a:rPr>
              <a:t>매수↔매도 버튼 반복 전환 → “매수와 매도 차이가 헷갈려?”</a:t>
            </a:r>
            <a:endParaRPr lang="en-US" sz="1000" dirty="0"/>
          </a:p>
          <a:p>
            <a:pPr marL="152400" indent="-152400">
              <a:spcAft>
                <a:spcPts val="800"/>
              </a:spcAft>
              <a:buSzPct val="100000"/>
              <a:buChar char="▪"/>
            </a:pPr>
            <a:r>
              <a:rPr lang="en-US" sz="1000" dirty="0">
                <a:solidFill>
                  <a:srgbClr val="1A1A2E"/>
                </a:solidFill>
                <a:latin typeface="Malgun Gothic" pitchFamily="34" charset="0"/>
                <a:ea typeface="Malgun Gothic" pitchFamily="34" charset="-122"/>
                <a:cs typeface="Malgun Gothic" pitchFamily="34" charset="-120"/>
              </a:rPr>
              <a:t>주문 확인창 열고 닫기 반복 → “확인하고 싶은 게 있어?”</a:t>
            </a:r>
            <a:endParaRPr lang="en-US" sz="1000" dirty="0"/>
          </a:p>
          <a:p>
            <a:pPr marL="152400" indent="-152400">
              <a:spcAft>
                <a:spcPts val="800"/>
              </a:spcAft>
              <a:buSzPct val="100000"/>
              <a:buChar char="▪"/>
            </a:pPr>
            <a:r>
              <a:rPr lang="en-US" sz="1000" dirty="0">
                <a:solidFill>
                  <a:srgbClr val="1A1A2E"/>
                </a:solidFill>
                <a:latin typeface="Malgun Gothic" pitchFamily="34" charset="0"/>
                <a:ea typeface="Malgun Gothic" pitchFamily="34" charset="-122"/>
                <a:cs typeface="Malgun Gothic" pitchFamily="34" charset="-120"/>
              </a:rPr>
              <a:t>주문 수량 반복 재수정 → “몇 주 살지 계산해볼까?”</a:t>
            </a:r>
            <a:endParaRPr lang="en-US" sz="1000" dirty="0"/>
          </a:p>
          <a:p>
            <a:pPr marL="152400" indent="-152400">
              <a:spcAft>
                <a:spcPts val="800"/>
              </a:spcAft>
              <a:buSzPct val="100000"/>
              <a:buChar char="▪"/>
            </a:pPr>
            <a:r>
              <a:rPr lang="en-US" sz="1000" dirty="0">
                <a:solidFill>
                  <a:srgbClr val="1A1A2E"/>
                </a:solidFill>
                <a:latin typeface="Malgun Gothic" pitchFamily="34" charset="0"/>
                <a:ea typeface="Malgun Gothic" pitchFamily="34" charset="-122"/>
                <a:cs typeface="Malgun Gothic" pitchFamily="34" charset="-120"/>
              </a:rPr>
              <a:t>화면 장기 체류 → “어디에서 막혔는지 같이 볼까?”</a:t>
            </a:r>
            <a:endParaRPr lang="en-US" sz="1000" dirty="0"/>
          </a:p>
        </p:txBody>
      </p:sp>
      <p:sp>
        <p:nvSpPr>
          <p:cNvPr id="24" name="Text 20"/>
          <p:cNvSpPr/>
          <p:nvPr/>
        </p:nvSpPr>
        <p:spPr>
          <a:xfrm>
            <a:off x="4937760" y="3401568"/>
            <a:ext cx="3520440" cy="457200"/>
          </a:xfrm>
          <a:prstGeom prst="rect">
            <a:avLst/>
          </a:prstGeom>
          <a:noFill/>
          <a:ln/>
        </p:spPr>
        <p:txBody>
          <a:bodyPr wrap="square" lIns="0" tIns="0" rIns="0" bIns="0" rtlCol="0" anchor="ctr"/>
          <a:lstStyle/>
          <a:p>
            <a:pPr indent="0" marL="0">
              <a:lnSpc>
                <a:spcPct val="110000"/>
              </a:lnSpc>
              <a:buNone/>
            </a:pPr>
            <a:r>
              <a:rPr lang="en-US" sz="950" dirty="0">
                <a:solidFill>
                  <a:srgbClr val="6B7280"/>
                </a:solidFill>
                <a:latin typeface="Malgun Gothic" pitchFamily="34" charset="0"/>
                <a:ea typeface="Malgun Gothic" pitchFamily="34" charset="-122"/>
                <a:cs typeface="Malgun Gothic" pitchFamily="34" charset="-120"/>
              </a:rPr>
              <a:t>발화는 고정 스크립트(생성 리스크 0) · 3분 간격 · 세션 2회 · [괜찮아] 뮤트 — 간섭이 아닌 도움</a:t>
            </a:r>
            <a:endParaRPr lang="en-US" sz="950" dirty="0"/>
          </a:p>
        </p:txBody>
      </p:sp>
      <p:sp>
        <p:nvSpPr>
          <p:cNvPr id="25" name="Shape 21"/>
          <p:cNvSpPr/>
          <p:nvPr/>
        </p:nvSpPr>
        <p:spPr>
          <a:xfrm>
            <a:off x="502920" y="4160520"/>
            <a:ext cx="8138160" cy="566928"/>
          </a:xfrm>
          <a:prstGeom prst="roundRect">
            <a:avLst>
              <a:gd name="adj" fmla="val 16129"/>
            </a:avLst>
          </a:prstGeom>
          <a:solidFill>
            <a:srgbClr val="FBEAF4"/>
          </a:solidFill>
          <a:ln w="15875">
            <a:solidFill>
              <a:srgbClr val="D70082"/>
            </a:solidFill>
            <a:prstDash val="solid"/>
          </a:ln>
        </p:spPr>
      </p:sp>
      <p:sp>
        <p:nvSpPr>
          <p:cNvPr id="26" name="Text 22"/>
          <p:cNvSpPr/>
          <p:nvPr/>
        </p:nvSpPr>
        <p:spPr>
          <a:xfrm>
            <a:off x="777240" y="4160520"/>
            <a:ext cx="7680960" cy="566928"/>
          </a:xfrm>
          <a:prstGeom prst="rect">
            <a:avLst/>
          </a:prstGeom>
          <a:noFill/>
          <a:ln/>
        </p:spPr>
        <p:txBody>
          <a:bodyPr wrap="square" lIns="0" tIns="0" rIns="0" bIns="0" rtlCol="0" anchor="ctr"/>
          <a:lstStyle/>
          <a:p>
            <a:pPr indent="0" marL="0">
              <a:buNone/>
            </a:pPr>
            <a:r>
              <a:rPr lang="en-US" sz="1100" b="1" dirty="0">
                <a:solidFill>
                  <a:srgbClr val="D70082"/>
                </a:solidFill>
                <a:latin typeface="Malgun Gothic" pitchFamily="34" charset="0"/>
                <a:ea typeface="Malgun Gothic" pitchFamily="34" charset="-122"/>
                <a:cs typeface="Malgun Gothic" pitchFamily="34" charset="-120"/>
              </a:rPr>
              <a:t>절대 금지  </a:t>
            </a:r>
            <a:pPr indent="0" marL="0">
              <a:buNone/>
            </a:pPr>
            <a:r>
              <a:rPr lang="en-US" sz="1100" dirty="0">
                <a:solidFill>
                  <a:srgbClr val="1A1A2E"/>
                </a:solidFill>
                <a:latin typeface="Malgun Gothic" pitchFamily="34" charset="0"/>
                <a:ea typeface="Malgun Gothic" pitchFamily="34" charset="-122"/>
                <a:cs typeface="Malgun Gothic" pitchFamily="34" charset="-120"/>
              </a:rPr>
              <a:t>종목 추천 · 매매 시점 · 목표가 · 예측 · 훈계 — 이 금지 규칙이 곧 투자권유 규제의 방어 장치</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200" kern="0" dirty="0">
                <a:solidFill>
                  <a:srgbClr val="D70082"/>
                </a:solidFill>
                <a:latin typeface="Malgun Gothic" pitchFamily="34" charset="0"/>
                <a:ea typeface="Malgun Gothic" pitchFamily="34" charset="-122"/>
                <a:cs typeface="Malgun Gothic" pitchFamily="34" charset="-120"/>
              </a:rPr>
              <a:t>SLIDE 10 — 기대효과와 프로젝트 효용성</a:t>
            </a:r>
            <a:endParaRPr lang="en-US" sz="1100" dirty="0"/>
          </a:p>
        </p:txBody>
      </p:sp>
      <p:sp>
        <p:nvSpPr>
          <p:cNvPr id="3" name="Text 1"/>
          <p:cNvSpPr/>
          <p:nvPr/>
        </p:nvSpPr>
        <p:spPr>
          <a:xfrm>
            <a:off x="502920" y="530352"/>
            <a:ext cx="8138160" cy="502920"/>
          </a:xfrm>
          <a:prstGeom prst="rect">
            <a:avLst/>
          </a:prstGeom>
          <a:noFill/>
          <a:ln/>
        </p:spPr>
        <p:txBody>
          <a:bodyPr wrap="square" lIns="0" tIns="0" rIns="0" bIns="0" rtlCol="0" anchor="ctr"/>
          <a:lstStyle/>
          <a:p>
            <a:pPr indent="0" marL="0">
              <a:buNone/>
            </a:pPr>
            <a:r>
              <a:rPr lang="en-US" sz="2500" b="1" dirty="0">
                <a:solidFill>
                  <a:srgbClr val="001E5A"/>
                </a:solidFill>
                <a:latin typeface="Malgun Gothic" pitchFamily="34" charset="0"/>
                <a:ea typeface="Malgun Gothic" pitchFamily="34" charset="-122"/>
                <a:cs typeface="Malgun Gothic" pitchFamily="34" charset="-120"/>
              </a:rPr>
              <a:t>확인할 수 있는 효용만 약속한다</a:t>
            </a:r>
            <a:endParaRPr lang="en-US" sz="2500" dirty="0"/>
          </a:p>
        </p:txBody>
      </p:sp>
      <p:sp>
        <p:nvSpPr>
          <p:cNvPr id="5" name="Text 2"/>
          <p:cNvSpPr/>
          <p:nvPr/>
        </p:nvSpPr>
        <p:spPr>
          <a:xfrm>
            <a:off x="8458200" y="4759452"/>
            <a:ext cx="411480" cy="274320"/>
          </a:xfrm>
          <a:prstGeom prst="rect">
            <a:avLst/>
          </a:prstGeom>
          <a:noFill/>
          <a:ln/>
        </p:spPr>
        <p:txBody>
          <a:bodyPr wrap="square" lIns="0" tIns="0" rIns="0" bIns="0" rtlCol="0" anchor="ctr"/>
          <a:lstStyle/>
          <a:p>
            <a:pPr algn="r" indent="0" marL="0">
              <a:buNone/>
            </a:pPr>
            <a:r>
              <a:rPr lang="en-US" sz="1000" dirty="0">
                <a:solidFill>
                  <a:srgbClr val="BEBEBE"/>
                </a:solidFill>
                <a:latin typeface="Malgun Gothic" pitchFamily="34" charset="0"/>
                <a:ea typeface="Malgun Gothic" pitchFamily="34" charset="-122"/>
                <a:cs typeface="Malgun Gothic" pitchFamily="34" charset="-120"/>
              </a:rPr>
              <a:t>10</a:t>
            </a:r>
            <a:endParaRPr lang="en-US" sz="1000" dirty="0"/>
          </a:p>
        </p:txBody>
      </p:sp>
      <p:sp>
        <p:nvSpPr>
          <p:cNvPr id="6" name="Shape 3"/>
          <p:cNvSpPr/>
          <p:nvPr/>
        </p:nvSpPr>
        <p:spPr>
          <a:xfrm>
            <a:off x="502920" y="1234440"/>
            <a:ext cx="3977640" cy="2395728"/>
          </a:xfrm>
          <a:prstGeom prst="roundRect">
            <a:avLst>
              <a:gd name="adj" fmla="val 4580"/>
            </a:avLst>
          </a:prstGeom>
          <a:solidFill>
            <a:srgbClr val="FBEAF4"/>
          </a:solidFill>
          <a:ln/>
        </p:spPr>
      </p:sp>
      <p:sp>
        <p:nvSpPr>
          <p:cNvPr id="7" name="Shape 4"/>
          <p:cNvSpPr/>
          <p:nvPr/>
        </p:nvSpPr>
        <p:spPr>
          <a:xfrm>
            <a:off x="758952" y="1463040"/>
            <a:ext cx="475488" cy="475488"/>
          </a:xfrm>
          <a:prstGeom prst="ellipse">
            <a:avLst/>
          </a:prstGeom>
          <a:solidFill>
            <a:srgbClr val="D70082"/>
          </a:solidFill>
          <a:ln/>
        </p:spPr>
      </p:sp>
      <p:pic>
        <p:nvPicPr>
          <p:cNvPr id="8" name="Image 0" descr="preencoded.png">    </p:cNvPr>
          <p:cNvPicPr>
            <a:picLocks noChangeAspect="1"/>
          </p:cNvPicPr>
          <p:nvPr/>
        </p:nvPicPr>
        <p:blipFill>
          <a:blip r:embed="rId1"/>
          <a:stretch>
            <a:fillRect/>
          </a:stretch>
        </p:blipFill>
        <p:spPr>
          <a:xfrm>
            <a:off x="887334" y="1591422"/>
            <a:ext cx="218724" cy="218724"/>
          </a:xfrm>
          <a:prstGeom prst="rect">
            <a:avLst/>
          </a:prstGeom>
        </p:spPr>
      </p:pic>
      <p:sp>
        <p:nvSpPr>
          <p:cNvPr id="9" name="Text 5"/>
          <p:cNvSpPr/>
          <p:nvPr/>
        </p:nvSpPr>
        <p:spPr>
          <a:xfrm>
            <a:off x="1362456" y="1536192"/>
            <a:ext cx="2926080" cy="329184"/>
          </a:xfrm>
          <a:prstGeom prst="rect">
            <a:avLst/>
          </a:prstGeom>
          <a:noFill/>
          <a:ln/>
        </p:spPr>
        <p:txBody>
          <a:bodyPr wrap="square" lIns="0" tIns="0" rIns="0" bIns="0" rtlCol="0" anchor="ctr"/>
          <a:lstStyle/>
          <a:p>
            <a:pPr indent="0" marL="0">
              <a:buNone/>
            </a:pPr>
            <a:r>
              <a:rPr lang="en-US" sz="1450" b="1" dirty="0">
                <a:solidFill>
                  <a:srgbClr val="D70082"/>
                </a:solidFill>
                <a:latin typeface="Malgun Gothic" pitchFamily="34" charset="0"/>
                <a:ea typeface="Malgun Gothic" pitchFamily="34" charset="-122"/>
                <a:cs typeface="Malgun Gothic" pitchFamily="34" charset="-120"/>
              </a:rPr>
              <a:t>사용자 관점</a:t>
            </a:r>
            <a:endParaRPr lang="en-US" sz="1450" dirty="0"/>
          </a:p>
        </p:txBody>
      </p:sp>
      <p:sp>
        <p:nvSpPr>
          <p:cNvPr id="10" name="Text 6"/>
          <p:cNvSpPr/>
          <p:nvPr/>
        </p:nvSpPr>
        <p:spPr>
          <a:xfrm>
            <a:off x="777240" y="2084832"/>
            <a:ext cx="3429000" cy="1463040"/>
          </a:xfrm>
          <a:prstGeom prst="rect">
            <a:avLst/>
          </a:prstGeom>
          <a:noFill/>
          <a:ln/>
        </p:spPr>
        <p:txBody>
          <a:bodyPr wrap="square" lIns="0" tIns="0" rIns="0" bIns="0" rtlCol="0" anchor="ctr"/>
          <a:lstStyle/>
          <a:p>
            <a:pPr marL="177800" indent="-177800">
              <a:spcAft>
                <a:spcPts val="900"/>
              </a:spcAft>
              <a:buSzPct val="100000"/>
              <a:buChar char="▪"/>
            </a:pPr>
            <a:r>
              <a:rPr lang="en-US" sz="1150" dirty="0">
                <a:solidFill>
                  <a:srgbClr val="1A1A2E"/>
                </a:solidFill>
                <a:latin typeface="Malgun Gothic" pitchFamily="34" charset="0"/>
                <a:ea typeface="Malgun Gothic" pitchFamily="34" charset="-122"/>
                <a:cs typeface="Malgun Gothic" pitchFamily="34" charset="-120"/>
              </a:rPr>
              <a:t>아이 — 안전한 환경에서의 직접 판단 경험, ‘근거를 붙여 결정하는’ 습관</a:t>
            </a:r>
            <a:endParaRPr lang="en-US" sz="1150" dirty="0"/>
          </a:p>
          <a:p>
            <a:pPr marL="177800" indent="-177800">
              <a:spcAft>
                <a:spcPts val="900"/>
              </a:spcAft>
              <a:buSzPct val="100000"/>
              <a:buChar char="▪"/>
            </a:pPr>
            <a:r>
              <a:rPr lang="en-US" sz="1150" dirty="0">
                <a:solidFill>
                  <a:srgbClr val="1A1A2E"/>
                </a:solidFill>
                <a:latin typeface="Malgun Gothic" pitchFamily="34" charset="0"/>
                <a:ea typeface="Malgun Gothic" pitchFamily="34" charset="-122"/>
                <a:cs typeface="Malgun Gothic" pitchFamily="34" charset="-120"/>
              </a:rPr>
              <a:t>부모 — 교육 부담 해소 (가르치는 건 키웅이, 읽어주는 건 리포트)</a:t>
            </a:r>
            <a:endParaRPr lang="en-US" sz="1150" dirty="0"/>
          </a:p>
          <a:p>
            <a:pPr marL="177800" indent="-177800">
              <a:spcAft>
                <a:spcPts val="900"/>
              </a:spcAft>
              <a:buSzPct val="100000"/>
              <a:buChar char="▪"/>
            </a:pPr>
            <a:r>
              <a:rPr lang="en-US" sz="1150" dirty="0">
                <a:solidFill>
                  <a:srgbClr val="1A1A2E"/>
                </a:solidFill>
                <a:latin typeface="Malgun Gothic" pitchFamily="34" charset="0"/>
                <a:ea typeface="Malgun Gothic" pitchFamily="34" charset="-122"/>
                <a:cs typeface="Malgun Gothic" pitchFamily="34" charset="-120"/>
              </a:rPr>
              <a:t>가족 — “아빠는 뭐 샀어?” 금융 대화의 소재와 계기</a:t>
            </a:r>
            <a:endParaRPr lang="en-US" sz="1150" dirty="0"/>
          </a:p>
        </p:txBody>
      </p:sp>
      <p:sp>
        <p:nvSpPr>
          <p:cNvPr id="11" name="Shape 7"/>
          <p:cNvSpPr/>
          <p:nvPr/>
        </p:nvSpPr>
        <p:spPr>
          <a:xfrm>
            <a:off x="4663440" y="1234440"/>
            <a:ext cx="3977640" cy="2395728"/>
          </a:xfrm>
          <a:prstGeom prst="roundRect">
            <a:avLst>
              <a:gd name="adj" fmla="val 4580"/>
            </a:avLst>
          </a:prstGeom>
          <a:solidFill>
            <a:srgbClr val="F4F6FB"/>
          </a:solidFill>
          <a:ln/>
        </p:spPr>
      </p:sp>
      <p:sp>
        <p:nvSpPr>
          <p:cNvPr id="12" name="Shape 8"/>
          <p:cNvSpPr/>
          <p:nvPr/>
        </p:nvSpPr>
        <p:spPr>
          <a:xfrm>
            <a:off x="4919472" y="1463040"/>
            <a:ext cx="475488" cy="475488"/>
          </a:xfrm>
          <a:prstGeom prst="ellipse">
            <a:avLst/>
          </a:prstGeom>
          <a:solidFill>
            <a:srgbClr val="001E5A"/>
          </a:solidFill>
          <a:ln/>
        </p:spPr>
      </p:sp>
      <p:pic>
        <p:nvPicPr>
          <p:cNvPr id="13" name="Image 1" descr="preencoded.png">    </p:cNvPr>
          <p:cNvPicPr>
            <a:picLocks noChangeAspect="1"/>
          </p:cNvPicPr>
          <p:nvPr/>
        </p:nvPicPr>
        <p:blipFill>
          <a:blip r:embed="rId2"/>
          <a:stretch>
            <a:fillRect/>
          </a:stretch>
        </p:blipFill>
        <p:spPr>
          <a:xfrm>
            <a:off x="5047854" y="1591422"/>
            <a:ext cx="218724" cy="218724"/>
          </a:xfrm>
          <a:prstGeom prst="rect">
            <a:avLst/>
          </a:prstGeom>
        </p:spPr>
      </p:pic>
      <p:sp>
        <p:nvSpPr>
          <p:cNvPr id="14" name="Text 9"/>
          <p:cNvSpPr/>
          <p:nvPr/>
        </p:nvSpPr>
        <p:spPr>
          <a:xfrm>
            <a:off x="5522976" y="1536192"/>
            <a:ext cx="2926080" cy="329184"/>
          </a:xfrm>
          <a:prstGeom prst="rect">
            <a:avLst/>
          </a:prstGeom>
          <a:noFill/>
          <a:ln/>
        </p:spPr>
        <p:txBody>
          <a:bodyPr wrap="square" lIns="0" tIns="0" rIns="0" bIns="0" rtlCol="0" anchor="ctr"/>
          <a:lstStyle/>
          <a:p>
            <a:pPr indent="0" marL="0">
              <a:buNone/>
            </a:pPr>
            <a:r>
              <a:rPr lang="en-US" sz="1450" b="1" dirty="0">
                <a:solidFill>
                  <a:srgbClr val="001E5A"/>
                </a:solidFill>
                <a:latin typeface="Malgun Gothic" pitchFamily="34" charset="0"/>
                <a:ea typeface="Malgun Gothic" pitchFamily="34" charset="-122"/>
                <a:cs typeface="Malgun Gothic" pitchFamily="34" charset="-120"/>
              </a:rPr>
              <a:t>키움(서비스) 관점</a:t>
            </a:r>
            <a:endParaRPr lang="en-US" sz="1450" dirty="0"/>
          </a:p>
        </p:txBody>
      </p:sp>
      <p:sp>
        <p:nvSpPr>
          <p:cNvPr id="15" name="Text 10"/>
          <p:cNvSpPr/>
          <p:nvPr/>
        </p:nvSpPr>
        <p:spPr>
          <a:xfrm>
            <a:off x="4937760" y="2084832"/>
            <a:ext cx="3429000" cy="1463040"/>
          </a:xfrm>
          <a:prstGeom prst="rect">
            <a:avLst/>
          </a:prstGeom>
          <a:noFill/>
          <a:ln/>
        </p:spPr>
        <p:txBody>
          <a:bodyPr wrap="square" lIns="0" tIns="0" rIns="0" bIns="0" rtlCol="0" anchor="ctr"/>
          <a:lstStyle/>
          <a:p>
            <a:pPr marL="177800" indent="-177800">
              <a:spcAft>
                <a:spcPts val="900"/>
              </a:spcAft>
              <a:buSzPct val="100000"/>
              <a:buChar char="▪"/>
            </a:pPr>
            <a:r>
              <a:rPr lang="en-US" sz="1150" dirty="0">
                <a:solidFill>
                  <a:srgbClr val="1A1A2E"/>
                </a:solidFill>
                <a:latin typeface="Malgun Gothic" pitchFamily="34" charset="0"/>
                <a:ea typeface="Malgun Gothic" pitchFamily="34" charset="-122"/>
                <a:cs typeface="Malgun Gothic" pitchFamily="34" charset="-120"/>
              </a:rPr>
              <a:t>미성년 계좌 신규 개설 + 방치 계좌 활성화 (KPI 이원화)</a:t>
            </a:r>
            <a:endParaRPr lang="en-US" sz="1150" dirty="0"/>
          </a:p>
          <a:p>
            <a:pPr marL="177800" indent="-177800">
              <a:spcAft>
                <a:spcPts val="900"/>
              </a:spcAft>
              <a:buSzPct val="100000"/>
              <a:buChar char="▪"/>
            </a:pPr>
            <a:r>
              <a:rPr lang="en-US" sz="1150" dirty="0">
                <a:solidFill>
                  <a:srgbClr val="1A1A2E"/>
                </a:solidFill>
                <a:latin typeface="Malgun Gothic" pitchFamily="34" charset="0"/>
                <a:ea typeface="Malgun Gothic" pitchFamily="34" charset="-122"/>
                <a:cs typeface="Malgun Gothic" pitchFamily="34" charset="-120"/>
              </a:rPr>
              <a:t>부모·자녀 동반 활성 가족 — 세대 단위 고객 접점</a:t>
            </a:r>
            <a:endParaRPr lang="en-US" sz="1150" dirty="0"/>
          </a:p>
          <a:p>
            <a:pPr marL="177800" indent="-177800">
              <a:spcAft>
                <a:spcPts val="900"/>
              </a:spcAft>
              <a:buSzPct val="100000"/>
              <a:buChar char="▪"/>
            </a:pPr>
            <a:r>
              <a:rPr lang="en-US" sz="1150" dirty="0">
                <a:solidFill>
                  <a:srgbClr val="1A1A2E"/>
                </a:solidFill>
                <a:latin typeface="Malgun Gothic" pitchFamily="34" charset="0"/>
                <a:ea typeface="Malgun Gothic" pitchFamily="34" charset="-122"/>
                <a:cs typeface="Malgun Gothic" pitchFamily="34" charset="-120"/>
              </a:rPr>
              <a:t>자녀의 첫 투자 경험 선점 → 성인 이후 장기 고객 연결</a:t>
            </a:r>
            <a:endParaRPr lang="en-US" sz="1150" dirty="0"/>
          </a:p>
        </p:txBody>
      </p:sp>
      <p:sp>
        <p:nvSpPr>
          <p:cNvPr id="16" name="Text 11"/>
          <p:cNvSpPr/>
          <p:nvPr/>
        </p:nvSpPr>
        <p:spPr>
          <a:xfrm>
            <a:off x="502920" y="3767328"/>
            <a:ext cx="3657600" cy="274320"/>
          </a:xfrm>
          <a:prstGeom prst="rect">
            <a:avLst/>
          </a:prstGeom>
          <a:noFill/>
          <a:ln/>
        </p:spPr>
        <p:txBody>
          <a:bodyPr wrap="square" lIns="0" tIns="0" rIns="0" bIns="0" rtlCol="0" anchor="ctr"/>
          <a:lstStyle/>
          <a:p>
            <a:pPr indent="0" marL="0">
              <a:buNone/>
            </a:pPr>
            <a:r>
              <a:rPr lang="en-US" sz="1200" b="1" dirty="0">
                <a:solidFill>
                  <a:srgbClr val="001E5A"/>
                </a:solidFill>
                <a:latin typeface="Malgun Gothic" pitchFamily="34" charset="0"/>
                <a:ea typeface="Malgun Gothic" pitchFamily="34" charset="-122"/>
                <a:cs typeface="Malgun Gothic" pitchFamily="34" charset="-120"/>
              </a:rPr>
              <a:t>효용성 판단 지표</a:t>
            </a:r>
            <a:endParaRPr lang="en-US" sz="1200" dirty="0"/>
          </a:p>
        </p:txBody>
      </p:sp>
      <p:sp>
        <p:nvSpPr>
          <p:cNvPr id="17" name="Text 12"/>
          <p:cNvSpPr/>
          <p:nvPr/>
        </p:nvSpPr>
        <p:spPr>
          <a:xfrm>
            <a:off x="502920" y="4023360"/>
            <a:ext cx="8138160" cy="292608"/>
          </a:xfrm>
          <a:prstGeom prst="rect">
            <a:avLst/>
          </a:prstGeom>
          <a:noFill/>
          <a:ln/>
        </p:spPr>
        <p:txBody>
          <a:bodyPr wrap="square" lIns="0" tIns="0" rIns="0" bIns="0" rtlCol="0" anchor="ctr"/>
          <a:lstStyle/>
          <a:p>
            <a:pPr indent="0" marL="0">
              <a:buNone/>
            </a:pPr>
            <a:r>
              <a:rPr lang="en-US" sz="1050" dirty="0">
                <a:solidFill>
                  <a:srgbClr val="6B7280"/>
                </a:solidFill>
                <a:latin typeface="Malgun Gothic" pitchFamily="34" charset="0"/>
                <a:ea typeface="Malgun Gothic" pitchFamily="34" charset="-122"/>
                <a:cs typeface="Malgun Gothic" pitchFamily="34" charset="-120"/>
              </a:rPr>
              <a:t>참여 의향(설문·PoC)  ·  첫 주 주문 완료율  ·  질문식 매매 태깅률  ·  4주 완주율·재참여 의향  ·  API 실현 가능성 [확인 중]</a:t>
            </a:r>
            <a:endParaRPr lang="en-US" sz="1050" dirty="0"/>
          </a:p>
        </p:txBody>
      </p:sp>
      <p:sp>
        <p:nvSpPr>
          <p:cNvPr id="18" name="Shape 13"/>
          <p:cNvSpPr/>
          <p:nvPr/>
        </p:nvSpPr>
        <p:spPr>
          <a:xfrm>
            <a:off x="502920" y="4370832"/>
            <a:ext cx="8138160" cy="502920"/>
          </a:xfrm>
          <a:prstGeom prst="roundRect">
            <a:avLst>
              <a:gd name="adj" fmla="val 18182"/>
            </a:avLst>
          </a:prstGeom>
          <a:solidFill>
            <a:srgbClr val="001E5A"/>
          </a:solidFill>
          <a:ln/>
        </p:spPr>
      </p:sp>
      <p:sp>
        <p:nvSpPr>
          <p:cNvPr id="19" name="Text 14"/>
          <p:cNvSpPr/>
          <p:nvPr/>
        </p:nvSpPr>
        <p:spPr>
          <a:xfrm>
            <a:off x="777240" y="4370832"/>
            <a:ext cx="7680960" cy="502920"/>
          </a:xfrm>
          <a:prstGeom prst="rect">
            <a:avLst/>
          </a:prstGeom>
          <a:noFill/>
          <a:ln/>
        </p:spPr>
        <p:txBody>
          <a:bodyPr wrap="square" lIns="0" tIns="0" rIns="0" bIns="0" rtlCol="0" anchor="ctr"/>
          <a:lstStyle/>
          <a:p>
            <a:pPr indent="0" marL="0">
              <a:buNone/>
            </a:pPr>
            <a:r>
              <a:rPr lang="en-US" sz="1100" b="1" dirty="0">
                <a:solidFill>
                  <a:srgbClr val="FF7ABF"/>
                </a:solidFill>
                <a:latin typeface="Malgun Gothic" pitchFamily="34" charset="0"/>
                <a:ea typeface="Malgun Gothic" pitchFamily="34" charset="-122"/>
                <a:cs typeface="Malgun Gothic" pitchFamily="34" charset="-120"/>
              </a:rPr>
              <a:t>원칙  </a:t>
            </a:r>
            <a:pPr indent="0" marL="0">
              <a:buNone/>
            </a:pPr>
            <a:r>
              <a:rPr lang="en-US" sz="1100" dirty="0">
                <a:solidFill>
                  <a:srgbClr val="FFFFFF"/>
                </a:solidFill>
                <a:latin typeface="Malgun Gothic" pitchFamily="34" charset="0"/>
                <a:ea typeface="Malgun Gothic" pitchFamily="34" charset="-122"/>
                <a:cs typeface="Malgun Gothic" pitchFamily="34" charset="-120"/>
              </a:rPr>
              <a:t>“투자 실력·수익률 향상”은 말하지 않는다 — 습관·이해·대화·계좌 활성처럼 확인 가능한 효용만 말한다</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200" kern="0" dirty="0">
                <a:solidFill>
                  <a:srgbClr val="D70082"/>
                </a:solidFill>
                <a:latin typeface="Malgun Gothic" pitchFamily="34" charset="0"/>
                <a:ea typeface="Malgun Gothic" pitchFamily="34" charset="-122"/>
                <a:cs typeface="Malgun Gothic" pitchFamily="34" charset="-120"/>
              </a:rPr>
              <a:t>SLIDE 11 — 현재 진행 상황과 검증 계획</a:t>
            </a:r>
            <a:endParaRPr lang="en-US" sz="1100" dirty="0"/>
          </a:p>
        </p:txBody>
      </p:sp>
      <p:sp>
        <p:nvSpPr>
          <p:cNvPr id="3" name="Text 1"/>
          <p:cNvSpPr/>
          <p:nvPr/>
        </p:nvSpPr>
        <p:spPr>
          <a:xfrm>
            <a:off x="502920" y="530352"/>
            <a:ext cx="8138160" cy="502920"/>
          </a:xfrm>
          <a:prstGeom prst="rect">
            <a:avLst/>
          </a:prstGeom>
          <a:noFill/>
          <a:ln/>
        </p:spPr>
        <p:txBody>
          <a:bodyPr wrap="square" lIns="0" tIns="0" rIns="0" bIns="0" rtlCol="0" anchor="ctr"/>
          <a:lstStyle/>
          <a:p>
            <a:pPr indent="0" marL="0">
              <a:buNone/>
            </a:pPr>
            <a:r>
              <a:rPr lang="en-US" sz="2500" b="1" dirty="0">
                <a:solidFill>
                  <a:srgbClr val="001E5A"/>
                </a:solidFill>
                <a:latin typeface="Malgun Gothic" pitchFamily="34" charset="0"/>
                <a:ea typeface="Malgun Gothic" pitchFamily="34" charset="-122"/>
                <a:cs typeface="Malgun Gothic" pitchFamily="34" charset="-120"/>
              </a:rPr>
              <a:t>기획은 단일 마스터로 완료 — 다음은 프로토타입과 PoC</a:t>
            </a:r>
            <a:endParaRPr lang="en-US" sz="2500" dirty="0"/>
          </a:p>
        </p:txBody>
      </p:sp>
      <p:sp>
        <p:nvSpPr>
          <p:cNvPr id="5" name="Text 2"/>
          <p:cNvSpPr/>
          <p:nvPr/>
        </p:nvSpPr>
        <p:spPr>
          <a:xfrm>
            <a:off x="8458200" y="4759452"/>
            <a:ext cx="411480" cy="274320"/>
          </a:xfrm>
          <a:prstGeom prst="rect">
            <a:avLst/>
          </a:prstGeom>
          <a:noFill/>
          <a:ln/>
        </p:spPr>
        <p:txBody>
          <a:bodyPr wrap="square" lIns="0" tIns="0" rIns="0" bIns="0" rtlCol="0" anchor="ctr"/>
          <a:lstStyle/>
          <a:p>
            <a:pPr algn="r" indent="0" marL="0">
              <a:buNone/>
            </a:pPr>
            <a:r>
              <a:rPr lang="en-US" sz="1000" dirty="0">
                <a:solidFill>
                  <a:srgbClr val="BEBEBE"/>
                </a:solidFill>
                <a:latin typeface="Malgun Gothic" pitchFamily="34" charset="0"/>
                <a:ea typeface="Malgun Gothic" pitchFamily="34" charset="-122"/>
                <a:cs typeface="Malgun Gothic" pitchFamily="34" charset="-120"/>
              </a:rPr>
              <a:t>11</a:t>
            </a:r>
            <a:endParaRPr lang="en-US" sz="1000" dirty="0"/>
          </a:p>
        </p:txBody>
      </p:sp>
      <p:sp>
        <p:nvSpPr>
          <p:cNvPr id="6" name="Shape 3"/>
          <p:cNvSpPr/>
          <p:nvPr/>
        </p:nvSpPr>
        <p:spPr>
          <a:xfrm>
            <a:off x="502920" y="1234440"/>
            <a:ext cx="4114800" cy="786384"/>
          </a:xfrm>
          <a:prstGeom prst="roundRect">
            <a:avLst>
              <a:gd name="adj" fmla="val 11628"/>
            </a:avLst>
          </a:prstGeom>
          <a:solidFill>
            <a:srgbClr val="F4F6FB"/>
          </a:solidFill>
          <a:ln/>
        </p:spPr>
      </p:sp>
      <p:sp>
        <p:nvSpPr>
          <p:cNvPr id="7" name="Shape 4"/>
          <p:cNvSpPr/>
          <p:nvPr/>
        </p:nvSpPr>
        <p:spPr>
          <a:xfrm>
            <a:off x="658368" y="1472184"/>
            <a:ext cx="777240" cy="310896"/>
          </a:xfrm>
          <a:prstGeom prst="roundRect">
            <a:avLst>
              <a:gd name="adj" fmla="val 50000"/>
            </a:avLst>
          </a:prstGeom>
          <a:solidFill>
            <a:srgbClr val="001E5A"/>
          </a:solidFill>
          <a:ln/>
        </p:spPr>
      </p:sp>
      <p:sp>
        <p:nvSpPr>
          <p:cNvPr id="8" name="Text 5"/>
          <p:cNvSpPr/>
          <p:nvPr/>
        </p:nvSpPr>
        <p:spPr>
          <a:xfrm>
            <a:off x="658368" y="1472184"/>
            <a:ext cx="77724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완료</a:t>
            </a:r>
            <a:endParaRPr lang="en-US" sz="1000" dirty="0"/>
          </a:p>
        </p:txBody>
      </p:sp>
      <p:sp>
        <p:nvSpPr>
          <p:cNvPr id="9" name="Text 6"/>
          <p:cNvSpPr/>
          <p:nvPr/>
        </p:nvSpPr>
        <p:spPr>
          <a:xfrm>
            <a:off x="1572768" y="1289304"/>
            <a:ext cx="2926080" cy="676656"/>
          </a:xfrm>
          <a:prstGeom prst="rect">
            <a:avLst/>
          </a:prstGeom>
          <a:noFill/>
          <a:ln/>
        </p:spPr>
        <p:txBody>
          <a:bodyPr wrap="square" lIns="0" tIns="0" rIns="0" bIns="0" rtlCol="0" anchor="ctr"/>
          <a:lstStyle/>
          <a:p>
            <a:pPr indent="0" marL="0">
              <a:lnSpc>
                <a:spcPct val="110000"/>
              </a:lnSpc>
              <a:buNone/>
            </a:pPr>
            <a:r>
              <a:rPr lang="en-US" sz="950" dirty="0">
                <a:solidFill>
                  <a:srgbClr val="1A1A2E"/>
                </a:solidFill>
                <a:latin typeface="Malgun Gothic" pitchFamily="34" charset="0"/>
                <a:ea typeface="Malgun Gothic" pitchFamily="34" charset="-122"/>
                <a:cs typeface="Malgun Gothic" pitchFamily="34" charset="-120"/>
              </a:rPr>
              <a:t>문제 조사·페르소나·핵심 문제 정의 / 3대 기능·시즌 규칙 설계 / 규제 검토 / 기획 문서 단일화 (v2, GitHub 관리)</a:t>
            </a:r>
            <a:endParaRPr lang="en-US" sz="950" dirty="0"/>
          </a:p>
        </p:txBody>
      </p:sp>
      <p:sp>
        <p:nvSpPr>
          <p:cNvPr id="10" name="Shape 7"/>
          <p:cNvSpPr/>
          <p:nvPr/>
        </p:nvSpPr>
        <p:spPr>
          <a:xfrm>
            <a:off x="502920" y="2130552"/>
            <a:ext cx="4114800" cy="786384"/>
          </a:xfrm>
          <a:prstGeom prst="roundRect">
            <a:avLst>
              <a:gd name="adj" fmla="val 11628"/>
            </a:avLst>
          </a:prstGeom>
          <a:solidFill>
            <a:srgbClr val="F4F6FB"/>
          </a:solidFill>
          <a:ln/>
        </p:spPr>
      </p:sp>
      <p:sp>
        <p:nvSpPr>
          <p:cNvPr id="11" name="Shape 8"/>
          <p:cNvSpPr/>
          <p:nvPr/>
        </p:nvSpPr>
        <p:spPr>
          <a:xfrm>
            <a:off x="658368" y="2368296"/>
            <a:ext cx="777240" cy="310896"/>
          </a:xfrm>
          <a:prstGeom prst="roundRect">
            <a:avLst>
              <a:gd name="adj" fmla="val 50000"/>
            </a:avLst>
          </a:prstGeom>
          <a:solidFill>
            <a:srgbClr val="D70082"/>
          </a:solidFill>
          <a:ln/>
        </p:spPr>
      </p:sp>
      <p:sp>
        <p:nvSpPr>
          <p:cNvPr id="12" name="Text 9"/>
          <p:cNvSpPr/>
          <p:nvPr/>
        </p:nvSpPr>
        <p:spPr>
          <a:xfrm>
            <a:off x="658368" y="2368296"/>
            <a:ext cx="77724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진행 중</a:t>
            </a:r>
            <a:endParaRPr lang="en-US" sz="1000" dirty="0"/>
          </a:p>
        </p:txBody>
      </p:sp>
      <p:sp>
        <p:nvSpPr>
          <p:cNvPr id="13" name="Text 10"/>
          <p:cNvSpPr/>
          <p:nvPr/>
        </p:nvSpPr>
        <p:spPr>
          <a:xfrm>
            <a:off x="1572768" y="2185416"/>
            <a:ext cx="2926080" cy="676656"/>
          </a:xfrm>
          <a:prstGeom prst="rect">
            <a:avLst/>
          </a:prstGeom>
          <a:noFill/>
          <a:ln/>
        </p:spPr>
        <p:txBody>
          <a:bodyPr wrap="square" lIns="0" tIns="0" rIns="0" bIns="0" rtlCol="0" anchor="ctr"/>
          <a:lstStyle/>
          <a:p>
            <a:pPr indent="0" marL="0">
              <a:lnSpc>
                <a:spcPct val="110000"/>
              </a:lnSpc>
              <a:buNone/>
            </a:pPr>
            <a:r>
              <a:rPr lang="en-US" sz="950" dirty="0">
                <a:solidFill>
                  <a:srgbClr val="1A1A2E"/>
                </a:solidFill>
                <a:latin typeface="Malgun Gothic" pitchFamily="34" charset="0"/>
                <a:ea typeface="Malgun Gothic" pitchFamily="34" charset="-122"/>
                <a:cs typeface="Malgun Gothic" pitchFamily="34" charset="-120"/>
              </a:rPr>
              <a:t>설문조사 (회수 중) / 유니버스 50종 목록 확정 / 와이어프레임</a:t>
            </a:r>
            <a:endParaRPr lang="en-US" sz="950" dirty="0"/>
          </a:p>
        </p:txBody>
      </p:sp>
      <p:sp>
        <p:nvSpPr>
          <p:cNvPr id="14" name="Shape 11"/>
          <p:cNvSpPr/>
          <p:nvPr/>
        </p:nvSpPr>
        <p:spPr>
          <a:xfrm>
            <a:off x="502920" y="3026664"/>
            <a:ext cx="4114800" cy="786384"/>
          </a:xfrm>
          <a:prstGeom prst="roundRect">
            <a:avLst>
              <a:gd name="adj" fmla="val 11628"/>
            </a:avLst>
          </a:prstGeom>
          <a:solidFill>
            <a:srgbClr val="F4F6FB"/>
          </a:solidFill>
          <a:ln/>
        </p:spPr>
      </p:sp>
      <p:sp>
        <p:nvSpPr>
          <p:cNvPr id="15" name="Shape 12"/>
          <p:cNvSpPr/>
          <p:nvPr/>
        </p:nvSpPr>
        <p:spPr>
          <a:xfrm>
            <a:off x="658368" y="3264408"/>
            <a:ext cx="777240" cy="310896"/>
          </a:xfrm>
          <a:prstGeom prst="roundRect">
            <a:avLst>
              <a:gd name="adj" fmla="val 50000"/>
            </a:avLst>
          </a:prstGeom>
          <a:solidFill>
            <a:srgbClr val="BEBEBE"/>
          </a:solidFill>
          <a:ln/>
        </p:spPr>
      </p:sp>
      <p:sp>
        <p:nvSpPr>
          <p:cNvPr id="16" name="Text 13"/>
          <p:cNvSpPr/>
          <p:nvPr/>
        </p:nvSpPr>
        <p:spPr>
          <a:xfrm>
            <a:off x="658368" y="3264408"/>
            <a:ext cx="77724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미완료</a:t>
            </a:r>
            <a:endParaRPr lang="en-US" sz="1000" dirty="0"/>
          </a:p>
        </p:txBody>
      </p:sp>
      <p:sp>
        <p:nvSpPr>
          <p:cNvPr id="17" name="Text 14"/>
          <p:cNvSpPr/>
          <p:nvPr/>
        </p:nvSpPr>
        <p:spPr>
          <a:xfrm>
            <a:off x="1572768" y="3081528"/>
            <a:ext cx="2926080" cy="676656"/>
          </a:xfrm>
          <a:prstGeom prst="rect">
            <a:avLst/>
          </a:prstGeom>
          <a:noFill/>
          <a:ln/>
        </p:spPr>
        <p:txBody>
          <a:bodyPr wrap="square" lIns="0" tIns="0" rIns="0" bIns="0" rtlCol="0" anchor="ctr"/>
          <a:lstStyle/>
          <a:p>
            <a:pPr indent="0" marL="0">
              <a:lnSpc>
                <a:spcPct val="110000"/>
              </a:lnSpc>
              <a:buNone/>
            </a:pPr>
            <a:r>
              <a:rPr lang="en-US" sz="950" dirty="0">
                <a:solidFill>
                  <a:srgbClr val="1A1A2E"/>
                </a:solidFill>
                <a:latin typeface="Malgun Gothic" pitchFamily="34" charset="0"/>
                <a:ea typeface="Malgun Gothic" pitchFamily="34" charset="-122"/>
                <a:cs typeface="Malgun Gothic" pitchFamily="34" charset="-120"/>
              </a:rPr>
              <a:t>화면 구현 (Next.js 예정) / 키움 REST API 발급·연동 / 스코어링 엔진·챗봇 / 사용자 테스트</a:t>
            </a:r>
            <a:endParaRPr lang="en-US" sz="950" dirty="0"/>
          </a:p>
        </p:txBody>
      </p:sp>
      <p:sp>
        <p:nvSpPr>
          <p:cNvPr id="18" name="Shape 15"/>
          <p:cNvSpPr/>
          <p:nvPr/>
        </p:nvSpPr>
        <p:spPr>
          <a:xfrm>
            <a:off x="502920" y="3977640"/>
            <a:ext cx="4114800" cy="804672"/>
          </a:xfrm>
          <a:prstGeom prst="roundRect">
            <a:avLst>
              <a:gd name="adj" fmla="val 11364"/>
            </a:avLst>
          </a:prstGeom>
          <a:solidFill>
            <a:srgbClr val="FBEAF4"/>
          </a:solidFill>
          <a:ln/>
        </p:spPr>
      </p:sp>
      <p:sp>
        <p:nvSpPr>
          <p:cNvPr id="19" name="Shape 16"/>
          <p:cNvSpPr/>
          <p:nvPr/>
        </p:nvSpPr>
        <p:spPr>
          <a:xfrm>
            <a:off x="658368" y="4160520"/>
            <a:ext cx="402336" cy="402336"/>
          </a:xfrm>
          <a:prstGeom prst="ellipse">
            <a:avLst/>
          </a:prstGeom>
          <a:solidFill>
            <a:srgbClr val="D70082"/>
          </a:solidFill>
          <a:ln/>
        </p:spPr>
      </p:sp>
      <p:pic>
        <p:nvPicPr>
          <p:cNvPr id="20" name="Image 0" descr="preencoded.png">    </p:cNvPr>
          <p:cNvPicPr>
            <a:picLocks noChangeAspect="1"/>
          </p:cNvPicPr>
          <p:nvPr/>
        </p:nvPicPr>
        <p:blipFill>
          <a:blip r:embed="rId1"/>
          <a:stretch>
            <a:fillRect/>
          </a:stretch>
        </p:blipFill>
        <p:spPr>
          <a:xfrm>
            <a:off x="766999" y="4269151"/>
            <a:ext cx="185075" cy="185075"/>
          </a:xfrm>
          <a:prstGeom prst="rect">
            <a:avLst/>
          </a:prstGeom>
        </p:spPr>
      </p:pic>
      <p:sp>
        <p:nvSpPr>
          <p:cNvPr id="21" name="Text 17"/>
          <p:cNvSpPr/>
          <p:nvPr/>
        </p:nvSpPr>
        <p:spPr>
          <a:xfrm>
            <a:off x="1188720" y="4041648"/>
            <a:ext cx="3310128" cy="694944"/>
          </a:xfrm>
          <a:prstGeom prst="rect">
            <a:avLst/>
          </a:prstGeom>
          <a:noFill/>
          <a:ln/>
        </p:spPr>
        <p:txBody>
          <a:bodyPr wrap="square" lIns="0" tIns="0" rIns="0" bIns="0" rtlCol="0" anchor="ctr"/>
          <a:lstStyle/>
          <a:p>
            <a:pPr indent="0" marL="0">
              <a:lnSpc>
                <a:spcPct val="110000"/>
              </a:lnSpc>
              <a:buNone/>
            </a:pPr>
            <a:r>
              <a:rPr lang="en-US" sz="1050" b="1" dirty="0">
                <a:solidFill>
                  <a:srgbClr val="D70082"/>
                </a:solidFill>
                <a:latin typeface="Malgun Gothic" pitchFamily="34" charset="0"/>
                <a:ea typeface="Malgun Gothic" pitchFamily="34" charset="-122"/>
                <a:cs typeface="Malgun Gothic" pitchFamily="34" charset="-120"/>
              </a:rPr>
              <a:t>정직하게 공개하는 리스크  </a:t>
            </a:r>
            <a:endParaRPr lang="en-US" sz="1050" dirty="0"/>
          </a:p>
          <a:p>
            <a:pPr indent="0" marL="0">
              <a:lnSpc>
                <a:spcPct val="110000"/>
              </a:lnSpc>
              <a:buNone/>
            </a:pPr>
            <a:r>
              <a:rPr lang="en-US" sz="950" dirty="0">
                <a:solidFill>
                  <a:srgbClr val="1A1A2E"/>
                </a:solidFill>
                <a:latin typeface="Malgun Gothic" pitchFamily="34" charset="0"/>
                <a:ea typeface="Malgun Gothic" pitchFamily="34" charset="-122"/>
                <a:cs typeface="Malgun Gothic" pitchFamily="34" charset="-120"/>
              </a:rPr>
              <a:t>REST API 모의투자 지원 범위 미확인 · 친화도 라벨 미확정 · 경품 리워드 규제(법무 검토 필요)</a:t>
            </a:r>
            <a:endParaRPr lang="en-US" sz="1050" dirty="0"/>
          </a:p>
        </p:txBody>
      </p:sp>
      <p:sp>
        <p:nvSpPr>
          <p:cNvPr id="22" name="Text 18"/>
          <p:cNvSpPr/>
          <p:nvPr/>
        </p:nvSpPr>
        <p:spPr>
          <a:xfrm>
            <a:off x="4846320" y="1234440"/>
            <a:ext cx="3794760" cy="274320"/>
          </a:xfrm>
          <a:prstGeom prst="rect">
            <a:avLst/>
          </a:prstGeom>
          <a:noFill/>
          <a:ln/>
        </p:spPr>
        <p:txBody>
          <a:bodyPr wrap="square" lIns="0" tIns="0" rIns="0" bIns="0" rtlCol="0" anchor="ctr"/>
          <a:lstStyle/>
          <a:p>
            <a:pPr indent="0" marL="0">
              <a:buNone/>
            </a:pPr>
            <a:r>
              <a:rPr lang="en-US" sz="1250" b="1" dirty="0">
                <a:solidFill>
                  <a:srgbClr val="001E5A"/>
                </a:solidFill>
                <a:latin typeface="Malgun Gothic" pitchFamily="34" charset="0"/>
                <a:ea typeface="Malgun Gothic" pitchFamily="34" charset="-122"/>
                <a:cs typeface="Malgun Gothic" pitchFamily="34" charset="-120"/>
              </a:rPr>
              <a:t>검증 계획</a:t>
            </a:r>
            <a:endParaRPr lang="en-US" sz="1250" dirty="0"/>
          </a:p>
        </p:txBody>
      </p:sp>
      <p:sp>
        <p:nvSpPr>
          <p:cNvPr id="23" name="Shape 19"/>
          <p:cNvSpPr/>
          <p:nvPr/>
        </p:nvSpPr>
        <p:spPr>
          <a:xfrm>
            <a:off x="4846320" y="1572768"/>
            <a:ext cx="3794760" cy="1536192"/>
          </a:xfrm>
          <a:prstGeom prst="roundRect">
            <a:avLst>
              <a:gd name="adj" fmla="val 7143"/>
            </a:avLst>
          </a:prstGeom>
          <a:solidFill>
            <a:srgbClr val="F4F6FB"/>
          </a:solidFill>
          <a:ln/>
        </p:spPr>
      </p:sp>
      <p:sp>
        <p:nvSpPr>
          <p:cNvPr id="24" name="Shape 20"/>
          <p:cNvSpPr/>
          <p:nvPr/>
        </p:nvSpPr>
        <p:spPr>
          <a:xfrm>
            <a:off x="5010912" y="1737360"/>
            <a:ext cx="402336" cy="402336"/>
          </a:xfrm>
          <a:prstGeom prst="ellipse">
            <a:avLst/>
          </a:prstGeom>
          <a:solidFill>
            <a:srgbClr val="001E5A"/>
          </a:solidFill>
          <a:ln/>
        </p:spPr>
      </p:sp>
      <p:pic>
        <p:nvPicPr>
          <p:cNvPr id="25" name="Image 1" descr="preencoded.png">    </p:cNvPr>
          <p:cNvPicPr>
            <a:picLocks noChangeAspect="1"/>
          </p:cNvPicPr>
          <p:nvPr/>
        </p:nvPicPr>
        <p:blipFill>
          <a:blip r:embed="rId2"/>
          <a:stretch>
            <a:fillRect/>
          </a:stretch>
        </p:blipFill>
        <p:spPr>
          <a:xfrm>
            <a:off x="5119543" y="1845991"/>
            <a:ext cx="185075" cy="185075"/>
          </a:xfrm>
          <a:prstGeom prst="rect">
            <a:avLst/>
          </a:prstGeom>
        </p:spPr>
      </p:pic>
      <p:sp>
        <p:nvSpPr>
          <p:cNvPr id="26" name="Text 21"/>
          <p:cNvSpPr/>
          <p:nvPr/>
        </p:nvSpPr>
        <p:spPr>
          <a:xfrm>
            <a:off x="5532120" y="1773936"/>
            <a:ext cx="3017520" cy="292608"/>
          </a:xfrm>
          <a:prstGeom prst="rect">
            <a:avLst/>
          </a:prstGeom>
          <a:noFill/>
          <a:ln/>
        </p:spPr>
        <p:txBody>
          <a:bodyPr wrap="square" lIns="0" tIns="0" rIns="0" bIns="0" rtlCol="0" anchor="ctr"/>
          <a:lstStyle/>
          <a:p>
            <a:pPr indent="0" marL="0">
              <a:buNone/>
            </a:pPr>
            <a:r>
              <a:rPr lang="en-US" sz="1150" b="1" dirty="0">
                <a:solidFill>
                  <a:srgbClr val="001E5A"/>
                </a:solidFill>
                <a:latin typeface="Malgun Gothic" pitchFamily="34" charset="0"/>
                <a:ea typeface="Malgun Gothic" pitchFamily="34" charset="-122"/>
                <a:cs typeface="Malgun Gothic" pitchFamily="34" charset="-120"/>
              </a:rPr>
              <a:t>PoC-1 — 가장 위험한 전제부터</a:t>
            </a:r>
            <a:endParaRPr lang="en-US" sz="1150" dirty="0"/>
          </a:p>
        </p:txBody>
      </p:sp>
      <p:sp>
        <p:nvSpPr>
          <p:cNvPr id="27" name="Text 22"/>
          <p:cNvSpPr/>
          <p:nvPr/>
        </p:nvSpPr>
        <p:spPr>
          <a:xfrm>
            <a:off x="5047488" y="2121408"/>
            <a:ext cx="3429000" cy="932688"/>
          </a:xfrm>
          <a:prstGeom prst="rect">
            <a:avLst/>
          </a:prstGeom>
          <a:noFill/>
          <a:ln/>
        </p:spPr>
        <p:txBody>
          <a:bodyPr wrap="square" lIns="0" tIns="0" rIns="0" bIns="0" rtlCol="0" anchor="ctr"/>
          <a:lstStyle/>
          <a:p>
            <a:pPr indent="0" marL="0">
              <a:lnSpc>
                <a:spcPct val="112000"/>
              </a:lnSpc>
              <a:buNone/>
            </a:pPr>
            <a:r>
              <a:rPr lang="en-US" sz="950" dirty="0">
                <a:solidFill>
                  <a:srgbClr val="6B7280"/>
                </a:solidFill>
                <a:latin typeface="Malgun Gothic" pitchFamily="34" charset="0"/>
                <a:ea typeface="Malgun Gothic" pitchFamily="34" charset="-122"/>
                <a:cs typeface="Malgun Gothic" pitchFamily="34" charset="-120"/>
              </a:rPr>
              <a:t>초등 고학년~중학생 자녀를 둔 부모 8~12명 + 자녀. 프로토타입으로 첫 주문·리포트 열람 과제 수행.</a:t>
            </a:r>
            <a:endParaRPr lang="en-US" sz="950" dirty="0"/>
          </a:p>
          <a:p>
            <a:pPr indent="0" marL="0">
              <a:lnSpc>
                <a:spcPct val="112000"/>
              </a:lnSpc>
              <a:buNone/>
            </a:pPr>
            <a:r>
              <a:rPr lang="en-US" sz="950" dirty="0">
                <a:solidFill>
                  <a:srgbClr val="6B7280"/>
                </a:solidFill>
                <a:latin typeface="Malgun Gothic" pitchFamily="34" charset="0"/>
                <a:ea typeface="Malgun Gothic" pitchFamily="34" charset="-122"/>
                <a:cs typeface="Malgun Gothic" pitchFamily="34" charset="-120"/>
              </a:rPr>
              <a:t>통과선: 과반이 “주 30분 이내면 참여” + 감시·채점 거부감 소수. 미달 시 ‘부모는 열람만’ 후퇴안</a:t>
            </a:r>
            <a:endParaRPr lang="en-US" sz="950" dirty="0"/>
          </a:p>
        </p:txBody>
      </p:sp>
      <p:sp>
        <p:nvSpPr>
          <p:cNvPr id="28" name="Shape 23"/>
          <p:cNvSpPr/>
          <p:nvPr/>
        </p:nvSpPr>
        <p:spPr>
          <a:xfrm>
            <a:off x="4846320" y="3218688"/>
            <a:ext cx="3794760" cy="1536192"/>
          </a:xfrm>
          <a:prstGeom prst="roundRect">
            <a:avLst>
              <a:gd name="adj" fmla="val 7143"/>
            </a:avLst>
          </a:prstGeom>
          <a:solidFill>
            <a:srgbClr val="F4F6FB"/>
          </a:solidFill>
          <a:ln/>
        </p:spPr>
      </p:sp>
      <p:sp>
        <p:nvSpPr>
          <p:cNvPr id="29" name="Shape 24"/>
          <p:cNvSpPr/>
          <p:nvPr/>
        </p:nvSpPr>
        <p:spPr>
          <a:xfrm>
            <a:off x="5010912" y="3383280"/>
            <a:ext cx="402336" cy="402336"/>
          </a:xfrm>
          <a:prstGeom prst="ellipse">
            <a:avLst/>
          </a:prstGeom>
          <a:solidFill>
            <a:srgbClr val="001E5A"/>
          </a:solidFill>
          <a:ln/>
        </p:spPr>
      </p:sp>
      <p:pic>
        <p:nvPicPr>
          <p:cNvPr id="30" name="Image 2" descr="preencoded.png">    </p:cNvPr>
          <p:cNvPicPr>
            <a:picLocks noChangeAspect="1"/>
          </p:cNvPicPr>
          <p:nvPr/>
        </p:nvPicPr>
        <p:blipFill>
          <a:blip r:embed="rId3"/>
          <a:stretch>
            <a:fillRect/>
          </a:stretch>
        </p:blipFill>
        <p:spPr>
          <a:xfrm>
            <a:off x="5119543" y="3491911"/>
            <a:ext cx="185075" cy="185075"/>
          </a:xfrm>
          <a:prstGeom prst="rect">
            <a:avLst/>
          </a:prstGeom>
        </p:spPr>
      </p:pic>
      <p:sp>
        <p:nvSpPr>
          <p:cNvPr id="31" name="Text 25"/>
          <p:cNvSpPr/>
          <p:nvPr/>
        </p:nvSpPr>
        <p:spPr>
          <a:xfrm>
            <a:off x="5532120" y="3419856"/>
            <a:ext cx="3017520" cy="292608"/>
          </a:xfrm>
          <a:prstGeom prst="rect">
            <a:avLst/>
          </a:prstGeom>
          <a:noFill/>
          <a:ln/>
        </p:spPr>
        <p:txBody>
          <a:bodyPr wrap="square" lIns="0" tIns="0" rIns="0" bIns="0" rtlCol="0" anchor="ctr"/>
          <a:lstStyle/>
          <a:p>
            <a:pPr indent="0" marL="0">
              <a:buNone/>
            </a:pPr>
            <a:r>
              <a:rPr lang="en-US" sz="1150" b="1" dirty="0">
                <a:solidFill>
                  <a:srgbClr val="001E5A"/>
                </a:solidFill>
                <a:latin typeface="Malgun Gothic" pitchFamily="34" charset="0"/>
                <a:ea typeface="Malgun Gothic" pitchFamily="34" charset="-122"/>
                <a:cs typeface="Malgun Gothic" pitchFamily="34" charset="-120"/>
              </a:rPr>
              <a:t>PoC-2 — 챗봇 안전성</a:t>
            </a:r>
            <a:endParaRPr lang="en-US" sz="1150" dirty="0"/>
          </a:p>
        </p:txBody>
      </p:sp>
      <p:sp>
        <p:nvSpPr>
          <p:cNvPr id="32" name="Text 26"/>
          <p:cNvSpPr/>
          <p:nvPr/>
        </p:nvSpPr>
        <p:spPr>
          <a:xfrm>
            <a:off x="5047488" y="3767328"/>
            <a:ext cx="3429000" cy="932688"/>
          </a:xfrm>
          <a:prstGeom prst="rect">
            <a:avLst/>
          </a:prstGeom>
          <a:noFill/>
          <a:ln/>
        </p:spPr>
        <p:txBody>
          <a:bodyPr wrap="square" lIns="0" tIns="0" rIns="0" bIns="0" rtlCol="0" anchor="ctr"/>
          <a:lstStyle/>
          <a:p>
            <a:pPr indent="0" marL="0">
              <a:lnSpc>
                <a:spcPct val="112000"/>
              </a:lnSpc>
              <a:buNone/>
            </a:pPr>
            <a:r>
              <a:rPr lang="en-US" sz="950" dirty="0">
                <a:solidFill>
                  <a:srgbClr val="6B7280"/>
                </a:solidFill>
                <a:latin typeface="Malgun Gothic" pitchFamily="34" charset="0"/>
                <a:ea typeface="Malgun Gothic" pitchFamily="34" charset="-122"/>
                <a:cs typeface="Malgun Gothic" pitchFamily="34" charset="-120"/>
              </a:rPr>
              <a:t>아동 관점 질문 시나리오 50개 (사용법·개념·추천 유도·유해).</a:t>
            </a:r>
            <a:endParaRPr lang="en-US" sz="950" dirty="0"/>
          </a:p>
          <a:p>
            <a:pPr indent="0" marL="0">
              <a:lnSpc>
                <a:spcPct val="112000"/>
              </a:lnSpc>
              <a:buNone/>
            </a:pPr>
            <a:r>
              <a:rPr lang="en-US" sz="950" dirty="0">
                <a:solidFill>
                  <a:srgbClr val="6B7280"/>
                </a:solidFill>
                <a:latin typeface="Malgun Gothic" pitchFamily="34" charset="0"/>
                <a:ea typeface="Malgun Gothic" pitchFamily="34" charset="-122"/>
                <a:cs typeface="Malgun Gothic" pitchFamily="34" charset="-120"/>
              </a:rPr>
              <a:t>통과선: 금지 표현 누출 0 · 추천 거절률 100%. 실패 시 사전·FAQ 전용 모드로 강등</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1E5A"/>
        </a:solidFill>
      </p:bgPr>
    </p:bg>
    <p:spTree>
      <p:nvGrpSpPr>
        <p:cNvPr id="1" name=""/>
        <p:cNvGrpSpPr/>
        <p:nvPr/>
      </p:nvGrpSpPr>
      <p:grpSpPr>
        <a:xfrm>
          <a:off x="0" y="0"/>
          <a:ext cx="0" cy="0"/>
          <a:chOff x="0" y="0"/>
          <a:chExt cx="0" cy="0"/>
        </a:xfrm>
      </p:grpSpPr>
      <p:sp>
        <p:nvSpPr>
          <p:cNvPr id="2" name="Shape 0"/>
          <p:cNvSpPr/>
          <p:nvPr/>
        </p:nvSpPr>
        <p:spPr>
          <a:xfrm>
            <a:off x="7498080" y="-1005840"/>
            <a:ext cx="2743200" cy="2743200"/>
          </a:xfrm>
          <a:prstGeom prst="ellipse">
            <a:avLst/>
          </a:prstGeom>
          <a:solidFill>
            <a:srgbClr val="D70082">
              <a:alpha val="16000"/>
            </a:srgbClr>
          </a:solidFill>
          <a:ln/>
        </p:spPr>
      </p:sp>
      <p:sp>
        <p:nvSpPr>
          <p:cNvPr id="3" name="Shape 1"/>
          <p:cNvSpPr/>
          <p:nvPr/>
        </p:nvSpPr>
        <p:spPr>
          <a:xfrm>
            <a:off x="-914400" y="3840480"/>
            <a:ext cx="2377440" cy="2377440"/>
          </a:xfrm>
          <a:prstGeom prst="ellipse">
            <a:avLst/>
          </a:prstGeom>
          <a:solidFill>
            <a:srgbClr val="D70082">
              <a:alpha val="12000"/>
            </a:srgbClr>
          </a:solidFill>
          <a:ln/>
        </p:spPr>
      </p:sp>
      <p:sp>
        <p:nvSpPr>
          <p:cNvPr id="4" name="Text 2"/>
          <p:cNvSpPr/>
          <p:nvPr/>
        </p:nvSpPr>
        <p:spPr>
          <a:xfrm>
            <a:off x="502920" y="347472"/>
            <a:ext cx="8138160" cy="256032"/>
          </a:xfrm>
          <a:prstGeom prst="rect">
            <a:avLst/>
          </a:prstGeom>
          <a:noFill/>
          <a:ln/>
        </p:spPr>
        <p:txBody>
          <a:bodyPr wrap="square" lIns="0" tIns="0" rIns="0" bIns="0" rtlCol="0" anchor="ctr"/>
          <a:lstStyle/>
          <a:p>
            <a:pPr indent="0" marL="0">
              <a:buNone/>
            </a:pPr>
            <a:r>
              <a:rPr lang="en-US" sz="1100" b="1" spc="200" kern="0" dirty="0">
                <a:solidFill>
                  <a:srgbClr val="FF7ABF"/>
                </a:solidFill>
                <a:latin typeface="Malgun Gothic" pitchFamily="34" charset="0"/>
                <a:ea typeface="Malgun Gothic" pitchFamily="34" charset="-122"/>
                <a:cs typeface="Malgun Gothic" pitchFamily="34" charset="-120"/>
              </a:rPr>
              <a:t>SLIDE 12 — 받고 싶은 피드백</a:t>
            </a:r>
            <a:endParaRPr lang="en-US" sz="1100" dirty="0"/>
          </a:p>
        </p:txBody>
      </p:sp>
      <p:sp>
        <p:nvSpPr>
          <p:cNvPr id="5" name="Text 3"/>
          <p:cNvSpPr/>
          <p:nvPr/>
        </p:nvSpPr>
        <p:spPr>
          <a:xfrm>
            <a:off x="502920" y="603504"/>
            <a:ext cx="8138160" cy="457200"/>
          </a:xfrm>
          <a:prstGeom prst="rect">
            <a:avLst/>
          </a:prstGeom>
          <a:noFill/>
          <a:ln/>
        </p:spPr>
        <p:txBody>
          <a:bodyPr wrap="square" lIns="0" tIns="0" rIns="0" bIns="0" rtlCol="0" anchor="ctr"/>
          <a:lstStyle/>
          <a:p>
            <a:pPr indent="0" marL="0">
              <a:buNone/>
            </a:pPr>
            <a:r>
              <a:rPr lang="en-US" sz="2400" b="1" dirty="0">
                <a:solidFill>
                  <a:srgbClr val="FFFFFF"/>
                </a:solidFill>
                <a:latin typeface="Malgun Gothic" pitchFamily="34" charset="0"/>
                <a:ea typeface="Malgun Gothic" pitchFamily="34" charset="-122"/>
                <a:cs typeface="Malgun Gothic" pitchFamily="34" charset="-120"/>
              </a:rPr>
              <a:t>저희 팀의 판단이 필요한 두 지점</a:t>
            </a:r>
            <a:endParaRPr lang="en-US" sz="2400" dirty="0"/>
          </a:p>
        </p:txBody>
      </p:sp>
      <p:sp>
        <p:nvSpPr>
          <p:cNvPr id="7" name="Shape 4"/>
          <p:cNvSpPr/>
          <p:nvPr/>
        </p:nvSpPr>
        <p:spPr>
          <a:xfrm>
            <a:off x="502920" y="1371600"/>
            <a:ext cx="8138160" cy="1298448"/>
          </a:xfrm>
          <a:prstGeom prst="roundRect">
            <a:avLst>
              <a:gd name="adj" fmla="val 8451"/>
            </a:avLst>
          </a:prstGeom>
          <a:solidFill>
            <a:srgbClr val="0A2E75"/>
          </a:solidFill>
          <a:ln w="12700">
            <a:solidFill>
              <a:srgbClr val="2A4A9C"/>
            </a:solidFill>
            <a:prstDash val="solid"/>
          </a:ln>
        </p:spPr>
      </p:sp>
      <p:sp>
        <p:nvSpPr>
          <p:cNvPr id="8" name="Text 5"/>
          <p:cNvSpPr/>
          <p:nvPr/>
        </p:nvSpPr>
        <p:spPr>
          <a:xfrm>
            <a:off x="822960" y="1517904"/>
            <a:ext cx="7498080" cy="256032"/>
          </a:xfrm>
          <a:prstGeom prst="rect">
            <a:avLst/>
          </a:prstGeom>
          <a:noFill/>
          <a:ln/>
        </p:spPr>
        <p:txBody>
          <a:bodyPr wrap="square" lIns="0" tIns="0" rIns="0" bIns="0" rtlCol="0" anchor="ctr"/>
          <a:lstStyle/>
          <a:p>
            <a:pPr indent="0" marL="0">
              <a:buNone/>
            </a:pPr>
            <a:r>
              <a:rPr lang="en-US" sz="1050" b="1" dirty="0">
                <a:solidFill>
                  <a:srgbClr val="FF7ABF"/>
                </a:solidFill>
                <a:latin typeface="Malgun Gothic" pitchFamily="34" charset="0"/>
                <a:ea typeface="Malgun Gothic" pitchFamily="34" charset="-122"/>
                <a:cs typeface="Malgun Gothic" pitchFamily="34" charset="-120"/>
              </a:rPr>
              <a:t>Q1 · 플랫폼전략팀께</a:t>
            </a:r>
            <a:endParaRPr lang="en-US" sz="1050" dirty="0"/>
          </a:p>
        </p:txBody>
      </p:sp>
      <p:sp>
        <p:nvSpPr>
          <p:cNvPr id="9" name="Text 6"/>
          <p:cNvSpPr/>
          <p:nvPr/>
        </p:nvSpPr>
        <p:spPr>
          <a:xfrm>
            <a:off x="822960" y="1773936"/>
            <a:ext cx="7498080" cy="310896"/>
          </a:xfrm>
          <a:prstGeom prst="rect">
            <a:avLst/>
          </a:prstGeom>
          <a:noFill/>
          <a:ln/>
        </p:spPr>
        <p:txBody>
          <a:bodyPr wrap="square" lIns="0" tIns="0" rIns="0" bIns="0" rtlCol="0" anchor="ctr"/>
          <a:lstStyle/>
          <a:p>
            <a:pPr indent="0" marL="0">
              <a:buNone/>
            </a:pPr>
            <a:r>
              <a:rPr lang="en-US" sz="1450" b="1" dirty="0">
                <a:solidFill>
                  <a:srgbClr val="FFFFFF"/>
                </a:solidFill>
                <a:latin typeface="Malgun Gothic" pitchFamily="34" charset="0"/>
                <a:ea typeface="Malgun Gothic" pitchFamily="34" charset="-122"/>
                <a:cs typeface="Malgun Gothic" pitchFamily="34" charset="-120"/>
              </a:rPr>
              <a:t>‘자녀 실계좌 보유’를 참가 조건으로 둔 설계</a:t>
            </a:r>
            <a:endParaRPr lang="en-US" sz="1450" dirty="0"/>
          </a:p>
        </p:txBody>
      </p:sp>
      <p:sp>
        <p:nvSpPr>
          <p:cNvPr id="10" name="Text 7"/>
          <p:cNvSpPr/>
          <p:nvPr/>
        </p:nvSpPr>
        <p:spPr>
          <a:xfrm>
            <a:off x="822960" y="2103120"/>
            <a:ext cx="7498080" cy="502920"/>
          </a:xfrm>
          <a:prstGeom prst="rect">
            <a:avLst/>
          </a:prstGeom>
          <a:noFill/>
          <a:ln/>
        </p:spPr>
        <p:txBody>
          <a:bodyPr wrap="square" lIns="0" tIns="0" rIns="0" bIns="0" rtlCol="0" anchor="ctr"/>
          <a:lstStyle/>
          <a:p>
            <a:pPr indent="0" marL="0">
              <a:lnSpc>
                <a:spcPct val="115000"/>
              </a:lnSpc>
              <a:buNone/>
            </a:pPr>
            <a:r>
              <a:rPr lang="en-US" sz="1100" dirty="0">
                <a:solidFill>
                  <a:srgbClr val="C9D6F2"/>
                </a:solidFill>
                <a:latin typeface="Malgun Gothic" pitchFamily="34" charset="0"/>
                <a:ea typeface="Malgun Gothic" pitchFamily="34" charset="-122"/>
                <a:cs typeface="Malgun Gothic" pitchFamily="34" charset="-120"/>
              </a:rPr>
              <a:t>계좌 개설 KPI와 직결되는 대신 진입장벽이 됩니다. 튜토리얼 무료 개방 → 참가 시 계좌 요구의 2단 퍼널이 현업 관점에서 현실적인지 듣고 싶습니다.</a:t>
            </a:r>
            <a:endParaRPr lang="en-US" sz="1100" dirty="0"/>
          </a:p>
        </p:txBody>
      </p:sp>
      <p:sp>
        <p:nvSpPr>
          <p:cNvPr id="11" name="Shape 8"/>
          <p:cNvSpPr/>
          <p:nvPr/>
        </p:nvSpPr>
        <p:spPr>
          <a:xfrm>
            <a:off x="502920" y="2816352"/>
            <a:ext cx="8138160" cy="1298448"/>
          </a:xfrm>
          <a:prstGeom prst="roundRect">
            <a:avLst>
              <a:gd name="adj" fmla="val 8451"/>
            </a:avLst>
          </a:prstGeom>
          <a:solidFill>
            <a:srgbClr val="0A2E75"/>
          </a:solidFill>
          <a:ln w="12700">
            <a:solidFill>
              <a:srgbClr val="2A4A9C"/>
            </a:solidFill>
            <a:prstDash val="solid"/>
          </a:ln>
        </p:spPr>
      </p:sp>
      <p:sp>
        <p:nvSpPr>
          <p:cNvPr id="12" name="Text 9"/>
          <p:cNvSpPr/>
          <p:nvPr/>
        </p:nvSpPr>
        <p:spPr>
          <a:xfrm>
            <a:off x="822960" y="2962656"/>
            <a:ext cx="7498080" cy="256032"/>
          </a:xfrm>
          <a:prstGeom prst="rect">
            <a:avLst/>
          </a:prstGeom>
          <a:noFill/>
          <a:ln/>
        </p:spPr>
        <p:txBody>
          <a:bodyPr wrap="square" lIns="0" tIns="0" rIns="0" bIns="0" rtlCol="0" anchor="ctr"/>
          <a:lstStyle/>
          <a:p>
            <a:pPr indent="0" marL="0">
              <a:buNone/>
            </a:pPr>
            <a:r>
              <a:rPr lang="en-US" sz="1050" b="1" dirty="0">
                <a:solidFill>
                  <a:srgbClr val="FF7ABF"/>
                </a:solidFill>
                <a:latin typeface="Malgun Gothic" pitchFamily="34" charset="0"/>
                <a:ea typeface="Malgun Gothic" pitchFamily="34" charset="-122"/>
                <a:cs typeface="Malgun Gothic" pitchFamily="34" charset="-120"/>
              </a:rPr>
              <a:t>Q2 · AIX팀께</a:t>
            </a:r>
            <a:endParaRPr lang="en-US" sz="1050" dirty="0"/>
          </a:p>
        </p:txBody>
      </p:sp>
      <p:sp>
        <p:nvSpPr>
          <p:cNvPr id="13" name="Text 10"/>
          <p:cNvSpPr/>
          <p:nvPr/>
        </p:nvSpPr>
        <p:spPr>
          <a:xfrm>
            <a:off x="822960" y="3218688"/>
            <a:ext cx="7498080" cy="310896"/>
          </a:xfrm>
          <a:prstGeom prst="rect">
            <a:avLst/>
          </a:prstGeom>
          <a:noFill/>
          <a:ln/>
        </p:spPr>
        <p:txBody>
          <a:bodyPr wrap="square" lIns="0" tIns="0" rIns="0" bIns="0" rtlCol="0" anchor="ctr"/>
          <a:lstStyle/>
          <a:p>
            <a:pPr indent="0" marL="0">
              <a:buNone/>
            </a:pPr>
            <a:r>
              <a:rPr lang="en-US" sz="1450" b="1" dirty="0">
                <a:solidFill>
                  <a:srgbClr val="FFFFFF"/>
                </a:solidFill>
                <a:latin typeface="Malgun Gothic" pitchFamily="34" charset="0"/>
                <a:ea typeface="Malgun Gothic" pitchFamily="34" charset="-122"/>
                <a:cs typeface="Malgun Gothic" pitchFamily="34" charset="-120"/>
              </a:rPr>
              <a:t>‘투자 친화도’ ML 스코어의 라벨 설계</a:t>
            </a:r>
            <a:endParaRPr lang="en-US" sz="1450" dirty="0"/>
          </a:p>
        </p:txBody>
      </p:sp>
      <p:sp>
        <p:nvSpPr>
          <p:cNvPr id="14" name="Text 11"/>
          <p:cNvSpPr/>
          <p:nvPr/>
        </p:nvSpPr>
        <p:spPr>
          <a:xfrm>
            <a:off x="822960" y="3547872"/>
            <a:ext cx="7498080" cy="502920"/>
          </a:xfrm>
          <a:prstGeom prst="rect">
            <a:avLst/>
          </a:prstGeom>
          <a:noFill/>
          <a:ln/>
        </p:spPr>
        <p:txBody>
          <a:bodyPr wrap="square" lIns="0" tIns="0" rIns="0" bIns="0" rtlCol="0" anchor="ctr"/>
          <a:lstStyle/>
          <a:p>
            <a:pPr indent="0" marL="0">
              <a:lnSpc>
                <a:spcPct val="115000"/>
              </a:lnSpc>
              <a:buNone/>
            </a:pPr>
            <a:r>
              <a:rPr lang="en-US" sz="1100" dirty="0">
                <a:solidFill>
                  <a:srgbClr val="C9D6F2"/>
                </a:solidFill>
                <a:latin typeface="Malgun Gothic" pitchFamily="34" charset="0"/>
                <a:ea typeface="Malgun Gothic" pitchFamily="34" charset="-122"/>
                <a:cs typeface="Malgun Gothic" pitchFamily="34" charset="-120"/>
              </a:rPr>
              <a:t>성향 5축(룰 기반)과 별개로 친화도를 ML로 측정하려 합니다. 라벨을 ‘다음 시즌 재참여 여부’로 두는 설계가 타당한지, 현업에서 쓰는 더 나은 프록시가 있는지 조언을 구합니다.</a:t>
            </a:r>
            <a:endParaRPr lang="en-US" sz="1100" dirty="0"/>
          </a:p>
        </p:txBody>
      </p:sp>
      <p:sp>
        <p:nvSpPr>
          <p:cNvPr id="15" name="Text 12"/>
          <p:cNvSpPr/>
          <p:nvPr/>
        </p:nvSpPr>
        <p:spPr>
          <a:xfrm>
            <a:off x="502920" y="4434840"/>
            <a:ext cx="8138160" cy="411480"/>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감사합니다  —  </a:t>
            </a:r>
            <a:pPr indent="0" marL="0">
              <a:buNone/>
            </a:pPr>
            <a:r>
              <a:rPr lang="en-US" sz="1400" b="1" dirty="0">
                <a:solidFill>
                  <a:srgbClr val="FF7ABF"/>
                </a:solidFill>
                <a:latin typeface="Malgun Gothic" pitchFamily="34" charset="0"/>
                <a:ea typeface="Malgun Gothic" pitchFamily="34" charset="-122"/>
                <a:cs typeface="Malgun Gothic" pitchFamily="34" charset="-120"/>
              </a:rPr>
              <a:t>오늘 가족과 함께 키운 습관이, 10년 뒤 키움의 고객이 됩니다.</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2026-08-11T02:14:25Z</dcterms:created>
  <dcterms:modified xsi:type="dcterms:W3CDTF">2026-08-11T02:14:25Z</dcterms:modified>
</cp:coreProperties>
</file>